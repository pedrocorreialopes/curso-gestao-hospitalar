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1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6652D7-3D9D-4434-BF04-4390FEEE3127}" type="datetimeFigureOut">
              <a:rPr lang="pt-BR" smtClean="0"/>
              <a:pPr/>
              <a:t>01/12/2021</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C9751B-F9F8-4324-8825-8C05D3087F70}"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ECC9751B-F9F8-4324-8825-8C05D3087F70}" type="slidenum">
              <a:rPr lang="pt-BR" smtClean="0"/>
              <a:pPr/>
              <a:t>5</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Conector reto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ítulo 28"/>
          <p:cNvSpPr>
            <a:spLocks noGrp="1"/>
          </p:cNvSpPr>
          <p:nvPr>
            <p:ph type="ctrTitle"/>
          </p:nvPr>
        </p:nvSpPr>
        <p:spPr>
          <a:xfrm>
            <a:off x="381000" y="4853411"/>
            <a:ext cx="8458200" cy="1222375"/>
          </a:xfrm>
        </p:spPr>
        <p:txBody>
          <a:bodyPr anchor="t"/>
          <a:lstStyle/>
          <a:p>
            <a:r>
              <a:rPr kumimoji="0" lang="pt-BR" smtClean="0"/>
              <a:t>Clique para editar o estilo do título mestre</a:t>
            </a:r>
            <a:endParaRPr kumimoji="0" lang="en-US"/>
          </a:p>
        </p:txBody>
      </p:sp>
      <p:sp>
        <p:nvSpPr>
          <p:cNvPr id="9" name="Subtítulo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BR" smtClean="0"/>
              <a:t>Clique para editar o estilo do subtítulo mestre</a:t>
            </a:r>
            <a:endParaRPr kumimoji="0" lang="en-US"/>
          </a:p>
        </p:txBody>
      </p:sp>
      <p:sp>
        <p:nvSpPr>
          <p:cNvPr id="16" name="Espaço Reservado para Data 15"/>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2" name="Espaço Reservado para Rodapé 1"/>
          <p:cNvSpPr>
            <a:spLocks noGrp="1"/>
          </p:cNvSpPr>
          <p:nvPr>
            <p:ph type="ftr" sz="quarter" idx="11"/>
          </p:nvPr>
        </p:nvSpPr>
        <p:spPr/>
        <p:txBody>
          <a:bodyPr/>
          <a:lstStyle/>
          <a:p>
            <a:endParaRPr lang="pt-BR"/>
          </a:p>
        </p:txBody>
      </p:sp>
      <p:sp>
        <p:nvSpPr>
          <p:cNvPr id="15" name="Espaço Reservado para Número de Slide 14"/>
          <p:cNvSpPr>
            <a:spLocks noGrp="1"/>
          </p:cNvSpPr>
          <p:nvPr>
            <p:ph type="sldNum" sz="quarter" idx="12"/>
          </p:nvPr>
        </p:nvSpPr>
        <p:spPr>
          <a:xfrm>
            <a:off x="8229600" y="6473952"/>
            <a:ext cx="758952" cy="246888"/>
          </a:xfrm>
        </p:spPr>
        <p:txBody>
          <a:bodyPr/>
          <a:lstStyle/>
          <a:p>
            <a:fld id="{9D536FB0-B94A-4C9A-B023-ABA75329C80C}"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2" name="Título 21"/>
          <p:cNvSpPr>
            <a:spLocks noGrp="1"/>
          </p:cNvSpPr>
          <p:nvPr>
            <p:ph type="title"/>
          </p:nvPr>
        </p:nvSpPr>
        <p:spPr/>
        <p:txBody>
          <a:bodyPr/>
          <a:lstStyle/>
          <a:p>
            <a:r>
              <a:rPr kumimoji="0" lang="pt-BR" smtClean="0"/>
              <a:t>Clique para editar o estilo do título mestre</a:t>
            </a:r>
            <a:endParaRPr kumimoji="0" lang="en-US"/>
          </a:p>
        </p:txBody>
      </p:sp>
      <p:sp>
        <p:nvSpPr>
          <p:cNvPr id="27" name="Espaço Reservado para Conteúdo 26"/>
          <p:cNvSpPr>
            <a:spLocks noGrp="1"/>
          </p:cNvSpPr>
          <p:nvPr>
            <p:ph idx="1"/>
          </p:nvPr>
        </p:nvSpPr>
        <p:spPr/>
        <p:txBody>
          <a:body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25" name="Espaço Reservado para Data 24"/>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19" name="Espaço Reservado para Rodapé 18"/>
          <p:cNvSpPr>
            <a:spLocks noGrp="1"/>
          </p:cNvSpPr>
          <p:nvPr>
            <p:ph type="ftr" sz="quarter" idx="11"/>
          </p:nvPr>
        </p:nvSpPr>
        <p:spPr>
          <a:xfrm>
            <a:off x="3581400" y="76200"/>
            <a:ext cx="2895600" cy="288925"/>
          </a:xfrm>
        </p:spPr>
        <p:txBody>
          <a:bodyPr/>
          <a:lstStyle/>
          <a:p>
            <a:endParaRPr lang="pt-BR"/>
          </a:p>
        </p:txBody>
      </p:sp>
      <p:sp>
        <p:nvSpPr>
          <p:cNvPr id="16" name="Espaço Reservado para Número de Slide 15"/>
          <p:cNvSpPr>
            <a:spLocks noGrp="1"/>
          </p:cNvSpPr>
          <p:nvPr>
            <p:ph type="sldNum" sz="quarter" idx="12"/>
          </p:nvPr>
        </p:nvSpPr>
        <p:spPr>
          <a:xfrm>
            <a:off x="8229600" y="6473952"/>
            <a:ext cx="758952" cy="246888"/>
          </a:xfrm>
        </p:spPr>
        <p:txBody>
          <a:bodyPr/>
          <a:lstStyle/>
          <a:p>
            <a:fld id="{9D536FB0-B94A-4C9A-B023-ABA75329C80C}"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3">
        <a:schemeClr val="bg2"/>
      </p:bgRef>
    </p:bg>
    <p:spTree>
      <p:nvGrpSpPr>
        <p:cNvPr id="1" name=""/>
        <p:cNvGrpSpPr/>
        <p:nvPr/>
      </p:nvGrpSpPr>
      <p:grpSpPr>
        <a:xfrm>
          <a:off x="0" y="0"/>
          <a:ext cx="0" cy="0"/>
          <a:chOff x="0" y="0"/>
          <a:chExt cx="0" cy="0"/>
        </a:xfrm>
      </p:grpSpPr>
      <p:sp>
        <p:nvSpPr>
          <p:cNvPr id="7" name="Conector reto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Espaço Reservado para Texto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BR" smtClean="0"/>
              <a:t>Clique para editar os estilos do texto mestre</a:t>
            </a:r>
          </a:p>
        </p:txBody>
      </p:sp>
      <p:sp>
        <p:nvSpPr>
          <p:cNvPr id="19" name="Espaço Reservado para Data 18"/>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11" name="Espaço Reservado para Rodapé 10"/>
          <p:cNvSpPr>
            <a:spLocks noGrp="1"/>
          </p:cNvSpPr>
          <p:nvPr>
            <p:ph type="ftr" sz="quarter" idx="11"/>
          </p:nvPr>
        </p:nvSpPr>
        <p:spPr/>
        <p:txBody>
          <a:bodyPr/>
          <a:lstStyle/>
          <a:p>
            <a:endParaRPr lang="pt-BR"/>
          </a:p>
        </p:txBody>
      </p:sp>
      <p:sp>
        <p:nvSpPr>
          <p:cNvPr id="16" name="Espaço Reservado para Número de Slide 15"/>
          <p:cNvSpPr>
            <a:spLocks noGrp="1"/>
          </p:cNvSpPr>
          <p:nvPr>
            <p:ph type="sldNum" sz="quarter" idx="12"/>
          </p:nvPr>
        </p:nvSpPr>
        <p:spPr/>
        <p:txBody>
          <a:bodyPr/>
          <a:lstStyle/>
          <a:p>
            <a:fld id="{9D536FB0-B94A-4C9A-B023-ABA75329C80C}" type="slidenum">
              <a:rPr lang="pt-BR" smtClean="0"/>
              <a:pPr/>
              <a:t>‹nº›</a:t>
            </a:fld>
            <a:endParaRPr lang="pt-BR"/>
          </a:p>
        </p:txBody>
      </p:sp>
      <p:sp>
        <p:nvSpPr>
          <p:cNvPr id="8" name="Título 7"/>
          <p:cNvSpPr>
            <a:spLocks noGrp="1"/>
          </p:cNvSpPr>
          <p:nvPr>
            <p:ph type="title"/>
          </p:nvPr>
        </p:nvSpPr>
        <p:spPr>
          <a:xfrm>
            <a:off x="180475" y="2947085"/>
            <a:ext cx="8686800" cy="1184825"/>
          </a:xfrm>
        </p:spPr>
        <p:txBody>
          <a:bodyPr rtlCol="0" anchor="t"/>
          <a:lstStyle>
            <a:lvl1pPr algn="r">
              <a:defRPr/>
            </a:lvl1pPr>
          </a:lstStyle>
          <a:p>
            <a:r>
              <a:rPr kumimoji="0" lang="pt-BR" smtClean="0"/>
              <a:t>Clique para editar o estilo do título mestre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0" name="Título 19"/>
          <p:cNvSpPr>
            <a:spLocks noGrp="1"/>
          </p:cNvSpPr>
          <p:nvPr>
            <p:ph type="title"/>
          </p:nvPr>
        </p:nvSpPr>
        <p:spPr>
          <a:xfrm>
            <a:off x="301752" y="457200"/>
            <a:ext cx="8686800" cy="841248"/>
          </a:xfrm>
        </p:spPr>
        <p:txBody>
          <a:bodyPr/>
          <a:lstStyle/>
          <a:p>
            <a:r>
              <a:rPr kumimoji="0" lang="pt-BR" smtClean="0"/>
              <a:t>Clique para editar o estilo do título mestre</a:t>
            </a:r>
            <a:endParaRPr kumimoji="0" lang="en-US"/>
          </a:p>
        </p:txBody>
      </p:sp>
      <p:sp>
        <p:nvSpPr>
          <p:cNvPr id="14" name="Espaço Reservado para Conteúdo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13" name="Espaço Reservado para Conteúdo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21" name="Espaço Reservado para Data 20"/>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10" name="Espaço Reservado para Rodapé 9"/>
          <p:cNvSpPr>
            <a:spLocks noGrp="1"/>
          </p:cNvSpPr>
          <p:nvPr>
            <p:ph type="ftr" sz="quarter" idx="11"/>
          </p:nvPr>
        </p:nvSpPr>
        <p:spPr/>
        <p:txBody>
          <a:bodyPr/>
          <a:lstStyle/>
          <a:p>
            <a:endParaRPr lang="pt-BR"/>
          </a:p>
        </p:txBody>
      </p:sp>
      <p:sp>
        <p:nvSpPr>
          <p:cNvPr id="31" name="Espaço Reservado para Número de Slide 30"/>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9" name="Título 28"/>
          <p:cNvSpPr>
            <a:spLocks noGrp="1"/>
          </p:cNvSpPr>
          <p:nvPr>
            <p:ph type="title"/>
          </p:nvPr>
        </p:nvSpPr>
        <p:spPr>
          <a:xfrm>
            <a:off x="304800" y="5410200"/>
            <a:ext cx="8610600" cy="882650"/>
          </a:xfrm>
        </p:spPr>
        <p:txBody>
          <a:bodyPr anchor="ctr"/>
          <a:lstStyle>
            <a:lvl1pPr>
              <a:defRPr/>
            </a:lvl1pPr>
          </a:lstStyle>
          <a:p>
            <a:r>
              <a:rPr kumimoji="0" lang="pt-BR" smtClean="0"/>
              <a:t>Clique para editar o estilo do título mestre</a:t>
            </a:r>
            <a:endParaRPr kumimoji="0" lang="en-US"/>
          </a:p>
        </p:txBody>
      </p:sp>
      <p:sp>
        <p:nvSpPr>
          <p:cNvPr id="13" name="Espaço Reservado para Texto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pt-BR" smtClean="0"/>
              <a:t>Clique para editar os estilos do texto mestre</a:t>
            </a:r>
          </a:p>
        </p:txBody>
      </p:sp>
      <p:sp>
        <p:nvSpPr>
          <p:cNvPr id="25" name="Espaço Reservado para Texto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pt-BR" smtClean="0"/>
              <a:t>Clique para editar os estilos do texto mestre</a:t>
            </a:r>
          </a:p>
        </p:txBody>
      </p:sp>
      <p:sp>
        <p:nvSpPr>
          <p:cNvPr id="4" name="Espaço Reservado para Conteúdo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28" name="Espaço Reservado para Conteúdo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10" name="Espaço Reservado para Data 9"/>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a:xfrm>
            <a:off x="8229600" y="6477000"/>
            <a:ext cx="762000" cy="246888"/>
          </a:xfrm>
        </p:spPr>
        <p:txBody>
          <a:bodyPr/>
          <a:lstStyle/>
          <a:p>
            <a:fld id="{9D536FB0-B94A-4C9A-B023-ABA75329C80C}" type="slidenum">
              <a:rPr lang="pt-BR" smtClean="0"/>
              <a:pPr/>
              <a:t>‹nº›</a:t>
            </a:fld>
            <a:endParaRPr lang="pt-BR"/>
          </a:p>
        </p:txBody>
      </p:sp>
      <p:sp>
        <p:nvSpPr>
          <p:cNvPr id="11" name="Conector reto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30" name="Título 29"/>
          <p:cNvSpPr>
            <a:spLocks noGrp="1"/>
          </p:cNvSpPr>
          <p:nvPr>
            <p:ph type="title"/>
          </p:nvPr>
        </p:nvSpPr>
        <p:spPr>
          <a:xfrm>
            <a:off x="301752" y="457200"/>
            <a:ext cx="8686800" cy="841248"/>
          </a:xfrm>
        </p:spPr>
        <p:txBody>
          <a:bodyPr/>
          <a:lstStyle/>
          <a:p>
            <a:r>
              <a:rPr kumimoji="0" lang="pt-BR" smtClean="0"/>
              <a:t>Clique para editar o estilo do título mestre</a:t>
            </a:r>
            <a:endParaRPr kumimoji="0" lang="en-US"/>
          </a:p>
        </p:txBody>
      </p:sp>
      <p:sp>
        <p:nvSpPr>
          <p:cNvPr id="12" name="Espaço Reservado para Data 11"/>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21" name="Espaço Reservado para Rodapé 20"/>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24" name="Espaço Reservado para Rodapé 23"/>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Conector reto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ítulo 11"/>
          <p:cNvSpPr>
            <a:spLocks noGrp="1"/>
          </p:cNvSpPr>
          <p:nvPr>
            <p:ph type="title"/>
          </p:nvPr>
        </p:nvSpPr>
        <p:spPr>
          <a:xfrm>
            <a:off x="457200" y="5486400"/>
            <a:ext cx="8458200" cy="520700"/>
          </a:xfrm>
        </p:spPr>
        <p:txBody>
          <a:bodyPr anchor="ctr"/>
          <a:lstStyle>
            <a:lvl1pPr algn="l">
              <a:buNone/>
              <a:defRPr sz="2000" b="1"/>
            </a:lvl1pPr>
          </a:lstStyle>
          <a:p>
            <a:r>
              <a:rPr kumimoji="0" lang="pt-BR" smtClean="0"/>
              <a:t>Clique para editar o estilo do título mestre</a:t>
            </a:r>
            <a:endParaRPr kumimoji="0" lang="en-US"/>
          </a:p>
        </p:txBody>
      </p:sp>
      <p:sp>
        <p:nvSpPr>
          <p:cNvPr id="26" name="Espaço Reservado para Texto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pt-BR" smtClean="0"/>
              <a:t>Clique para editar os estilos do texto mestre</a:t>
            </a:r>
          </a:p>
        </p:txBody>
      </p:sp>
      <p:sp>
        <p:nvSpPr>
          <p:cNvPr id="14" name="Espaço Reservado para Conteúdo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25" name="Espaço Reservado para Data 24"/>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29" name="Espaço Reservado para Rodapé 28"/>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3" name="Espaço Reservado para Imagem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pt-BR" smtClean="0"/>
              <a:t>Clique no ícone para adicionar uma imagem</a:t>
            </a:r>
            <a:endParaRPr kumimoji="0" lang="en-US" dirty="0"/>
          </a:p>
        </p:txBody>
      </p:sp>
      <p:sp>
        <p:nvSpPr>
          <p:cNvPr id="7" name="Espaço Reservado para Data 6"/>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31" name="Espaço Reservado para Número de Slide 30"/>
          <p:cNvSpPr>
            <a:spLocks noGrp="1"/>
          </p:cNvSpPr>
          <p:nvPr>
            <p:ph type="sldNum" sz="quarter" idx="12"/>
          </p:nvPr>
        </p:nvSpPr>
        <p:spPr/>
        <p:txBody>
          <a:bodyPr/>
          <a:lstStyle/>
          <a:p>
            <a:fld id="{9D536FB0-B94A-4C9A-B023-ABA75329C80C}" type="slidenum">
              <a:rPr lang="pt-BR" smtClean="0"/>
              <a:pPr/>
              <a:t>‹nº›</a:t>
            </a:fld>
            <a:endParaRPr lang="pt-BR"/>
          </a:p>
        </p:txBody>
      </p:sp>
      <p:sp>
        <p:nvSpPr>
          <p:cNvPr id="17" name="Título 16"/>
          <p:cNvSpPr>
            <a:spLocks noGrp="1"/>
          </p:cNvSpPr>
          <p:nvPr>
            <p:ph type="title"/>
          </p:nvPr>
        </p:nvSpPr>
        <p:spPr>
          <a:xfrm>
            <a:off x="381000" y="4993760"/>
            <a:ext cx="5867400" cy="522288"/>
          </a:xfrm>
        </p:spPr>
        <p:txBody>
          <a:bodyPr anchor="ctr"/>
          <a:lstStyle>
            <a:lvl1pPr algn="l">
              <a:buNone/>
              <a:defRPr sz="2000" b="1"/>
            </a:lvl1pPr>
          </a:lstStyle>
          <a:p>
            <a:r>
              <a:rPr kumimoji="0" lang="pt-BR" smtClean="0"/>
              <a:t>Clique para editar o estilo do título mestre</a:t>
            </a:r>
            <a:endParaRPr kumimoji="0" lang="en-US"/>
          </a:p>
        </p:txBody>
      </p:sp>
      <p:sp>
        <p:nvSpPr>
          <p:cNvPr id="26" name="Espaço Reservado para Texto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pt-BR" smtClean="0"/>
              <a:t>Clique para editar os estilos do texto mestre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smtClean="0"/>
              <a:t>Clique para editar o estilo do título mestre</a:t>
            </a:r>
            <a:endParaRPr kumimoji="0" lang="en-US"/>
          </a:p>
        </p:txBody>
      </p:sp>
      <p:sp>
        <p:nvSpPr>
          <p:cNvPr id="3" name="Espaço Reservado para Texto Vertical 2"/>
          <p:cNvSpPr>
            <a:spLocks noGrp="1"/>
          </p:cNvSpPr>
          <p:nvPr>
            <p:ph type="body" orient="vert" idx="1"/>
          </p:nvPr>
        </p:nvSpPr>
        <p:spPr/>
        <p:txBody>
          <a:bodyPr vert="eaVert"/>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4" name="Espaço Reservado para Data 3"/>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858000" y="549276"/>
            <a:ext cx="1828800" cy="5851525"/>
          </a:xfrm>
        </p:spPr>
        <p:txBody>
          <a:bodyPr vert="eaVert"/>
          <a:lstStyle/>
          <a:p>
            <a:r>
              <a:rPr kumimoji="0" lang="pt-BR" smtClean="0"/>
              <a:t>Clique para editar o estilo do título mestre</a:t>
            </a:r>
            <a:endParaRPr kumimoji="0" lang="en-US"/>
          </a:p>
        </p:txBody>
      </p:sp>
      <p:sp>
        <p:nvSpPr>
          <p:cNvPr id="3" name="Espaço Reservado para Texto Vertical 2"/>
          <p:cNvSpPr>
            <a:spLocks noGrp="1"/>
          </p:cNvSpPr>
          <p:nvPr>
            <p:ph type="body" orient="vert" idx="1"/>
          </p:nvPr>
        </p:nvSpPr>
        <p:spPr>
          <a:xfrm>
            <a:off x="457200" y="549276"/>
            <a:ext cx="6248400" cy="5851525"/>
          </a:xfrm>
        </p:spPr>
        <p:txBody>
          <a:bodyPr vert="eaVert"/>
          <a:lstStyle/>
          <a:p>
            <a:pPr lvl="0" eaLnBrk="1" latinLnBrk="0" hangingPunct="1"/>
            <a:r>
              <a:rPr lang="pt-BR" smtClean="0"/>
              <a:t>Clique para editar os estilos do texto mestre</a:t>
            </a:r>
          </a:p>
          <a:p>
            <a:pPr lvl="1" eaLnBrk="1" latinLnBrk="0" hangingPunct="1"/>
            <a:r>
              <a:rPr lang="pt-BR" smtClean="0"/>
              <a:t>Segundo nível</a:t>
            </a:r>
          </a:p>
          <a:p>
            <a:pPr lvl="2" eaLnBrk="1" latinLnBrk="0" hangingPunct="1"/>
            <a:r>
              <a:rPr lang="pt-BR" smtClean="0"/>
              <a:t>Terceiro nível</a:t>
            </a:r>
          </a:p>
          <a:p>
            <a:pPr lvl="3" eaLnBrk="1" latinLnBrk="0" hangingPunct="1"/>
            <a:r>
              <a:rPr lang="pt-BR" smtClean="0"/>
              <a:t>Quarto nível</a:t>
            </a:r>
          </a:p>
          <a:p>
            <a:pPr lvl="4" eaLnBrk="1" latinLnBrk="0" hangingPunct="1"/>
            <a:r>
              <a:rPr lang="pt-BR" smtClean="0"/>
              <a:t>Quinto nível</a:t>
            </a:r>
            <a:endParaRPr kumimoji="0" lang="en-US"/>
          </a:p>
        </p:txBody>
      </p:sp>
      <p:sp>
        <p:nvSpPr>
          <p:cNvPr id="4" name="Espaço Reservado para Data 3"/>
          <p:cNvSpPr>
            <a:spLocks noGrp="1"/>
          </p:cNvSpPr>
          <p:nvPr>
            <p:ph type="dt" sz="half" idx="10"/>
          </p:nvPr>
        </p:nvSpPr>
        <p:spPr/>
        <p:txBody>
          <a:bodyPr/>
          <a:lstStyle/>
          <a:p>
            <a:fld id="{639DC19A-7E1C-41AC-BDAD-9C2B14C24CA1}" type="datetimeFigureOut">
              <a:rPr lang="pt-BR" smtClean="0"/>
              <a:pPr/>
              <a:t>01/12/2021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9D536FB0-B94A-4C9A-B023-ABA75329C80C}"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Conector reto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Espaço Reservado para Texto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pt-BR" smtClean="0"/>
              <a:t>Clique para editar os estilos do texto mestre</a:t>
            </a:r>
          </a:p>
          <a:p>
            <a:pPr lvl="1" eaLnBrk="1" latinLnBrk="0" hangingPunct="1"/>
            <a:r>
              <a:rPr kumimoji="0" lang="pt-BR" smtClean="0"/>
              <a:t>Segundo nível</a:t>
            </a:r>
          </a:p>
          <a:p>
            <a:pPr lvl="2" eaLnBrk="1" latinLnBrk="0" hangingPunct="1"/>
            <a:r>
              <a:rPr kumimoji="0" lang="pt-BR" smtClean="0"/>
              <a:t>Terceiro nível</a:t>
            </a:r>
          </a:p>
          <a:p>
            <a:pPr lvl="3" eaLnBrk="1" latinLnBrk="0" hangingPunct="1"/>
            <a:r>
              <a:rPr kumimoji="0" lang="pt-BR" smtClean="0"/>
              <a:t>Quarto nível</a:t>
            </a:r>
          </a:p>
          <a:p>
            <a:pPr lvl="4" eaLnBrk="1" latinLnBrk="0" hangingPunct="1"/>
            <a:r>
              <a:rPr kumimoji="0" lang="pt-BR" smtClean="0"/>
              <a:t>Quinto nível</a:t>
            </a:r>
            <a:endParaRPr kumimoji="0" lang="en-US"/>
          </a:p>
        </p:txBody>
      </p:sp>
      <p:sp>
        <p:nvSpPr>
          <p:cNvPr id="11" name="Espaço Reservado para Data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639DC19A-7E1C-41AC-BDAD-9C2B14C24CA1}" type="datetimeFigureOut">
              <a:rPr lang="pt-BR" smtClean="0"/>
              <a:pPr/>
              <a:t>01/12/2021</a:t>
            </a:fld>
            <a:endParaRPr lang="pt-BR"/>
          </a:p>
        </p:txBody>
      </p:sp>
      <p:sp>
        <p:nvSpPr>
          <p:cNvPr id="28" name="Espaço Reservado para Rodapé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pt-BR"/>
          </a:p>
        </p:txBody>
      </p:sp>
      <p:sp>
        <p:nvSpPr>
          <p:cNvPr id="5" name="Espaço Reservado para Número de Slide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9D536FB0-B94A-4C9A-B023-ABA75329C80C}" type="slidenum">
              <a:rPr lang="pt-BR" smtClean="0"/>
              <a:pPr/>
              <a:t>‹nº›</a:t>
            </a:fld>
            <a:endParaRPr lang="pt-BR"/>
          </a:p>
        </p:txBody>
      </p:sp>
      <p:sp>
        <p:nvSpPr>
          <p:cNvPr id="10" name="Espaço Reservado para Título 9"/>
          <p:cNvSpPr>
            <a:spLocks noGrp="1"/>
          </p:cNvSpPr>
          <p:nvPr>
            <p:ph type="title"/>
          </p:nvPr>
        </p:nvSpPr>
        <p:spPr>
          <a:xfrm>
            <a:off x="304800" y="457200"/>
            <a:ext cx="8686800" cy="838200"/>
          </a:xfrm>
          <a:prstGeom prst="rect">
            <a:avLst/>
          </a:prstGeom>
        </p:spPr>
        <p:txBody>
          <a:bodyPr vert="horz" anchor="ctr">
            <a:normAutofit/>
          </a:bodyPr>
          <a:lstStyle/>
          <a:p>
            <a:r>
              <a:rPr kumimoji="0" lang="pt-BR" smtClean="0"/>
              <a:t>Clique para editar o estilo do título mestre</a:t>
            </a:r>
            <a:endParaRPr kumimoji="0" lang="en-US"/>
          </a:p>
        </p:txBody>
      </p:sp>
      <p:sp>
        <p:nvSpPr>
          <p:cNvPr id="9" name="Conector reto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Conector reto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Startups empresariais: uma teia de </a:t>
            </a:r>
            <a:r>
              <a:rPr lang="pt-BR" dirty="0" err="1" smtClean="0"/>
              <a:t>inovAÇÕES</a:t>
            </a:r>
            <a:endParaRPr lang="pt-BR" dirty="0"/>
          </a:p>
        </p:txBody>
      </p:sp>
      <p:pic>
        <p:nvPicPr>
          <p:cNvPr id="3" name="Imagem 2" descr="TEIA DE INOVAÇÃO.jpg"/>
          <p:cNvPicPr>
            <a:picLocks noChangeAspect="1"/>
          </p:cNvPicPr>
          <p:nvPr/>
        </p:nvPicPr>
        <p:blipFill>
          <a:blip r:embed="rId2"/>
          <a:stretch>
            <a:fillRect/>
          </a:stretch>
        </p:blipFill>
        <p:spPr>
          <a:xfrm>
            <a:off x="0" y="0"/>
            <a:ext cx="9144000" cy="486223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500430" y="357166"/>
            <a:ext cx="8686800" cy="838200"/>
          </a:xfrm>
        </p:spPr>
        <p:txBody>
          <a:bodyPr/>
          <a:lstStyle/>
          <a:p>
            <a:r>
              <a:rPr lang="pt-BR" dirty="0" smtClean="0"/>
              <a:t>Sumário</a:t>
            </a:r>
            <a:endParaRPr lang="pt-BR" dirty="0"/>
          </a:p>
        </p:txBody>
      </p:sp>
      <p:sp>
        <p:nvSpPr>
          <p:cNvPr id="3" name="Espaço Reservado para Conteúdo 2"/>
          <p:cNvSpPr>
            <a:spLocks noGrp="1"/>
          </p:cNvSpPr>
          <p:nvPr>
            <p:ph idx="1"/>
          </p:nvPr>
        </p:nvSpPr>
        <p:spPr/>
        <p:txBody>
          <a:bodyPr>
            <a:normAutofit/>
          </a:bodyPr>
          <a:lstStyle/>
          <a:p>
            <a:r>
              <a:rPr lang="pt-BR" sz="2400" dirty="0" smtClean="0"/>
              <a:t>O que é startups?........................ Slide 04</a:t>
            </a:r>
          </a:p>
          <a:p>
            <a:r>
              <a:rPr lang="pt-BR" sz="2400" dirty="0" smtClean="0"/>
              <a:t> Como as startups podem  auxiliar na resolução de problemas nas </a:t>
            </a:r>
            <a:r>
              <a:rPr lang="pt-BR" sz="2400" dirty="0" err="1" smtClean="0"/>
              <a:t>organizacões</a:t>
            </a:r>
            <a:r>
              <a:rPr lang="pt-BR" sz="2400" dirty="0" smtClean="0"/>
              <a:t>?....................... Slide 05</a:t>
            </a:r>
          </a:p>
          <a:p>
            <a:r>
              <a:rPr lang="pt-BR" sz="2400" dirty="0" smtClean="0"/>
              <a:t>Identificando </a:t>
            </a:r>
            <a:r>
              <a:rPr lang="pt-BR" sz="2400" dirty="0" smtClean="0"/>
              <a:t>um problema </a:t>
            </a:r>
            <a:r>
              <a:rPr lang="pt-BR" sz="2400" dirty="0" smtClean="0"/>
              <a:t>na Empresa  </a:t>
            </a:r>
            <a:r>
              <a:rPr lang="pt-BR" sz="2400" dirty="0" smtClean="0"/>
              <a:t>E &amp; M </a:t>
            </a:r>
            <a:r>
              <a:rPr lang="pt-BR" sz="2400" dirty="0" smtClean="0"/>
              <a:t>FLORES......................................... Slide 08</a:t>
            </a:r>
          </a:p>
          <a:p>
            <a:r>
              <a:rPr lang="pt-BR" sz="2400" dirty="0" err="1" smtClean="0"/>
              <a:t>Chatbot</a:t>
            </a:r>
            <a:r>
              <a:rPr lang="pt-BR" sz="2400" dirty="0" smtClean="0"/>
              <a:t> </a:t>
            </a:r>
            <a:r>
              <a:rPr lang="pt-BR" sz="2400" dirty="0" err="1" smtClean="0"/>
              <a:t>Maker</a:t>
            </a:r>
            <a:r>
              <a:rPr lang="pt-BR" sz="2400" dirty="0" smtClean="0"/>
              <a:t> (</a:t>
            </a:r>
            <a:r>
              <a:rPr lang="pt-BR" sz="2400" dirty="0" err="1" smtClean="0"/>
              <a:t>Suri</a:t>
            </a:r>
            <a:r>
              <a:rPr lang="pt-BR" sz="2400" dirty="0" smtClean="0"/>
              <a:t>) .................. Slide 09</a:t>
            </a:r>
          </a:p>
          <a:p>
            <a:r>
              <a:rPr lang="pt-BR" sz="2400" dirty="0" err="1" smtClean="0"/>
              <a:t>Sendpluse</a:t>
            </a:r>
            <a:r>
              <a:rPr lang="pt-BR" sz="2400" dirty="0" smtClean="0"/>
              <a:t> ................................... Slide 10</a:t>
            </a:r>
          </a:p>
          <a:p>
            <a:r>
              <a:rPr lang="pt-BR" sz="2400" dirty="0" err="1" smtClean="0"/>
              <a:t>Martechs</a:t>
            </a:r>
            <a:r>
              <a:rPr lang="pt-BR" sz="2400" dirty="0" smtClean="0"/>
              <a:t> e </a:t>
            </a:r>
            <a:r>
              <a:rPr lang="pt-BR" sz="2400" dirty="0" err="1" smtClean="0"/>
              <a:t>Adtechs</a:t>
            </a:r>
            <a:r>
              <a:rPr lang="pt-BR" sz="2400" dirty="0" smtClean="0"/>
              <a:t> ...................  Slide 11</a:t>
            </a:r>
          </a:p>
          <a:p>
            <a:r>
              <a:rPr lang="pt-BR" sz="2400" dirty="0" err="1" smtClean="0"/>
              <a:t>Shopee</a:t>
            </a:r>
            <a:r>
              <a:rPr lang="pt-BR" sz="2400" dirty="0" smtClean="0"/>
              <a:t> ........................................ Slide 12</a:t>
            </a:r>
          </a:p>
          <a:p>
            <a:r>
              <a:rPr lang="pt-BR" sz="2400" dirty="0" smtClean="0"/>
              <a:t>Considerações Finais ................. Slide 13</a:t>
            </a:r>
          </a:p>
          <a:p>
            <a:endParaRPr lang="pt-BR" sz="2400" dirty="0" smtClean="0"/>
          </a:p>
          <a:p>
            <a:endParaRPr lang="pt-BR" sz="2400" dirty="0" smtClean="0"/>
          </a:p>
          <a:p>
            <a:endParaRPr lang="pt-BR" sz="2400" dirty="0" smtClean="0"/>
          </a:p>
          <a:p>
            <a:endParaRPr lang="pt-BR" sz="2400" dirty="0" smtClean="0"/>
          </a:p>
          <a:p>
            <a:endParaRPr lang="pt-B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Startup foto.jpg"/>
          <p:cNvPicPr>
            <a:picLocks noChangeAspect="1"/>
          </p:cNvPicPr>
          <p:nvPr/>
        </p:nvPicPr>
        <p:blipFill>
          <a:blip r:embed="rId2"/>
          <a:stretch>
            <a:fillRect/>
          </a:stretch>
        </p:blipFill>
        <p:spPr>
          <a:xfrm>
            <a:off x="1071538" y="214290"/>
            <a:ext cx="6858048" cy="5088228"/>
          </a:xfrm>
          <a:prstGeom prst="rect">
            <a:avLst/>
          </a:prstGeom>
        </p:spPr>
      </p:pic>
      <p:sp>
        <p:nvSpPr>
          <p:cNvPr id="4" name="CaixaDeTexto 3"/>
          <p:cNvSpPr txBox="1"/>
          <p:nvPr/>
        </p:nvSpPr>
        <p:spPr>
          <a:xfrm>
            <a:off x="1071538" y="5715016"/>
            <a:ext cx="6786610" cy="923330"/>
          </a:xfrm>
          <a:prstGeom prst="rect">
            <a:avLst/>
          </a:prstGeom>
          <a:noFill/>
        </p:spPr>
        <p:txBody>
          <a:bodyPr wrap="square" rtlCol="0">
            <a:spAutoFit/>
          </a:bodyPr>
          <a:lstStyle/>
          <a:p>
            <a:r>
              <a:rPr lang="pt-BR" dirty="0" smtClean="0"/>
              <a:t>Uma startup é uma instituição de pessoas tentando criar algo novo sob condições de extrema incertezas (Eric Ries , autor do livro </a:t>
            </a:r>
            <a:r>
              <a:rPr lang="pt-BR" dirty="0" err="1" smtClean="0"/>
              <a:t>the</a:t>
            </a:r>
            <a:r>
              <a:rPr lang="pt-BR" dirty="0" smtClean="0"/>
              <a:t> </a:t>
            </a:r>
            <a:r>
              <a:rPr lang="pt-BR" dirty="0" err="1" smtClean="0"/>
              <a:t>Lean</a:t>
            </a:r>
            <a:r>
              <a:rPr lang="pt-BR" dirty="0" smtClean="0"/>
              <a:t> Startup)</a:t>
            </a:r>
            <a:endParaRPr lang="pt-B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O que é startup?</a:t>
            </a:r>
            <a:endParaRPr lang="pt-BR" dirty="0"/>
          </a:p>
        </p:txBody>
      </p:sp>
      <p:sp>
        <p:nvSpPr>
          <p:cNvPr id="3" name="Espaço Reservado para Conteúdo 2"/>
          <p:cNvSpPr>
            <a:spLocks noGrp="1"/>
          </p:cNvSpPr>
          <p:nvPr>
            <p:ph idx="1"/>
          </p:nvPr>
        </p:nvSpPr>
        <p:spPr/>
        <p:txBody>
          <a:bodyPr>
            <a:normAutofit fontScale="92500" lnSpcReduction="20000"/>
          </a:bodyPr>
          <a:lstStyle/>
          <a:p>
            <a:r>
              <a:rPr lang="pt-BR" dirty="0" smtClean="0"/>
              <a:t>É uma empresa que está no seu início, sem plano de negócio ou produto completamente definido, mas que tem algo inovador</a:t>
            </a:r>
            <a:r>
              <a:rPr lang="pt-BR" dirty="0" smtClean="0"/>
              <a:t>, repetível</a:t>
            </a:r>
            <a:r>
              <a:rPr lang="pt-BR" dirty="0" smtClean="0"/>
              <a:t>, </a:t>
            </a:r>
            <a:r>
              <a:rPr lang="pt-BR" dirty="0" err="1" smtClean="0"/>
              <a:t>escalável</a:t>
            </a:r>
            <a:r>
              <a:rPr lang="pt-BR" dirty="0" smtClean="0"/>
              <a:t>, com custo baixo, flexibilidade, possuindo um foco no cliente para mostrar no mercado seus serviços oferecidos.</a:t>
            </a:r>
          </a:p>
          <a:p>
            <a:r>
              <a:rPr lang="pt-BR" dirty="0" smtClean="0"/>
              <a:t>Na sua maioria das vezes usam a tecnologia como grande aliada para vender ou prestar serviços  para um publico grande e amplo, fornecendo aquilo que normalmente não </a:t>
            </a:r>
            <a:r>
              <a:rPr lang="pt-BR" dirty="0" smtClean="0"/>
              <a:t>está </a:t>
            </a:r>
            <a:r>
              <a:rPr lang="pt-BR" dirty="0" smtClean="0"/>
              <a:t>disponível para as empresas.</a:t>
            </a:r>
            <a:endParaRPr lang="pt-B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8062938" cy="542908"/>
          </a:xfrm>
        </p:spPr>
        <p:txBody>
          <a:bodyPr>
            <a:normAutofit fontScale="90000"/>
          </a:bodyPr>
          <a:lstStyle/>
          <a:p>
            <a:r>
              <a:rPr lang="pt-BR" dirty="0" smtClean="0"/>
              <a:t>Como as startups podem  auxiliar na resolução de problemas nas </a:t>
            </a:r>
            <a:r>
              <a:rPr lang="pt-BR" dirty="0" err="1" smtClean="0"/>
              <a:t>organizacões</a:t>
            </a:r>
            <a:r>
              <a:rPr lang="pt-BR" dirty="0" smtClean="0"/>
              <a:t>?</a:t>
            </a:r>
            <a:endParaRPr lang="pt-BR" dirty="0"/>
          </a:p>
        </p:txBody>
      </p:sp>
      <p:sp>
        <p:nvSpPr>
          <p:cNvPr id="3" name="Espaço Reservado para Conteúdo 2"/>
          <p:cNvSpPr>
            <a:spLocks noGrp="1"/>
          </p:cNvSpPr>
          <p:nvPr>
            <p:ph idx="1"/>
          </p:nvPr>
        </p:nvSpPr>
        <p:spPr>
          <a:xfrm>
            <a:off x="457200" y="1785926"/>
            <a:ext cx="8686800" cy="4525963"/>
          </a:xfrm>
        </p:spPr>
        <p:txBody>
          <a:bodyPr>
            <a:normAutofit lnSpcReduction="10000"/>
          </a:bodyPr>
          <a:lstStyle/>
          <a:p>
            <a:r>
              <a:rPr lang="pt-BR" dirty="0" smtClean="0"/>
              <a:t>As startups auxiliam as organizações através de diversas ferramentas e metodologias que trazem toda inovação, criatividade e uma alta tecnologia que dão </a:t>
            </a:r>
            <a:r>
              <a:rPr lang="pt-BR" dirty="0" smtClean="0"/>
              <a:t>todo o suporte </a:t>
            </a:r>
            <a:r>
              <a:rPr lang="pt-BR" dirty="0" smtClean="0"/>
              <a:t>de avaliação, planejamento e execuções de problemas em diferentes aspectos e necessidades das organizações </a:t>
            </a:r>
            <a:r>
              <a:rPr lang="pt-BR" dirty="0" smtClean="0"/>
              <a:t>em</a:t>
            </a:r>
            <a:r>
              <a:rPr lang="pt-BR" dirty="0" smtClean="0"/>
              <a:t> </a:t>
            </a:r>
            <a:r>
              <a:rPr lang="pt-BR" dirty="0" smtClean="0"/>
              <a:t>tempo ágil e real com toda precisão e </a:t>
            </a:r>
            <a:r>
              <a:rPr lang="pt-BR" dirty="0" err="1" smtClean="0"/>
              <a:t>resiliência</a:t>
            </a:r>
            <a:r>
              <a:rPr lang="pt-BR" dirty="0" smtClean="0"/>
              <a:t> necessárias para se adaptar às constantes mudanças no cenário econômico mundial.</a:t>
            </a:r>
            <a:endParaRPr lang="pt-B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Uma idéia que solucione um problema </a:t>
            </a:r>
            <a:r>
              <a:rPr lang="pt-BR" dirty="0" smtClean="0"/>
              <a:t>na empresa</a:t>
            </a:r>
            <a:endParaRPr lang="pt-BR" dirty="0"/>
          </a:p>
        </p:txBody>
      </p:sp>
      <p:pic>
        <p:nvPicPr>
          <p:cNvPr id="4" name="Espaço Reservado para Conteúdo 3" descr="problemas startups.jpg"/>
          <p:cNvPicPr>
            <a:picLocks noGrp="1" noChangeAspect="1"/>
          </p:cNvPicPr>
          <p:nvPr>
            <p:ph idx="1"/>
          </p:nvPr>
        </p:nvPicPr>
        <p:blipFill>
          <a:blip r:embed="rId2"/>
          <a:stretch>
            <a:fillRect/>
          </a:stretch>
        </p:blipFill>
        <p:spPr>
          <a:xfrm>
            <a:off x="1357290" y="1571612"/>
            <a:ext cx="6066973" cy="4525962"/>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500430" y="428604"/>
            <a:ext cx="7696224" cy="685784"/>
          </a:xfrm>
        </p:spPr>
        <p:txBody>
          <a:bodyPr/>
          <a:lstStyle/>
          <a:p>
            <a:r>
              <a:rPr lang="pt-BR" dirty="0" smtClean="0"/>
              <a:t>empresa</a:t>
            </a:r>
            <a:endParaRPr lang="pt-BR" dirty="0"/>
          </a:p>
        </p:txBody>
      </p:sp>
      <p:pic>
        <p:nvPicPr>
          <p:cNvPr id="4" name="Espaço Reservado para Conteúdo 3" descr="eem flores.jpg"/>
          <p:cNvPicPr>
            <a:picLocks noGrp="1" noChangeAspect="1"/>
          </p:cNvPicPr>
          <p:nvPr>
            <p:ph idx="1"/>
          </p:nvPr>
        </p:nvPicPr>
        <p:blipFill>
          <a:blip r:embed="rId2"/>
          <a:stretch>
            <a:fillRect/>
          </a:stretch>
        </p:blipFill>
        <p:spPr>
          <a:xfrm>
            <a:off x="1571604" y="1428736"/>
            <a:ext cx="5643602" cy="524313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4800" y="457200"/>
            <a:ext cx="8196290" cy="757222"/>
          </a:xfrm>
        </p:spPr>
        <p:txBody>
          <a:bodyPr>
            <a:normAutofit fontScale="90000"/>
          </a:bodyPr>
          <a:lstStyle/>
          <a:p>
            <a:r>
              <a:rPr lang="pt-BR" dirty="0" err="1" smtClean="0"/>
              <a:t>IdentificaNdo</a:t>
            </a:r>
            <a:r>
              <a:rPr lang="pt-BR" dirty="0" smtClean="0"/>
              <a:t> um problema </a:t>
            </a:r>
            <a:r>
              <a:rPr lang="pt-BR" dirty="0" smtClean="0"/>
              <a:t>na Empresa  </a:t>
            </a:r>
            <a:r>
              <a:rPr lang="pt-BR" dirty="0" smtClean="0"/>
              <a:t>E &amp; M FLORES</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smtClean="0"/>
              <a:t>Na empresa </a:t>
            </a:r>
            <a:r>
              <a:rPr lang="pt-BR" dirty="0" err="1" smtClean="0"/>
              <a:t>E&amp;M</a:t>
            </a:r>
            <a:r>
              <a:rPr lang="pt-BR" dirty="0" smtClean="0"/>
              <a:t> Flores, apesar de anos no mercado, foi observado que a mesma possui uma falha na comunicação com os clientes com retornos e </a:t>
            </a:r>
            <a:r>
              <a:rPr lang="pt-BR" dirty="0" smtClean="0"/>
              <a:t>feedbacks, </a:t>
            </a:r>
            <a:r>
              <a:rPr lang="pt-BR" dirty="0" smtClean="0"/>
              <a:t>como também na divulgação de seus serviços </a:t>
            </a:r>
            <a:r>
              <a:rPr lang="pt-BR" dirty="0" smtClean="0"/>
              <a:t>oferecidos </a:t>
            </a:r>
            <a:r>
              <a:rPr lang="pt-BR" dirty="0" smtClean="0"/>
              <a:t>ao </a:t>
            </a:r>
            <a:r>
              <a:rPr lang="pt-BR" dirty="0" err="1" smtClean="0"/>
              <a:t>publico-alvo</a:t>
            </a:r>
            <a:r>
              <a:rPr lang="pt-BR" dirty="0" smtClean="0"/>
              <a:t> na mídia com maior amplitude, visto que a mesma, no momento, não tem loja física.</a:t>
            </a:r>
          </a:p>
          <a:p>
            <a:r>
              <a:rPr lang="pt-BR" dirty="0" smtClean="0"/>
              <a:t>Para resoluções dessas deficiências indicamos as seguintes startups: </a:t>
            </a:r>
            <a:r>
              <a:rPr lang="pt-BR" dirty="0" err="1" smtClean="0"/>
              <a:t>Chatbot</a:t>
            </a:r>
            <a:r>
              <a:rPr lang="pt-BR" dirty="0" smtClean="0"/>
              <a:t> </a:t>
            </a:r>
            <a:r>
              <a:rPr lang="pt-BR" dirty="0" err="1" smtClean="0"/>
              <a:t>Maker</a:t>
            </a:r>
            <a:r>
              <a:rPr lang="pt-BR" dirty="0" smtClean="0"/>
              <a:t> e </a:t>
            </a:r>
            <a:r>
              <a:rPr lang="pt-BR" dirty="0" err="1" smtClean="0"/>
              <a:t>SendPulse</a:t>
            </a:r>
            <a:r>
              <a:rPr lang="pt-BR" dirty="0" smtClean="0"/>
              <a:t> (oferece suporte a </a:t>
            </a:r>
            <a:r>
              <a:rPr lang="pt-BR" dirty="0" err="1" smtClean="0"/>
              <a:t>Chatbots</a:t>
            </a:r>
            <a:r>
              <a:rPr lang="pt-BR" dirty="0" smtClean="0"/>
              <a:t> do </a:t>
            </a:r>
            <a:r>
              <a:rPr lang="pt-BR" dirty="0" err="1" smtClean="0"/>
              <a:t>Facebook</a:t>
            </a:r>
            <a:r>
              <a:rPr lang="pt-BR" dirty="0" smtClean="0"/>
              <a:t>, </a:t>
            </a:r>
            <a:r>
              <a:rPr lang="pt-BR" dirty="0" err="1" smtClean="0"/>
              <a:t>Instagram</a:t>
            </a:r>
            <a:r>
              <a:rPr lang="pt-BR" dirty="0" smtClean="0"/>
              <a:t> e Telegram).</a:t>
            </a:r>
          </a:p>
          <a:p>
            <a:r>
              <a:rPr lang="pt-BR" dirty="0" err="1" smtClean="0"/>
              <a:t>Adtechs</a:t>
            </a:r>
            <a:r>
              <a:rPr lang="pt-BR" dirty="0" smtClean="0"/>
              <a:t>/</a:t>
            </a:r>
            <a:r>
              <a:rPr lang="pt-BR" dirty="0" err="1" smtClean="0"/>
              <a:t>Martechs</a:t>
            </a:r>
            <a:r>
              <a:rPr lang="pt-BR" dirty="0" smtClean="0"/>
              <a:t> : </a:t>
            </a:r>
            <a:r>
              <a:rPr lang="pt-BR" dirty="0" smtClean="0"/>
              <a:t>ambas </a:t>
            </a:r>
            <a:r>
              <a:rPr lang="pt-BR" dirty="0" smtClean="0"/>
              <a:t>utilizada para o marketing.</a:t>
            </a:r>
          </a:p>
          <a:p>
            <a:r>
              <a:rPr lang="pt-BR" dirty="0" smtClean="0"/>
              <a:t>Startup de loja virtual </a:t>
            </a:r>
            <a:r>
              <a:rPr lang="pt-BR" dirty="0" err="1" smtClean="0"/>
              <a:t>Shopee</a:t>
            </a:r>
            <a:r>
              <a:rPr lang="pt-BR" dirty="0" smtClean="0"/>
              <a:t> para comercialização dos produtos e serviços.</a:t>
            </a:r>
            <a:endParaRPr lang="pt-B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43108" y="357166"/>
            <a:ext cx="8686800" cy="838200"/>
          </a:xfrm>
        </p:spPr>
        <p:txBody>
          <a:bodyPr/>
          <a:lstStyle/>
          <a:p>
            <a:r>
              <a:rPr lang="pt-BR" dirty="0" err="1" smtClean="0"/>
              <a:t>Chatbot</a:t>
            </a:r>
            <a:r>
              <a:rPr lang="pt-BR" dirty="0" smtClean="0"/>
              <a:t> </a:t>
            </a:r>
            <a:r>
              <a:rPr lang="pt-BR" dirty="0" err="1" smtClean="0"/>
              <a:t>maker</a:t>
            </a:r>
            <a:r>
              <a:rPr lang="pt-BR" dirty="0" smtClean="0"/>
              <a:t> (</a:t>
            </a:r>
            <a:r>
              <a:rPr lang="pt-BR" dirty="0" err="1" smtClean="0"/>
              <a:t>suri</a:t>
            </a:r>
            <a:r>
              <a:rPr lang="pt-BR" dirty="0" smtClean="0"/>
              <a:t> )</a:t>
            </a:r>
            <a:endParaRPr lang="pt-BR" dirty="0"/>
          </a:p>
        </p:txBody>
      </p:sp>
      <p:sp>
        <p:nvSpPr>
          <p:cNvPr id="3" name="Espaço Reservado para Conteúdo 2"/>
          <p:cNvSpPr>
            <a:spLocks noGrp="1"/>
          </p:cNvSpPr>
          <p:nvPr>
            <p:ph idx="1"/>
          </p:nvPr>
        </p:nvSpPr>
        <p:spPr/>
        <p:txBody>
          <a:bodyPr>
            <a:normAutofit fontScale="85000" lnSpcReduction="10000"/>
          </a:bodyPr>
          <a:lstStyle/>
          <a:p>
            <a:r>
              <a:rPr lang="pt-BR" dirty="0" smtClean="0"/>
              <a:t>É uma startup que facilita o atendimento e relacionamento com os clientes das pequenas e médias empresas.</a:t>
            </a:r>
          </a:p>
          <a:p>
            <a:r>
              <a:rPr lang="pt-BR" dirty="0" smtClean="0"/>
              <a:t>Possui uma inteligência virtual que aprende na medida que é usado se tornando um especialista no mercado, onde é inserido e conta com uma variedade de planos e modalidades de serviços para as empresas, oferecendo implantação e treinamento de sua plataforma para que todos os canais sejam utilizado de forma clara e fácil aos usuários, através de comunicações pelo </a:t>
            </a:r>
            <a:r>
              <a:rPr lang="pt-BR" dirty="0" err="1" smtClean="0"/>
              <a:t>WhatsApp</a:t>
            </a:r>
            <a:r>
              <a:rPr lang="pt-BR" dirty="0" smtClean="0"/>
              <a:t>, Messenger, </a:t>
            </a:r>
            <a:r>
              <a:rPr lang="pt-BR" dirty="0" err="1" smtClean="0"/>
              <a:t>Instagram</a:t>
            </a:r>
            <a:r>
              <a:rPr lang="pt-BR" dirty="0" smtClean="0"/>
              <a:t> e outros sites integrados.</a:t>
            </a:r>
            <a:endParaRPr 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71802" y="428604"/>
            <a:ext cx="8686800" cy="838200"/>
          </a:xfrm>
        </p:spPr>
        <p:txBody>
          <a:bodyPr/>
          <a:lstStyle/>
          <a:p>
            <a:r>
              <a:rPr lang="pt-BR" dirty="0" err="1" smtClean="0"/>
              <a:t>sendpluse</a:t>
            </a:r>
            <a:endParaRPr lang="pt-BR" dirty="0"/>
          </a:p>
        </p:txBody>
      </p:sp>
      <p:sp>
        <p:nvSpPr>
          <p:cNvPr id="3" name="Espaço Reservado para Conteúdo 2"/>
          <p:cNvSpPr>
            <a:spLocks noGrp="1"/>
          </p:cNvSpPr>
          <p:nvPr>
            <p:ph idx="1"/>
          </p:nvPr>
        </p:nvSpPr>
        <p:spPr/>
        <p:txBody>
          <a:bodyPr>
            <a:normAutofit lnSpcReduction="10000"/>
          </a:bodyPr>
          <a:lstStyle/>
          <a:p>
            <a:r>
              <a:rPr lang="pt-BR" dirty="0" smtClean="0"/>
              <a:t>É uma plataforma que tem um perfil gratuito e desempenham a comunicação para o público  alvo através de envio de: </a:t>
            </a:r>
            <a:r>
              <a:rPr lang="pt-BR" dirty="0" err="1" smtClean="0"/>
              <a:t>E-Mails</a:t>
            </a:r>
            <a:r>
              <a:rPr lang="pt-BR" dirty="0" smtClean="0"/>
              <a:t>, SMS, </a:t>
            </a:r>
            <a:r>
              <a:rPr lang="pt-BR" dirty="0" smtClean="0"/>
              <a:t>Web </a:t>
            </a:r>
            <a:r>
              <a:rPr lang="pt-BR" dirty="0" err="1" smtClean="0"/>
              <a:t>Push</a:t>
            </a:r>
            <a:r>
              <a:rPr lang="pt-BR" dirty="0" smtClean="0"/>
              <a:t>. </a:t>
            </a:r>
            <a:r>
              <a:rPr lang="pt-BR" dirty="0" err="1" smtClean="0"/>
              <a:t>Messengers</a:t>
            </a:r>
            <a:r>
              <a:rPr lang="pt-BR" dirty="0" smtClean="0"/>
              <a:t> e criação de </a:t>
            </a:r>
            <a:r>
              <a:rPr lang="pt-BR" dirty="0" err="1" smtClean="0"/>
              <a:t>Chatbots</a:t>
            </a:r>
            <a:r>
              <a:rPr lang="pt-BR" dirty="0" smtClean="0"/>
              <a:t> no </a:t>
            </a:r>
            <a:r>
              <a:rPr lang="pt-BR" dirty="0" err="1" smtClean="0"/>
              <a:t>Facebook</a:t>
            </a:r>
            <a:r>
              <a:rPr lang="pt-BR" dirty="0" smtClean="0"/>
              <a:t>, </a:t>
            </a:r>
            <a:r>
              <a:rPr lang="pt-BR" dirty="0" err="1" smtClean="0"/>
              <a:t>Instagram</a:t>
            </a:r>
            <a:r>
              <a:rPr lang="pt-BR" dirty="0" smtClean="0"/>
              <a:t>, </a:t>
            </a:r>
            <a:r>
              <a:rPr lang="pt-BR" dirty="0" err="1" smtClean="0"/>
              <a:t>Whatsapp</a:t>
            </a:r>
            <a:r>
              <a:rPr lang="pt-BR" dirty="0" smtClean="0"/>
              <a:t>, Telegram, </a:t>
            </a:r>
          </a:p>
          <a:p>
            <a:r>
              <a:rPr lang="pt-BR" dirty="0" smtClean="0"/>
              <a:t>F</a:t>
            </a:r>
            <a:r>
              <a:rPr lang="pt-BR" dirty="0" smtClean="0"/>
              <a:t>ornece suporte nos </a:t>
            </a:r>
            <a:r>
              <a:rPr lang="pt-BR" dirty="0" err="1" smtClean="0"/>
              <a:t>Chatbots</a:t>
            </a:r>
            <a:r>
              <a:rPr lang="pt-BR" dirty="0" smtClean="0"/>
              <a:t> e modelos já prontos de textos para ser adaptado ou utilizado nas empresa junto ao seu clientes visando comunicação clara e feedbacks . </a:t>
            </a:r>
            <a:endParaRPr lang="pt-B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5984" y="428604"/>
            <a:ext cx="8686800" cy="838200"/>
          </a:xfrm>
        </p:spPr>
        <p:txBody>
          <a:bodyPr/>
          <a:lstStyle/>
          <a:p>
            <a:r>
              <a:rPr lang="pt-BR" dirty="0" err="1" smtClean="0"/>
              <a:t>Martechs</a:t>
            </a:r>
            <a:r>
              <a:rPr lang="pt-BR" dirty="0" smtClean="0"/>
              <a:t> e </a:t>
            </a:r>
            <a:r>
              <a:rPr lang="pt-BR" dirty="0" err="1" smtClean="0"/>
              <a:t>adtechs</a:t>
            </a:r>
            <a:r>
              <a:rPr lang="pt-BR" dirty="0" smtClean="0"/>
              <a:t> </a:t>
            </a:r>
            <a:endParaRPr lang="pt-BR" dirty="0"/>
          </a:p>
        </p:txBody>
      </p:sp>
      <p:sp>
        <p:nvSpPr>
          <p:cNvPr id="3" name="Espaço Reservado para Conteúdo 2"/>
          <p:cNvSpPr>
            <a:spLocks noGrp="1"/>
          </p:cNvSpPr>
          <p:nvPr>
            <p:ph idx="1"/>
          </p:nvPr>
        </p:nvSpPr>
        <p:spPr/>
        <p:txBody>
          <a:bodyPr>
            <a:normAutofit fontScale="92500"/>
          </a:bodyPr>
          <a:lstStyle/>
          <a:p>
            <a:r>
              <a:rPr lang="pt-BR" dirty="0" err="1" smtClean="0"/>
              <a:t>Martechs</a:t>
            </a:r>
            <a:r>
              <a:rPr lang="pt-BR" dirty="0" smtClean="0"/>
              <a:t> é uma </a:t>
            </a:r>
            <a:r>
              <a:rPr lang="pt-BR" dirty="0" err="1" smtClean="0"/>
              <a:t>shartup</a:t>
            </a:r>
            <a:r>
              <a:rPr lang="pt-BR" dirty="0" smtClean="0"/>
              <a:t> que </a:t>
            </a:r>
            <a:r>
              <a:rPr lang="pt-BR" dirty="0" err="1" smtClean="0"/>
              <a:t>possue</a:t>
            </a:r>
            <a:r>
              <a:rPr lang="pt-BR" dirty="0" smtClean="0"/>
              <a:t> um poder </a:t>
            </a:r>
            <a:r>
              <a:rPr lang="pt-BR" dirty="0" err="1" smtClean="0"/>
              <a:t>tecnologico</a:t>
            </a:r>
            <a:r>
              <a:rPr lang="pt-BR" dirty="0" smtClean="0"/>
              <a:t> de </a:t>
            </a:r>
            <a:r>
              <a:rPr lang="pt-BR" dirty="0" err="1" smtClean="0"/>
              <a:t>markentig</a:t>
            </a:r>
            <a:r>
              <a:rPr lang="pt-BR" dirty="0" smtClean="0"/>
              <a:t> muito grande com soluções aplicadas via ferramentas de automação de marketing, pesquisa de mercado, fidelização e satisfação de cliente gestão de mídias sociais .</a:t>
            </a:r>
          </a:p>
          <a:p>
            <a:r>
              <a:rPr lang="pt-BR" dirty="0" err="1" smtClean="0"/>
              <a:t>Adtechs</a:t>
            </a:r>
            <a:r>
              <a:rPr lang="pt-BR" dirty="0" smtClean="0"/>
              <a:t> é uma startup com tecnologia publicitária para servir conteúdo com mais inteligência na mídia e complementa a </a:t>
            </a:r>
            <a:r>
              <a:rPr lang="pt-BR" dirty="0" err="1" smtClean="0"/>
              <a:t>martechs</a:t>
            </a:r>
            <a:r>
              <a:rPr lang="pt-BR" dirty="0" smtClean="0"/>
              <a:t> nos serviços prestados nas empresas .</a:t>
            </a:r>
            <a:endParaRPr lang="pt-B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43306" y="285728"/>
            <a:ext cx="8686800" cy="838200"/>
          </a:xfrm>
        </p:spPr>
        <p:txBody>
          <a:bodyPr/>
          <a:lstStyle/>
          <a:p>
            <a:r>
              <a:rPr lang="pt-BR" dirty="0" err="1" smtClean="0"/>
              <a:t>Shopee</a:t>
            </a:r>
            <a:r>
              <a:rPr lang="pt-BR" dirty="0" smtClean="0"/>
              <a:t> </a:t>
            </a:r>
            <a:endParaRPr lang="pt-BR" dirty="0"/>
          </a:p>
        </p:txBody>
      </p:sp>
      <p:sp>
        <p:nvSpPr>
          <p:cNvPr id="3" name="Espaço Reservado para Conteúdo 2"/>
          <p:cNvSpPr>
            <a:spLocks noGrp="1"/>
          </p:cNvSpPr>
          <p:nvPr>
            <p:ph idx="1"/>
          </p:nvPr>
        </p:nvSpPr>
        <p:spPr/>
        <p:txBody>
          <a:bodyPr/>
          <a:lstStyle/>
          <a:p>
            <a:r>
              <a:rPr lang="pt-BR" dirty="0" smtClean="0"/>
              <a:t>É uma plataforma de comércio eletrônico (</a:t>
            </a:r>
            <a:r>
              <a:rPr lang="pt-BR" dirty="0" err="1" smtClean="0"/>
              <a:t>marketplace</a:t>
            </a:r>
            <a:r>
              <a:rPr lang="pt-BR" dirty="0" smtClean="0"/>
              <a:t>), onde as empresas ou pessoas físicas fazem o cadastro no aplicativo oficializando uma loja virtual e suas facilitações na forma de pagamento e flexibilidade no frete das mercadorias para os clientes, no intuito de ampliar suas vendas com preços competitivos e atraentes ou simplesmente anunciar produtos na mídia.</a:t>
            </a:r>
            <a:endParaRPr lang="pt-B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00232" y="214290"/>
            <a:ext cx="8686800" cy="838200"/>
          </a:xfrm>
        </p:spPr>
        <p:txBody>
          <a:bodyPr/>
          <a:lstStyle/>
          <a:p>
            <a:r>
              <a:rPr lang="pt-BR" dirty="0" err="1" smtClean="0"/>
              <a:t>cOnsiderações</a:t>
            </a:r>
            <a:r>
              <a:rPr lang="pt-BR" dirty="0" smtClean="0"/>
              <a:t> finais</a:t>
            </a:r>
            <a:endParaRPr lang="pt-BR" dirty="0"/>
          </a:p>
        </p:txBody>
      </p:sp>
      <p:sp>
        <p:nvSpPr>
          <p:cNvPr id="3" name="Espaço Reservado para Conteúdo 2"/>
          <p:cNvSpPr>
            <a:spLocks noGrp="1"/>
          </p:cNvSpPr>
          <p:nvPr>
            <p:ph idx="1"/>
          </p:nvPr>
        </p:nvSpPr>
        <p:spPr>
          <a:xfrm>
            <a:off x="214282" y="1554162"/>
            <a:ext cx="8777318" cy="4875234"/>
          </a:xfrm>
        </p:spPr>
        <p:txBody>
          <a:bodyPr>
            <a:normAutofit fontScale="55000" lnSpcReduction="20000"/>
          </a:bodyPr>
          <a:lstStyle/>
          <a:p>
            <a:r>
              <a:rPr lang="pt-BR" dirty="0" smtClean="0"/>
              <a:t>                                                         </a:t>
            </a:r>
            <a:r>
              <a:rPr lang="pt-BR" sz="4600" b="1" dirty="0" smtClean="0"/>
              <a:t>STARTUPS</a:t>
            </a:r>
          </a:p>
          <a:p>
            <a:r>
              <a:rPr lang="pt-BR" sz="4400" dirty="0" smtClean="0"/>
              <a:t>Já possuem uns anos de sua existência mais hoje como nunca vêm nos </a:t>
            </a:r>
            <a:r>
              <a:rPr lang="pt-BR" sz="4400" dirty="0" err="1" smtClean="0"/>
              <a:t>supreendendo</a:t>
            </a:r>
            <a:r>
              <a:rPr lang="pt-BR" sz="4400" dirty="0" smtClean="0"/>
              <a:t> na sua inovação e tecnologia de ponta, atuando junto com as empresas sejam agregando na funcionalidade ou resoluções de problema ou gerando uma qualidade de vida nunca antes vivenciada em todos os seguimentos da humanidade.</a:t>
            </a:r>
          </a:p>
          <a:p>
            <a:r>
              <a:rPr lang="pt-BR" sz="4400" dirty="0" smtClean="0"/>
              <a:t>Sua estrutura dinâmica,processos maleáveis ,ousados, sem burocracias, torna a Startup uma </a:t>
            </a:r>
            <a:r>
              <a:rPr lang="pt-BR" sz="4400" dirty="0" err="1" smtClean="0"/>
              <a:t>exploção</a:t>
            </a:r>
            <a:r>
              <a:rPr lang="pt-BR" sz="4400" dirty="0" smtClean="0"/>
              <a:t> de inovação, </a:t>
            </a:r>
            <a:r>
              <a:rPr lang="pt-BR" sz="4400" dirty="0" err="1" smtClean="0"/>
              <a:t>escalabilidade</a:t>
            </a:r>
            <a:r>
              <a:rPr lang="pt-BR" sz="4400" dirty="0" smtClean="0"/>
              <a:t>, </a:t>
            </a:r>
            <a:r>
              <a:rPr lang="pt-BR" sz="4400" dirty="0" err="1" smtClean="0"/>
              <a:t>replicabilidade</a:t>
            </a:r>
            <a:r>
              <a:rPr lang="pt-BR" sz="4400" dirty="0" smtClean="0"/>
              <a:t>, mesmo na incerteza do mercado mundial, ela nunca deixa de se reinventar numa amplitude e velocidade extremas para atingir todas as necessidades e sonhos dos clientes que são seu foco principal em toda trajetória de sua existência sempre há mercado e público novo para uma nova startup. </a:t>
            </a:r>
            <a:endParaRPr lang="pt-BR" sz="4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714744" y="357166"/>
            <a:ext cx="8686800" cy="838200"/>
          </a:xfrm>
        </p:spPr>
        <p:txBody>
          <a:bodyPr/>
          <a:lstStyle/>
          <a:p>
            <a:r>
              <a:rPr lang="pt-BR" dirty="0" smtClean="0"/>
              <a:t>Equipe:</a:t>
            </a:r>
            <a:endParaRPr lang="pt-BR" dirty="0"/>
          </a:p>
        </p:txBody>
      </p:sp>
      <p:sp>
        <p:nvSpPr>
          <p:cNvPr id="3" name="Espaço Reservado para Conteúdo 2"/>
          <p:cNvSpPr>
            <a:spLocks noGrp="1"/>
          </p:cNvSpPr>
          <p:nvPr>
            <p:ph idx="1"/>
          </p:nvPr>
        </p:nvSpPr>
        <p:spPr/>
        <p:txBody>
          <a:bodyPr/>
          <a:lstStyle/>
          <a:p>
            <a:endParaRPr lang="pt-BR" dirty="0" smtClean="0"/>
          </a:p>
          <a:p>
            <a:endParaRPr lang="pt-BR" dirty="0" smtClean="0"/>
          </a:p>
          <a:p>
            <a:r>
              <a:rPr lang="pt-BR" dirty="0" smtClean="0"/>
              <a:t>ASISLANE SARAIVA DE QUEIROZ</a:t>
            </a:r>
          </a:p>
          <a:p>
            <a:r>
              <a:rPr lang="pt-BR" dirty="0" smtClean="0"/>
              <a:t>GLICIA LIMA DO NASCIMENTO</a:t>
            </a:r>
            <a:endParaRPr lang="pt-BR"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Viagem">
  <a:themeElements>
    <a:clrScheme name="Viagem">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Viagem">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Viagem">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783</TotalTime>
  <Words>805</Words>
  <Application>Microsoft Office PowerPoint</Application>
  <PresentationFormat>Apresentação na tela (4:3)</PresentationFormat>
  <Paragraphs>47</Paragraphs>
  <Slides>14</Slides>
  <Notes>1</Notes>
  <HiddenSlides>0</HiddenSlides>
  <MMClips>0</MMClips>
  <ScaleCrop>false</ScaleCrop>
  <HeadingPairs>
    <vt:vector size="4" baseType="variant">
      <vt:variant>
        <vt:lpstr>Tema</vt:lpstr>
      </vt:variant>
      <vt:variant>
        <vt:i4>1</vt:i4>
      </vt:variant>
      <vt:variant>
        <vt:lpstr>Títulos de slides</vt:lpstr>
      </vt:variant>
      <vt:variant>
        <vt:i4>14</vt:i4>
      </vt:variant>
    </vt:vector>
  </HeadingPairs>
  <TitlesOfParts>
    <vt:vector size="15" baseType="lpstr">
      <vt:lpstr>Viagem</vt:lpstr>
      <vt:lpstr>Startups empresariais: uma teia de inovAÇÕES</vt:lpstr>
      <vt:lpstr>Sumário</vt:lpstr>
      <vt:lpstr>Slide 3</vt:lpstr>
      <vt:lpstr>O que é startup?</vt:lpstr>
      <vt:lpstr>Como as startups podem  auxiliar na resolução de problemas nas organizacões?</vt:lpstr>
      <vt:lpstr>Uma idéia que solucione um problema na empresa</vt:lpstr>
      <vt:lpstr>empresa</vt:lpstr>
      <vt:lpstr>IdentificaNdo um problema na Empresa  E &amp; M FLORES</vt:lpstr>
      <vt:lpstr>Chatbot maker (suri )</vt:lpstr>
      <vt:lpstr>sendpluse</vt:lpstr>
      <vt:lpstr>Martechs e adtechs </vt:lpstr>
      <vt:lpstr>Shopee </vt:lpstr>
      <vt:lpstr>cOnsiderações finais</vt:lpstr>
      <vt:lpstr>Equipe: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Pedro Correia Lopes Filho</dc:creator>
  <cp:lastModifiedBy>Pedro Correia Lopes Filho</cp:lastModifiedBy>
  <cp:revision>65</cp:revision>
  <dcterms:created xsi:type="dcterms:W3CDTF">2021-11-24T23:21:02Z</dcterms:created>
  <dcterms:modified xsi:type="dcterms:W3CDTF">2021-12-02T00:01:22Z</dcterms:modified>
</cp:coreProperties>
</file>