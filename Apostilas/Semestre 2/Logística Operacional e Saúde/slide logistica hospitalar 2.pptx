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20.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1.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357" r:id="rId2"/>
    <p:sldId id="360" r:id="rId3"/>
    <p:sldId id="361" r:id="rId4"/>
    <p:sldId id="379" r:id="rId5"/>
    <p:sldId id="380" r:id="rId6"/>
    <p:sldId id="441" r:id="rId7"/>
    <p:sldId id="442" r:id="rId8"/>
    <p:sldId id="443" r:id="rId9"/>
    <p:sldId id="444" r:id="rId10"/>
    <p:sldId id="445" r:id="rId11"/>
    <p:sldId id="446" r:id="rId12"/>
    <p:sldId id="447" r:id="rId13"/>
    <p:sldId id="448" r:id="rId14"/>
    <p:sldId id="449" r:id="rId15"/>
    <p:sldId id="450" r:id="rId16"/>
    <p:sldId id="451" r:id="rId17"/>
    <p:sldId id="452" r:id="rId18"/>
    <p:sldId id="453" r:id="rId19"/>
    <p:sldId id="454" r:id="rId20"/>
    <p:sldId id="456" r:id="rId21"/>
    <p:sldId id="458" r:id="rId22"/>
    <p:sldId id="460" r:id="rId23"/>
    <p:sldId id="461" r:id="rId24"/>
    <p:sldId id="462" r:id="rId25"/>
    <p:sldId id="463" r:id="rId26"/>
    <p:sldId id="464" r:id="rId27"/>
    <p:sldId id="465" r:id="rId28"/>
    <p:sldId id="466" r:id="rId29"/>
    <p:sldId id="467" r:id="rId30"/>
    <p:sldId id="472" r:id="rId31"/>
    <p:sldId id="473" r:id="rId32"/>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7A7"/>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44" autoAdjust="0"/>
    <p:restoredTop sz="93357" autoAdjust="0"/>
  </p:normalViewPr>
  <p:slideViewPr>
    <p:cSldViewPr snapToGrid="0">
      <p:cViewPr varScale="1">
        <p:scale>
          <a:sx n="67" d="100"/>
          <a:sy n="67" d="100"/>
        </p:scale>
        <p:origin x="8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40"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761CBA-9D21-4261-A5F0-48314F3E7340}" type="datetimeFigureOut">
              <a:rPr lang="pt-BR" smtClean="0"/>
              <a:t>01/02/2020</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2FEA4D-570D-4DCF-B011-D568CE3AA015}" type="slidenum">
              <a:rPr lang="pt-BR" smtClean="0"/>
              <a:t>‹nº›</a:t>
            </a:fld>
            <a:endParaRPr lang="pt-BR"/>
          </a:p>
        </p:txBody>
      </p:sp>
    </p:spTree>
    <p:extLst>
      <p:ext uri="{BB962C8B-B14F-4D97-AF65-F5344CB8AC3E}">
        <p14:creationId xmlns:p14="http://schemas.microsoft.com/office/powerpoint/2010/main" val="3496099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D3A6FB0-F37F-46DA-9E67-7C40BC81F247}"/>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xmlns="" id="{D9C125E5-F883-48C1-8A70-F0ECDE9E02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xmlns="" id="{9FA7189B-BB6A-46D0-8A39-89FCCD935F1B}"/>
              </a:ext>
            </a:extLst>
          </p:cNvPr>
          <p:cNvSpPr>
            <a:spLocks noGrp="1"/>
          </p:cNvSpPr>
          <p:nvPr>
            <p:ph type="dt" sz="half" idx="10"/>
          </p:nvPr>
        </p:nvSpPr>
        <p:spPr/>
        <p:txBody>
          <a:bodyPr/>
          <a:lstStyle/>
          <a:p>
            <a:fld id="{A0D63BAF-D1AB-4C38-948D-4A36060575A2}" type="datetimeFigureOut">
              <a:rPr lang="pt-BR" smtClean="0"/>
              <a:t>01/02/2020</a:t>
            </a:fld>
            <a:endParaRPr lang="pt-BR"/>
          </a:p>
        </p:txBody>
      </p:sp>
      <p:sp>
        <p:nvSpPr>
          <p:cNvPr id="5" name="Espaço Reservado para Rodapé 4">
            <a:extLst>
              <a:ext uri="{FF2B5EF4-FFF2-40B4-BE49-F238E27FC236}">
                <a16:creationId xmlns:a16="http://schemas.microsoft.com/office/drawing/2014/main" xmlns="" id="{35C448A7-ECBC-47BF-81D7-3BE0B9D6936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C6574199-6A2D-4A34-B5E0-1980A5B1DB4E}"/>
              </a:ext>
            </a:extLst>
          </p:cNvPr>
          <p:cNvSpPr>
            <a:spLocks noGrp="1"/>
          </p:cNvSpPr>
          <p:nvPr>
            <p:ph type="sldNum" sz="quarter" idx="12"/>
          </p:nvPr>
        </p:nvSpPr>
        <p:spPr/>
        <p:txBody>
          <a:bodyPr/>
          <a:lstStyle/>
          <a:p>
            <a:fld id="{CA245363-447A-476B-BF91-938BC8E7B28E}" type="slidenum">
              <a:rPr lang="pt-BR" smtClean="0"/>
              <a:t>‹nº›</a:t>
            </a:fld>
            <a:endParaRPr lang="pt-BR"/>
          </a:p>
        </p:txBody>
      </p:sp>
    </p:spTree>
    <p:extLst>
      <p:ext uri="{BB962C8B-B14F-4D97-AF65-F5344CB8AC3E}">
        <p14:creationId xmlns:p14="http://schemas.microsoft.com/office/powerpoint/2010/main" val="196502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37A8226-3798-49D5-B97A-64B7530DB76E}"/>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xmlns="" id="{5F3355D9-6C3C-4F98-BDC9-41C5EE2C84D0}"/>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3867BD0C-72A7-48E4-BDBC-85D5C9B7F15B}"/>
              </a:ext>
            </a:extLst>
          </p:cNvPr>
          <p:cNvSpPr>
            <a:spLocks noGrp="1"/>
          </p:cNvSpPr>
          <p:nvPr>
            <p:ph type="dt" sz="half" idx="10"/>
          </p:nvPr>
        </p:nvSpPr>
        <p:spPr/>
        <p:txBody>
          <a:bodyPr/>
          <a:lstStyle/>
          <a:p>
            <a:fld id="{A0D63BAF-D1AB-4C38-948D-4A36060575A2}" type="datetimeFigureOut">
              <a:rPr lang="pt-BR" smtClean="0"/>
              <a:t>01/02/2020</a:t>
            </a:fld>
            <a:endParaRPr lang="pt-BR"/>
          </a:p>
        </p:txBody>
      </p:sp>
      <p:sp>
        <p:nvSpPr>
          <p:cNvPr id="5" name="Espaço Reservado para Rodapé 4">
            <a:extLst>
              <a:ext uri="{FF2B5EF4-FFF2-40B4-BE49-F238E27FC236}">
                <a16:creationId xmlns:a16="http://schemas.microsoft.com/office/drawing/2014/main" xmlns="" id="{E5A37E49-1DBF-483F-9B46-D99D51561B0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119DB606-3073-4632-9BCB-0770C7BFEF33}"/>
              </a:ext>
            </a:extLst>
          </p:cNvPr>
          <p:cNvSpPr>
            <a:spLocks noGrp="1"/>
          </p:cNvSpPr>
          <p:nvPr>
            <p:ph type="sldNum" sz="quarter" idx="12"/>
          </p:nvPr>
        </p:nvSpPr>
        <p:spPr/>
        <p:txBody>
          <a:bodyPr/>
          <a:lstStyle/>
          <a:p>
            <a:fld id="{CA245363-447A-476B-BF91-938BC8E7B28E}" type="slidenum">
              <a:rPr lang="pt-BR" smtClean="0"/>
              <a:t>‹nº›</a:t>
            </a:fld>
            <a:endParaRPr lang="pt-BR"/>
          </a:p>
        </p:txBody>
      </p:sp>
    </p:spTree>
    <p:extLst>
      <p:ext uri="{BB962C8B-B14F-4D97-AF65-F5344CB8AC3E}">
        <p14:creationId xmlns:p14="http://schemas.microsoft.com/office/powerpoint/2010/main" val="3526207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976F40C-F385-4588-8934-789907414A50}"/>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xmlns="" id="{22336E6C-D800-4DB2-879A-B5D4A03CAD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xmlns="" id="{94095AE9-A59F-4065-99B7-C5F10B7BC634}"/>
              </a:ext>
            </a:extLst>
          </p:cNvPr>
          <p:cNvSpPr>
            <a:spLocks noGrp="1"/>
          </p:cNvSpPr>
          <p:nvPr>
            <p:ph type="dt" sz="half" idx="10"/>
          </p:nvPr>
        </p:nvSpPr>
        <p:spPr/>
        <p:txBody>
          <a:bodyPr/>
          <a:lstStyle/>
          <a:p>
            <a:fld id="{A0D63BAF-D1AB-4C38-948D-4A36060575A2}" type="datetimeFigureOut">
              <a:rPr lang="pt-BR" smtClean="0"/>
              <a:t>01/02/2020</a:t>
            </a:fld>
            <a:endParaRPr lang="pt-BR"/>
          </a:p>
        </p:txBody>
      </p:sp>
      <p:sp>
        <p:nvSpPr>
          <p:cNvPr id="5" name="Espaço Reservado para Rodapé 4">
            <a:extLst>
              <a:ext uri="{FF2B5EF4-FFF2-40B4-BE49-F238E27FC236}">
                <a16:creationId xmlns:a16="http://schemas.microsoft.com/office/drawing/2014/main" xmlns="" id="{195C450F-CF29-4A99-A6CE-451DE5DE700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690B191A-2BF0-435A-B5F0-0C5AECC5E467}"/>
              </a:ext>
            </a:extLst>
          </p:cNvPr>
          <p:cNvSpPr>
            <a:spLocks noGrp="1"/>
          </p:cNvSpPr>
          <p:nvPr>
            <p:ph type="sldNum" sz="quarter" idx="12"/>
          </p:nvPr>
        </p:nvSpPr>
        <p:spPr/>
        <p:txBody>
          <a:bodyPr/>
          <a:lstStyle/>
          <a:p>
            <a:fld id="{CA245363-447A-476B-BF91-938BC8E7B28E}" type="slidenum">
              <a:rPr lang="pt-BR" smtClean="0"/>
              <a:t>‹nº›</a:t>
            </a:fld>
            <a:endParaRPr lang="pt-BR"/>
          </a:p>
        </p:txBody>
      </p:sp>
    </p:spTree>
    <p:extLst>
      <p:ext uri="{BB962C8B-B14F-4D97-AF65-F5344CB8AC3E}">
        <p14:creationId xmlns:p14="http://schemas.microsoft.com/office/powerpoint/2010/main" val="3471155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943D5E4-148C-459F-99A8-642D81D517BE}"/>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xmlns="" id="{C570DBF5-78E2-487B-B28F-F5D4E30A3BB8}"/>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xmlns="" id="{00EFCFCE-21CC-4DE0-B879-2D52B276E711}"/>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xmlns="" id="{20E85353-31E9-4963-8D87-022E900CFD52}"/>
              </a:ext>
            </a:extLst>
          </p:cNvPr>
          <p:cNvSpPr>
            <a:spLocks noGrp="1"/>
          </p:cNvSpPr>
          <p:nvPr>
            <p:ph type="dt" sz="half" idx="10"/>
          </p:nvPr>
        </p:nvSpPr>
        <p:spPr/>
        <p:txBody>
          <a:bodyPr/>
          <a:lstStyle/>
          <a:p>
            <a:fld id="{A0D63BAF-D1AB-4C38-948D-4A36060575A2}" type="datetimeFigureOut">
              <a:rPr lang="pt-BR" smtClean="0"/>
              <a:t>01/02/2020</a:t>
            </a:fld>
            <a:endParaRPr lang="pt-BR"/>
          </a:p>
        </p:txBody>
      </p:sp>
      <p:sp>
        <p:nvSpPr>
          <p:cNvPr id="6" name="Espaço Reservado para Rodapé 5">
            <a:extLst>
              <a:ext uri="{FF2B5EF4-FFF2-40B4-BE49-F238E27FC236}">
                <a16:creationId xmlns:a16="http://schemas.microsoft.com/office/drawing/2014/main" xmlns="" id="{817926D1-516F-4581-BE09-AA67796606D6}"/>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xmlns="" id="{F27BA45A-6B64-4D74-B21C-FA671A5848FF}"/>
              </a:ext>
            </a:extLst>
          </p:cNvPr>
          <p:cNvSpPr>
            <a:spLocks noGrp="1"/>
          </p:cNvSpPr>
          <p:nvPr>
            <p:ph type="sldNum" sz="quarter" idx="12"/>
          </p:nvPr>
        </p:nvSpPr>
        <p:spPr/>
        <p:txBody>
          <a:bodyPr/>
          <a:lstStyle/>
          <a:p>
            <a:fld id="{CA245363-447A-476B-BF91-938BC8E7B28E}" type="slidenum">
              <a:rPr lang="pt-BR" smtClean="0"/>
              <a:t>‹nº›</a:t>
            </a:fld>
            <a:endParaRPr lang="pt-BR"/>
          </a:p>
        </p:txBody>
      </p:sp>
    </p:spTree>
    <p:extLst>
      <p:ext uri="{BB962C8B-B14F-4D97-AF65-F5344CB8AC3E}">
        <p14:creationId xmlns:p14="http://schemas.microsoft.com/office/powerpoint/2010/main" val="2613912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1417922E-BA32-48DD-8F1E-5772EC4527F0}"/>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xmlns="" id="{14E0FC4F-D2EC-467A-AA1F-484A20AA30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xmlns="" id="{316FAE2B-7B40-4207-9773-C9733622A299}"/>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xmlns="" id="{E9F80720-706C-4085-A1C2-B7D31E0941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xmlns="" id="{319DE410-4AAB-431A-AA57-27BFAF4AFF36}"/>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xmlns="" id="{3C1EBE1D-45CD-4A01-89D6-312F0E43D11A}"/>
              </a:ext>
            </a:extLst>
          </p:cNvPr>
          <p:cNvSpPr>
            <a:spLocks noGrp="1"/>
          </p:cNvSpPr>
          <p:nvPr>
            <p:ph type="dt" sz="half" idx="10"/>
          </p:nvPr>
        </p:nvSpPr>
        <p:spPr/>
        <p:txBody>
          <a:bodyPr/>
          <a:lstStyle/>
          <a:p>
            <a:fld id="{A0D63BAF-D1AB-4C38-948D-4A36060575A2}" type="datetimeFigureOut">
              <a:rPr lang="pt-BR" smtClean="0"/>
              <a:t>01/02/2020</a:t>
            </a:fld>
            <a:endParaRPr lang="pt-BR"/>
          </a:p>
        </p:txBody>
      </p:sp>
      <p:sp>
        <p:nvSpPr>
          <p:cNvPr id="8" name="Espaço Reservado para Rodapé 7">
            <a:extLst>
              <a:ext uri="{FF2B5EF4-FFF2-40B4-BE49-F238E27FC236}">
                <a16:creationId xmlns:a16="http://schemas.microsoft.com/office/drawing/2014/main" xmlns="" id="{753001EF-C51A-4AD0-B9AD-0D7AAEF0353B}"/>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xmlns="" id="{CE4C2650-EF1E-4C5C-8CEE-A07B79E7A08B}"/>
              </a:ext>
            </a:extLst>
          </p:cNvPr>
          <p:cNvSpPr>
            <a:spLocks noGrp="1"/>
          </p:cNvSpPr>
          <p:nvPr>
            <p:ph type="sldNum" sz="quarter" idx="12"/>
          </p:nvPr>
        </p:nvSpPr>
        <p:spPr/>
        <p:txBody>
          <a:bodyPr/>
          <a:lstStyle/>
          <a:p>
            <a:fld id="{CA245363-447A-476B-BF91-938BC8E7B28E}" type="slidenum">
              <a:rPr lang="pt-BR" smtClean="0"/>
              <a:t>‹nº›</a:t>
            </a:fld>
            <a:endParaRPr lang="pt-BR"/>
          </a:p>
        </p:txBody>
      </p:sp>
    </p:spTree>
    <p:extLst>
      <p:ext uri="{BB962C8B-B14F-4D97-AF65-F5344CB8AC3E}">
        <p14:creationId xmlns:p14="http://schemas.microsoft.com/office/powerpoint/2010/main" val="1818521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8396D29-CE3F-4480-8AA6-6C640C78D788}"/>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xmlns="" id="{C372719B-6A1E-4D95-A9FF-821C9D700E58}"/>
              </a:ext>
            </a:extLst>
          </p:cNvPr>
          <p:cNvSpPr>
            <a:spLocks noGrp="1"/>
          </p:cNvSpPr>
          <p:nvPr>
            <p:ph type="dt" sz="half" idx="10"/>
          </p:nvPr>
        </p:nvSpPr>
        <p:spPr/>
        <p:txBody>
          <a:bodyPr/>
          <a:lstStyle/>
          <a:p>
            <a:fld id="{A0D63BAF-D1AB-4C38-948D-4A36060575A2}" type="datetimeFigureOut">
              <a:rPr lang="pt-BR" smtClean="0"/>
              <a:t>01/02/2020</a:t>
            </a:fld>
            <a:endParaRPr lang="pt-BR"/>
          </a:p>
        </p:txBody>
      </p:sp>
      <p:sp>
        <p:nvSpPr>
          <p:cNvPr id="4" name="Espaço Reservado para Rodapé 3">
            <a:extLst>
              <a:ext uri="{FF2B5EF4-FFF2-40B4-BE49-F238E27FC236}">
                <a16:creationId xmlns:a16="http://schemas.microsoft.com/office/drawing/2014/main" xmlns="" id="{C3580B7B-3153-4533-8E64-8057775D5D43}"/>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xmlns="" id="{087EA84A-9D46-44CF-9B12-87E2C25B0740}"/>
              </a:ext>
            </a:extLst>
          </p:cNvPr>
          <p:cNvSpPr>
            <a:spLocks noGrp="1"/>
          </p:cNvSpPr>
          <p:nvPr>
            <p:ph type="sldNum" sz="quarter" idx="12"/>
          </p:nvPr>
        </p:nvSpPr>
        <p:spPr/>
        <p:txBody>
          <a:bodyPr/>
          <a:lstStyle/>
          <a:p>
            <a:fld id="{CA245363-447A-476B-BF91-938BC8E7B28E}" type="slidenum">
              <a:rPr lang="pt-BR" smtClean="0"/>
              <a:t>‹nº›</a:t>
            </a:fld>
            <a:endParaRPr lang="pt-BR"/>
          </a:p>
        </p:txBody>
      </p:sp>
    </p:spTree>
    <p:extLst>
      <p:ext uri="{BB962C8B-B14F-4D97-AF65-F5344CB8AC3E}">
        <p14:creationId xmlns:p14="http://schemas.microsoft.com/office/powerpoint/2010/main" val="516784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xmlns="" id="{E109DADD-3E9A-4F68-A8D7-0A59CD89DBB4}"/>
              </a:ext>
            </a:extLst>
          </p:cNvPr>
          <p:cNvSpPr>
            <a:spLocks noGrp="1"/>
          </p:cNvSpPr>
          <p:nvPr>
            <p:ph type="dt" sz="half" idx="10"/>
          </p:nvPr>
        </p:nvSpPr>
        <p:spPr/>
        <p:txBody>
          <a:bodyPr/>
          <a:lstStyle/>
          <a:p>
            <a:fld id="{A0D63BAF-D1AB-4C38-948D-4A36060575A2}" type="datetimeFigureOut">
              <a:rPr lang="pt-BR" smtClean="0"/>
              <a:t>01/02/2020</a:t>
            </a:fld>
            <a:endParaRPr lang="pt-BR"/>
          </a:p>
        </p:txBody>
      </p:sp>
      <p:sp>
        <p:nvSpPr>
          <p:cNvPr id="3" name="Espaço Reservado para Rodapé 2">
            <a:extLst>
              <a:ext uri="{FF2B5EF4-FFF2-40B4-BE49-F238E27FC236}">
                <a16:creationId xmlns:a16="http://schemas.microsoft.com/office/drawing/2014/main" xmlns="" id="{55390C8D-5C23-4641-A537-69C2AD3458D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xmlns="" id="{B0012668-9BB0-4388-A164-5AF854B9613A}"/>
              </a:ext>
            </a:extLst>
          </p:cNvPr>
          <p:cNvSpPr>
            <a:spLocks noGrp="1"/>
          </p:cNvSpPr>
          <p:nvPr>
            <p:ph type="sldNum" sz="quarter" idx="12"/>
          </p:nvPr>
        </p:nvSpPr>
        <p:spPr/>
        <p:txBody>
          <a:bodyPr/>
          <a:lstStyle/>
          <a:p>
            <a:fld id="{CA245363-447A-476B-BF91-938BC8E7B28E}" type="slidenum">
              <a:rPr lang="pt-BR" smtClean="0"/>
              <a:t>‹nº›</a:t>
            </a:fld>
            <a:endParaRPr lang="pt-BR"/>
          </a:p>
        </p:txBody>
      </p:sp>
    </p:spTree>
    <p:extLst>
      <p:ext uri="{BB962C8B-B14F-4D97-AF65-F5344CB8AC3E}">
        <p14:creationId xmlns:p14="http://schemas.microsoft.com/office/powerpoint/2010/main" val="581219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2305F80-EAFA-4C1B-8CB5-0917EDAEF3A4}"/>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xmlns="" id="{504EA720-82BF-437B-9489-CA64202282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xmlns="" id="{9A3D99A1-9912-476F-9A6E-B078E50A91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xmlns="" id="{348C0697-750E-44F9-A485-481509F0B01D}"/>
              </a:ext>
            </a:extLst>
          </p:cNvPr>
          <p:cNvSpPr>
            <a:spLocks noGrp="1"/>
          </p:cNvSpPr>
          <p:nvPr>
            <p:ph type="dt" sz="half" idx="10"/>
          </p:nvPr>
        </p:nvSpPr>
        <p:spPr/>
        <p:txBody>
          <a:bodyPr/>
          <a:lstStyle/>
          <a:p>
            <a:fld id="{A0D63BAF-D1AB-4C38-948D-4A36060575A2}" type="datetimeFigureOut">
              <a:rPr lang="pt-BR" smtClean="0"/>
              <a:t>01/02/2020</a:t>
            </a:fld>
            <a:endParaRPr lang="pt-BR"/>
          </a:p>
        </p:txBody>
      </p:sp>
      <p:sp>
        <p:nvSpPr>
          <p:cNvPr id="6" name="Espaço Reservado para Rodapé 5">
            <a:extLst>
              <a:ext uri="{FF2B5EF4-FFF2-40B4-BE49-F238E27FC236}">
                <a16:creationId xmlns:a16="http://schemas.microsoft.com/office/drawing/2014/main" xmlns="" id="{744F6CF8-05C8-4793-9472-2CA500DEBA17}"/>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xmlns="" id="{FAFF8AB4-E8EC-4869-8D48-02E26BA24526}"/>
              </a:ext>
            </a:extLst>
          </p:cNvPr>
          <p:cNvSpPr>
            <a:spLocks noGrp="1"/>
          </p:cNvSpPr>
          <p:nvPr>
            <p:ph type="sldNum" sz="quarter" idx="12"/>
          </p:nvPr>
        </p:nvSpPr>
        <p:spPr/>
        <p:txBody>
          <a:bodyPr/>
          <a:lstStyle/>
          <a:p>
            <a:fld id="{CA245363-447A-476B-BF91-938BC8E7B28E}" type="slidenum">
              <a:rPr lang="pt-BR" smtClean="0"/>
              <a:t>‹nº›</a:t>
            </a:fld>
            <a:endParaRPr lang="pt-BR"/>
          </a:p>
        </p:txBody>
      </p:sp>
    </p:spTree>
    <p:extLst>
      <p:ext uri="{BB962C8B-B14F-4D97-AF65-F5344CB8AC3E}">
        <p14:creationId xmlns:p14="http://schemas.microsoft.com/office/powerpoint/2010/main" val="2070053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798E4D1-93E7-46E4-AE9E-7913C8B21BA4}"/>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xmlns="" id="{DF2C6B40-7120-4600-9858-122F37F73C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xmlns="" id="{63ED343E-66FE-47A0-980A-B478C568C4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xmlns="" id="{2D61BD9F-739A-4A96-8830-4C3C0606C345}"/>
              </a:ext>
            </a:extLst>
          </p:cNvPr>
          <p:cNvSpPr>
            <a:spLocks noGrp="1"/>
          </p:cNvSpPr>
          <p:nvPr>
            <p:ph type="dt" sz="half" idx="10"/>
          </p:nvPr>
        </p:nvSpPr>
        <p:spPr/>
        <p:txBody>
          <a:bodyPr/>
          <a:lstStyle/>
          <a:p>
            <a:fld id="{A0D63BAF-D1AB-4C38-948D-4A36060575A2}" type="datetimeFigureOut">
              <a:rPr lang="pt-BR" smtClean="0"/>
              <a:t>01/02/2020</a:t>
            </a:fld>
            <a:endParaRPr lang="pt-BR"/>
          </a:p>
        </p:txBody>
      </p:sp>
      <p:sp>
        <p:nvSpPr>
          <p:cNvPr id="6" name="Espaço Reservado para Rodapé 5">
            <a:extLst>
              <a:ext uri="{FF2B5EF4-FFF2-40B4-BE49-F238E27FC236}">
                <a16:creationId xmlns:a16="http://schemas.microsoft.com/office/drawing/2014/main" xmlns="" id="{208F799A-4DA9-44DA-BAED-84BB5F0EF72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xmlns="" id="{792E0903-0208-4C75-A040-31192D3D9B30}"/>
              </a:ext>
            </a:extLst>
          </p:cNvPr>
          <p:cNvSpPr>
            <a:spLocks noGrp="1"/>
          </p:cNvSpPr>
          <p:nvPr>
            <p:ph type="sldNum" sz="quarter" idx="12"/>
          </p:nvPr>
        </p:nvSpPr>
        <p:spPr/>
        <p:txBody>
          <a:bodyPr/>
          <a:lstStyle/>
          <a:p>
            <a:fld id="{CA245363-447A-476B-BF91-938BC8E7B28E}" type="slidenum">
              <a:rPr lang="pt-BR" smtClean="0"/>
              <a:t>‹nº›</a:t>
            </a:fld>
            <a:endParaRPr lang="pt-BR"/>
          </a:p>
        </p:txBody>
      </p:sp>
    </p:spTree>
    <p:extLst>
      <p:ext uri="{BB962C8B-B14F-4D97-AF65-F5344CB8AC3E}">
        <p14:creationId xmlns:p14="http://schemas.microsoft.com/office/powerpoint/2010/main" val="1886861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C2157167-FD90-4A62-9DEE-933662847243}"/>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xmlns="" id="{051EA4AC-A44F-4085-8148-EB77A8A879AE}"/>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F45EF876-355E-4D73-A66E-65D527BC2652}"/>
              </a:ext>
            </a:extLst>
          </p:cNvPr>
          <p:cNvSpPr>
            <a:spLocks noGrp="1"/>
          </p:cNvSpPr>
          <p:nvPr>
            <p:ph type="dt" sz="half" idx="10"/>
          </p:nvPr>
        </p:nvSpPr>
        <p:spPr/>
        <p:txBody>
          <a:bodyPr/>
          <a:lstStyle/>
          <a:p>
            <a:fld id="{A0D63BAF-D1AB-4C38-948D-4A36060575A2}" type="datetimeFigureOut">
              <a:rPr lang="pt-BR" smtClean="0"/>
              <a:t>01/02/2020</a:t>
            </a:fld>
            <a:endParaRPr lang="pt-BR"/>
          </a:p>
        </p:txBody>
      </p:sp>
      <p:sp>
        <p:nvSpPr>
          <p:cNvPr id="5" name="Espaço Reservado para Rodapé 4">
            <a:extLst>
              <a:ext uri="{FF2B5EF4-FFF2-40B4-BE49-F238E27FC236}">
                <a16:creationId xmlns:a16="http://schemas.microsoft.com/office/drawing/2014/main" xmlns="" id="{4F632ABC-46ED-4A4E-AF04-BFC75B74905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C67AFD55-D1D8-41E2-8757-0D6BA99A1949}"/>
              </a:ext>
            </a:extLst>
          </p:cNvPr>
          <p:cNvSpPr>
            <a:spLocks noGrp="1"/>
          </p:cNvSpPr>
          <p:nvPr>
            <p:ph type="sldNum" sz="quarter" idx="12"/>
          </p:nvPr>
        </p:nvSpPr>
        <p:spPr/>
        <p:txBody>
          <a:bodyPr/>
          <a:lstStyle/>
          <a:p>
            <a:fld id="{CA245363-447A-476B-BF91-938BC8E7B28E}" type="slidenum">
              <a:rPr lang="pt-BR" smtClean="0"/>
              <a:t>‹nº›</a:t>
            </a:fld>
            <a:endParaRPr lang="pt-BR"/>
          </a:p>
        </p:txBody>
      </p:sp>
    </p:spTree>
    <p:extLst>
      <p:ext uri="{BB962C8B-B14F-4D97-AF65-F5344CB8AC3E}">
        <p14:creationId xmlns:p14="http://schemas.microsoft.com/office/powerpoint/2010/main" val="699979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3C09B3B-F365-406D-94F7-070585E02504}"/>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xmlns="" id="{1E3E1111-9EA8-4518-AAA2-30033A2CB3B7}"/>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93A08BBF-4CE9-4943-B183-AED52AC1389D}"/>
              </a:ext>
            </a:extLst>
          </p:cNvPr>
          <p:cNvSpPr>
            <a:spLocks noGrp="1"/>
          </p:cNvSpPr>
          <p:nvPr>
            <p:ph type="dt" sz="half" idx="10"/>
          </p:nvPr>
        </p:nvSpPr>
        <p:spPr/>
        <p:txBody>
          <a:bodyPr/>
          <a:lstStyle/>
          <a:p>
            <a:fld id="{A0D63BAF-D1AB-4C38-948D-4A36060575A2}" type="datetimeFigureOut">
              <a:rPr lang="pt-BR" smtClean="0"/>
              <a:t>01/02/2020</a:t>
            </a:fld>
            <a:endParaRPr lang="pt-BR"/>
          </a:p>
        </p:txBody>
      </p:sp>
      <p:sp>
        <p:nvSpPr>
          <p:cNvPr id="5" name="Espaço Reservado para Rodapé 4">
            <a:extLst>
              <a:ext uri="{FF2B5EF4-FFF2-40B4-BE49-F238E27FC236}">
                <a16:creationId xmlns:a16="http://schemas.microsoft.com/office/drawing/2014/main" xmlns="" id="{2BDAE6B9-1F17-4A46-A5B5-F0A99775EA9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xmlns="" id="{C9F74F8F-39EF-4C84-B6F3-AD47BD936BB9}"/>
              </a:ext>
            </a:extLst>
          </p:cNvPr>
          <p:cNvSpPr>
            <a:spLocks noGrp="1"/>
          </p:cNvSpPr>
          <p:nvPr>
            <p:ph type="sldNum" sz="quarter" idx="12"/>
          </p:nvPr>
        </p:nvSpPr>
        <p:spPr/>
        <p:txBody>
          <a:bodyPr/>
          <a:lstStyle/>
          <a:p>
            <a:fld id="{CA245363-447A-476B-BF91-938BC8E7B28E}" type="slidenum">
              <a:rPr lang="pt-BR" smtClean="0"/>
              <a:t>‹nº›</a:t>
            </a:fld>
            <a:endParaRPr lang="pt-BR"/>
          </a:p>
        </p:txBody>
      </p:sp>
    </p:spTree>
    <p:extLst>
      <p:ext uri="{BB962C8B-B14F-4D97-AF65-F5344CB8AC3E}">
        <p14:creationId xmlns:p14="http://schemas.microsoft.com/office/powerpoint/2010/main" val="3231395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000" b="-1000"/>
          </a:stretch>
        </a:blipFill>
        <a:effectLst/>
      </p:bgPr>
    </p:bg>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xmlns="" id="{B8921AE1-807C-45A9-B785-478B8F7730FC}"/>
              </a:ext>
            </a:extLst>
          </p:cNvPr>
          <p:cNvPicPr>
            <a:picLocks noChangeAspect="1"/>
          </p:cNvPicPr>
          <p:nvPr userDrawn="1"/>
        </p:nvPicPr>
        <p:blipFill>
          <a:blip r:embed="rId14"/>
          <a:stretch>
            <a:fillRect/>
          </a:stretch>
        </p:blipFill>
        <p:spPr>
          <a:xfrm>
            <a:off x="0" y="0"/>
            <a:ext cx="12192000" cy="6858000"/>
          </a:xfrm>
          <a:prstGeom prst="rect">
            <a:avLst/>
          </a:prstGeom>
        </p:spPr>
      </p:pic>
      <p:sp>
        <p:nvSpPr>
          <p:cNvPr id="2" name="Espaço Reservado para Título 1">
            <a:extLst>
              <a:ext uri="{FF2B5EF4-FFF2-40B4-BE49-F238E27FC236}">
                <a16:creationId xmlns:a16="http://schemas.microsoft.com/office/drawing/2014/main" xmlns="" id="{A9947C06-89EE-461F-B0F3-9E7915BEB6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dirty="0"/>
              <a:t>Clique para editar o título Mestre</a:t>
            </a:r>
          </a:p>
        </p:txBody>
      </p:sp>
      <p:sp>
        <p:nvSpPr>
          <p:cNvPr id="3" name="Espaço Reservado para Texto 2">
            <a:extLst>
              <a:ext uri="{FF2B5EF4-FFF2-40B4-BE49-F238E27FC236}">
                <a16:creationId xmlns:a16="http://schemas.microsoft.com/office/drawing/2014/main" xmlns="" id="{C2E7604D-A45B-4B9A-B334-7F9DCC38E1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xmlns="" id="{FAB26B07-CF5C-44F2-A5B7-B6D4DC4A44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D63BAF-D1AB-4C38-948D-4A36060575A2}" type="datetimeFigureOut">
              <a:rPr lang="pt-BR" smtClean="0"/>
              <a:t>01/02/2020</a:t>
            </a:fld>
            <a:endParaRPr lang="pt-BR"/>
          </a:p>
        </p:txBody>
      </p:sp>
      <p:sp>
        <p:nvSpPr>
          <p:cNvPr id="5" name="Espaço Reservado para Rodapé 4">
            <a:extLst>
              <a:ext uri="{FF2B5EF4-FFF2-40B4-BE49-F238E27FC236}">
                <a16:creationId xmlns:a16="http://schemas.microsoft.com/office/drawing/2014/main" xmlns="" id="{552CC0F8-7FDE-4F9C-883E-FA0F76DAF5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xmlns="" id="{0BC26AE1-99B2-4A19-AEFA-3C17DDE7C4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245363-447A-476B-BF91-938BC8E7B28E}" type="slidenum">
              <a:rPr lang="pt-BR" smtClean="0"/>
              <a:t>‹nº›</a:t>
            </a:fld>
            <a:endParaRPr lang="pt-BR"/>
          </a:p>
        </p:txBody>
      </p:sp>
      <p:pic>
        <p:nvPicPr>
          <p:cNvPr id="10" name="Imagem 9">
            <a:extLst>
              <a:ext uri="{FF2B5EF4-FFF2-40B4-BE49-F238E27FC236}">
                <a16:creationId xmlns:a16="http://schemas.microsoft.com/office/drawing/2014/main" xmlns="" id="{0F89DE09-C03B-410E-84BB-FA073049FC85}"/>
              </a:ext>
            </a:extLst>
          </p:cNvPr>
          <p:cNvPicPr>
            <a:picLocks noChangeAspect="1"/>
          </p:cNvPicPr>
          <p:nvPr userDrawn="1"/>
        </p:nvPicPr>
        <p:blipFill rotWithShape="1">
          <a:blip r:embed="rId15" cstate="print">
            <a:lum bright="70000" contrast="-70000"/>
            <a:extLst>
              <a:ext uri="{28A0092B-C50C-407E-A947-70E740481C1C}">
                <a14:useLocalDpi xmlns:a14="http://schemas.microsoft.com/office/drawing/2010/main" val="0"/>
              </a:ext>
            </a:extLst>
          </a:blip>
          <a:srcRect l="9930" t="16008" r="9930" b="23539"/>
          <a:stretch/>
        </p:blipFill>
        <p:spPr>
          <a:xfrm>
            <a:off x="10591869" y="5602198"/>
            <a:ext cx="1523862" cy="1149530"/>
          </a:xfrm>
          <a:prstGeom prst="rect">
            <a:avLst/>
          </a:prstGeom>
        </p:spPr>
      </p:pic>
    </p:spTree>
    <p:extLst>
      <p:ext uri="{BB962C8B-B14F-4D97-AF65-F5344CB8AC3E}">
        <p14:creationId xmlns:p14="http://schemas.microsoft.com/office/powerpoint/2010/main" val="1297766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bg1"/>
          </a:solidFill>
          <a:effectLst>
            <a:outerShdw blurRad="38100" dist="38100" dir="2700000" algn="tl">
              <a:srgbClr val="000000">
                <a:alpha val="43137"/>
              </a:srgbClr>
            </a:outerShdw>
          </a:effectLst>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effectLst>
            <a:outerShdw blurRad="38100" dist="38100" dir="2700000" algn="tl">
              <a:srgbClr val="000000">
                <a:alpha val="43137"/>
              </a:srgbClr>
            </a:outerShdw>
          </a:effectLst>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effectLst>
            <a:outerShdw blurRad="38100" dist="38100" dir="2700000" algn="tl">
              <a:srgbClr val="000000">
                <a:alpha val="43137"/>
              </a:srgbClr>
            </a:outerShdw>
          </a:effectLst>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effectLst>
            <a:outerShdw blurRad="38100" dist="38100" dir="2700000" algn="tl">
              <a:srgbClr val="000000">
                <a:alpha val="43137"/>
              </a:srgbClr>
            </a:outerShdw>
          </a:effectLst>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effectLst>
            <a:outerShdw blurRad="38100" dist="38100" dir="2700000" algn="tl">
              <a:srgbClr val="000000">
                <a:alpha val="43137"/>
              </a:srgbClr>
            </a:outerShdw>
          </a:effectLst>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effectLst>
            <a:outerShdw blurRad="38100" dist="38100" dir="2700000" algn="tl">
              <a:srgbClr val="000000">
                <a:alpha val="43137"/>
              </a:srgbClr>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ítulo 3">
            <a:extLst>
              <a:ext uri="{FF2B5EF4-FFF2-40B4-BE49-F238E27FC236}">
                <a16:creationId xmlns:a16="http://schemas.microsoft.com/office/drawing/2014/main" xmlns="" id="{4C4F2339-3F43-4617-9804-8B27EE7E83A1}"/>
              </a:ext>
            </a:extLst>
          </p:cNvPr>
          <p:cNvSpPr>
            <a:spLocks noGrp="1"/>
          </p:cNvSpPr>
          <p:nvPr>
            <p:ph type="ctrTitle"/>
          </p:nvPr>
        </p:nvSpPr>
        <p:spPr>
          <a:xfrm>
            <a:off x="1524000" y="2226883"/>
            <a:ext cx="9144000" cy="1257802"/>
          </a:xfrm>
        </p:spPr>
        <p:txBody>
          <a:bodyPr>
            <a:noAutofit/>
          </a:bodyPr>
          <a:lstStyle/>
          <a:p>
            <a:r>
              <a:rPr lang="pt-BR" sz="4400" dirty="0" smtClean="0">
                <a:effectLst/>
              </a:rPr>
              <a:t>LOGÍSTICA HOSPITALAR</a:t>
            </a:r>
            <a:endParaRPr lang="pt-BR" sz="4400" dirty="0">
              <a:solidFill>
                <a:schemeClr val="bg1"/>
              </a:solidFill>
              <a:effectLst/>
            </a:endParaRPr>
          </a:p>
        </p:txBody>
      </p:sp>
      <p:sp>
        <p:nvSpPr>
          <p:cNvPr id="10" name="Subtítulo 4">
            <a:extLst>
              <a:ext uri="{FF2B5EF4-FFF2-40B4-BE49-F238E27FC236}">
                <a16:creationId xmlns:a16="http://schemas.microsoft.com/office/drawing/2014/main" xmlns="" id="{35AD848D-C7DA-49FD-9B31-F936A9EC7076}"/>
              </a:ext>
            </a:extLst>
          </p:cNvPr>
          <p:cNvSpPr txBox="1">
            <a:spLocks/>
          </p:cNvSpPr>
          <p:nvPr/>
        </p:nvSpPr>
        <p:spPr>
          <a:xfrm>
            <a:off x="1524000" y="4563034"/>
            <a:ext cx="9144000" cy="5873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effectLst>
                  <a:outerShdw blurRad="38100" dist="38100" dir="2700000" algn="tl">
                    <a:srgbClr val="000000">
                      <a:alpha val="43137"/>
                    </a:srgbClr>
                  </a:outerShdw>
                </a:effectLst>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bg1"/>
                </a:solidFill>
                <a:effectLst>
                  <a:outerShdw blurRad="38100" dist="38100" dir="2700000" algn="tl">
                    <a:srgbClr val="000000">
                      <a:alpha val="43137"/>
                    </a:srgbClr>
                  </a:outerShdw>
                </a:effectLst>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bg1"/>
                </a:solidFill>
                <a:effectLst>
                  <a:outerShdw blurRad="38100" dist="38100" dir="2700000" algn="tl">
                    <a:srgbClr val="000000">
                      <a:alpha val="43137"/>
                    </a:srgbClr>
                  </a:outerShdw>
                </a:effectLst>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bg1"/>
                </a:solidFill>
                <a:effectLst>
                  <a:outerShdw blurRad="38100" dist="38100" dir="2700000" algn="tl">
                    <a:srgbClr val="000000">
                      <a:alpha val="43137"/>
                    </a:srgbClr>
                  </a:outerShdw>
                </a:effectLst>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bg1"/>
                </a:solidFill>
                <a:effectLst>
                  <a:outerShdw blurRad="38100" dist="38100" dir="2700000" algn="tl">
                    <a:srgbClr val="000000">
                      <a:alpha val="43137"/>
                    </a:srgbClr>
                  </a:outerShdw>
                </a:effectLst>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pt-BR" dirty="0" smtClean="0">
                <a:effectLst/>
              </a:rPr>
              <a:t>EDMUNDO SOUZA</a:t>
            </a:r>
            <a:endParaRPr lang="pt-BR" dirty="0">
              <a:effectLst/>
            </a:endParaRPr>
          </a:p>
        </p:txBody>
      </p:sp>
      <p:cxnSp>
        <p:nvCxnSpPr>
          <p:cNvPr id="11" name="Conector reto 10"/>
          <p:cNvCxnSpPr/>
          <p:nvPr/>
        </p:nvCxnSpPr>
        <p:spPr>
          <a:xfrm flipV="1">
            <a:off x="-128789" y="5500047"/>
            <a:ext cx="12320789" cy="2499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CaixaDeTexto 11"/>
          <p:cNvSpPr txBox="1"/>
          <p:nvPr/>
        </p:nvSpPr>
        <p:spPr>
          <a:xfrm>
            <a:off x="5033689" y="5849735"/>
            <a:ext cx="2124621" cy="461665"/>
          </a:xfrm>
          <a:prstGeom prst="rect">
            <a:avLst/>
          </a:prstGeom>
          <a:noFill/>
        </p:spPr>
        <p:txBody>
          <a:bodyPr wrap="none" rtlCol="0">
            <a:spAutoFit/>
          </a:bodyPr>
          <a:lstStyle/>
          <a:p>
            <a:r>
              <a:rPr lang="pt-BR" sz="2400" spc="300" dirty="0" smtClean="0">
                <a:solidFill>
                  <a:schemeClr val="bg1"/>
                </a:solidFill>
              </a:rPr>
              <a:t>UNIDADE </a:t>
            </a:r>
            <a:r>
              <a:rPr lang="pt-BR" sz="2400" spc="300" dirty="0" smtClean="0">
                <a:solidFill>
                  <a:schemeClr val="bg1"/>
                </a:solidFill>
              </a:rPr>
              <a:t>02</a:t>
            </a:r>
            <a:endParaRPr lang="pt-BR" sz="2400" spc="300" dirty="0">
              <a:solidFill>
                <a:schemeClr val="bg1"/>
              </a:solidFill>
            </a:endParaRPr>
          </a:p>
        </p:txBody>
      </p:sp>
    </p:spTree>
    <p:extLst>
      <p:ext uri="{BB962C8B-B14F-4D97-AF65-F5344CB8AC3E}">
        <p14:creationId xmlns:p14="http://schemas.microsoft.com/office/powerpoint/2010/main" val="3458093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55AA40A-0415-47DA-BCE5-0076E878A9A7}"/>
              </a:ext>
            </a:extLst>
          </p:cNvPr>
          <p:cNvSpPr>
            <a:spLocks noGrp="1"/>
          </p:cNvSpPr>
          <p:nvPr>
            <p:ph type="title"/>
          </p:nvPr>
        </p:nvSpPr>
        <p:spPr>
          <a:xfrm>
            <a:off x="351691" y="248014"/>
            <a:ext cx="10515600" cy="1325563"/>
          </a:xfrm>
        </p:spPr>
        <p:txBody>
          <a:bodyPr/>
          <a:lstStyle/>
          <a:p>
            <a:r>
              <a:rPr lang="pt-BR" b="1" dirty="0">
                <a:effectLst/>
              </a:rPr>
              <a:t>Unidade 2 | Introdução</a:t>
            </a:r>
          </a:p>
        </p:txBody>
      </p:sp>
      <p:sp>
        <p:nvSpPr>
          <p:cNvPr id="3" name="Espaço Reservado para Conteúdo 2">
            <a:extLst>
              <a:ext uri="{FF2B5EF4-FFF2-40B4-BE49-F238E27FC236}">
                <a16:creationId xmlns:a16="http://schemas.microsoft.com/office/drawing/2014/main" xmlns="" id="{45205521-02CD-43CD-B824-4073F365DCDE}"/>
              </a:ext>
            </a:extLst>
          </p:cNvPr>
          <p:cNvSpPr>
            <a:spLocks noGrp="1"/>
          </p:cNvSpPr>
          <p:nvPr>
            <p:ph idx="1"/>
          </p:nvPr>
        </p:nvSpPr>
        <p:spPr>
          <a:xfrm>
            <a:off x="5483040" y="1331996"/>
            <a:ext cx="5979942" cy="2682435"/>
          </a:xfrm>
        </p:spPr>
        <p:txBody>
          <a:bodyPr>
            <a:noAutofit/>
          </a:bodyPr>
          <a:lstStyle/>
          <a:p>
            <a:pPr algn="just"/>
            <a:r>
              <a:rPr lang="pt-BR" sz="2400" dirty="0">
                <a:effectLst/>
              </a:rPr>
              <a:t>O processo de logística hospitalar é uma teia, ou seja, para que o objetivo seja alcançado, a gestão e a logística devem funcionar em conjunto. Isso traz um impacto positivo para o equilíbrio financeiro da instituição e para a segurança à saúde dos pacientes.</a:t>
            </a:r>
          </a:p>
          <a:p>
            <a:pPr algn="just"/>
            <a:r>
              <a:rPr lang="pt-BR" sz="2400" dirty="0">
                <a:effectLst/>
              </a:rPr>
              <a:t>Com as novas tendências tecnológicas na saúde, tudo tende a ser realizado de maneira mais tranquila, através da automatização. Um software ou as ferramentas de gestão tendem a trazer mais segurança que significam mais vantagens para a instituição.</a:t>
            </a:r>
          </a:p>
        </p:txBody>
      </p:sp>
      <p:sp>
        <p:nvSpPr>
          <p:cNvPr id="4" name="Retângulo 3">
            <a:extLst>
              <a:ext uri="{FF2B5EF4-FFF2-40B4-BE49-F238E27FC236}">
                <a16:creationId xmlns:a16="http://schemas.microsoft.com/office/drawing/2014/main" xmlns="" id="{CCB5883C-3CC4-487B-B7FF-792EB3AEAD7F}"/>
              </a:ext>
            </a:extLst>
          </p:cNvPr>
          <p:cNvSpPr/>
          <p:nvPr/>
        </p:nvSpPr>
        <p:spPr>
          <a:xfrm>
            <a:off x="351692" y="1690688"/>
            <a:ext cx="4749019" cy="44146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6" name="Imagem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691" y="1690688"/>
            <a:ext cx="4749019" cy="441468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374722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55AA40A-0415-47DA-BCE5-0076E878A9A7}"/>
              </a:ext>
            </a:extLst>
          </p:cNvPr>
          <p:cNvSpPr>
            <a:spLocks noGrp="1"/>
          </p:cNvSpPr>
          <p:nvPr>
            <p:ph type="title"/>
          </p:nvPr>
        </p:nvSpPr>
        <p:spPr/>
        <p:txBody>
          <a:bodyPr/>
          <a:lstStyle/>
          <a:p>
            <a:r>
              <a:rPr lang="pt-BR" b="1" dirty="0">
                <a:effectLst/>
              </a:rPr>
              <a:t>Unidade 2 | Objetivos</a:t>
            </a:r>
          </a:p>
        </p:txBody>
      </p:sp>
      <p:sp>
        <p:nvSpPr>
          <p:cNvPr id="3" name="Espaço Reservado para Conteúdo 2">
            <a:extLst>
              <a:ext uri="{FF2B5EF4-FFF2-40B4-BE49-F238E27FC236}">
                <a16:creationId xmlns:a16="http://schemas.microsoft.com/office/drawing/2014/main" xmlns="" id="{45205521-02CD-43CD-B824-4073F365DCDE}"/>
              </a:ext>
            </a:extLst>
          </p:cNvPr>
          <p:cNvSpPr>
            <a:spLocks noGrp="1"/>
          </p:cNvSpPr>
          <p:nvPr>
            <p:ph idx="1"/>
          </p:nvPr>
        </p:nvSpPr>
        <p:spPr>
          <a:xfrm>
            <a:off x="838200" y="2205453"/>
            <a:ext cx="9656298" cy="4504836"/>
          </a:xfrm>
        </p:spPr>
        <p:txBody>
          <a:bodyPr>
            <a:normAutofit/>
          </a:bodyPr>
          <a:lstStyle/>
          <a:p>
            <a:pPr marL="0" indent="0">
              <a:buNone/>
            </a:pPr>
            <a:r>
              <a:rPr lang="pt-BR" dirty="0">
                <a:effectLst/>
              </a:rPr>
              <a:t>1.Conhecer os princípios básicos da Gestão Hospitalar.</a:t>
            </a:r>
          </a:p>
          <a:p>
            <a:pPr marL="0" indent="0">
              <a:buNone/>
            </a:pPr>
            <a:r>
              <a:rPr lang="pt-BR" dirty="0">
                <a:effectLst/>
              </a:rPr>
              <a:t>2.Compreender as estruturas e funções administrativas da Gestão Hospitalar.</a:t>
            </a:r>
          </a:p>
          <a:p>
            <a:pPr marL="0" indent="0">
              <a:buNone/>
            </a:pPr>
            <a:r>
              <a:rPr lang="pt-BR" dirty="0">
                <a:effectLst/>
              </a:rPr>
              <a:t>3.Compreender a gestão da cadeia de suprimentos no âmbito hospitalar.</a:t>
            </a:r>
          </a:p>
          <a:p>
            <a:pPr marL="0" indent="0">
              <a:buNone/>
            </a:pPr>
            <a:r>
              <a:rPr lang="pt-BR" dirty="0">
                <a:effectLst/>
              </a:rPr>
              <a:t>4.Identificar, analisar e compreender a estrutura da logística hospitalar.</a:t>
            </a:r>
          </a:p>
        </p:txBody>
      </p:sp>
    </p:spTree>
    <p:extLst>
      <p:ext uri="{BB962C8B-B14F-4D97-AF65-F5344CB8AC3E}">
        <p14:creationId xmlns:p14="http://schemas.microsoft.com/office/powerpoint/2010/main" val="1377955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p:txBody>
          <a:bodyPr/>
          <a:lstStyle/>
          <a:p>
            <a:r>
              <a:rPr lang="pt-BR" b="1" dirty="0" err="1" smtClean="0">
                <a:effectLst/>
              </a:rPr>
              <a:t>Principios</a:t>
            </a:r>
            <a:r>
              <a:rPr lang="pt-BR" b="1" dirty="0" smtClean="0">
                <a:effectLst/>
              </a:rPr>
              <a:t> </a:t>
            </a:r>
            <a:r>
              <a:rPr lang="pt-BR" b="1" dirty="0">
                <a:effectLst/>
              </a:rPr>
              <a:t>básicos da gestão hospitalar</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838200" y="3099342"/>
            <a:ext cx="5998698" cy="1110928"/>
          </a:xfrm>
        </p:spPr>
        <p:txBody>
          <a:bodyPr>
            <a:normAutofit/>
          </a:bodyPr>
          <a:lstStyle/>
          <a:p>
            <a:pPr marL="0" indent="0" algn="just">
              <a:buNone/>
            </a:pPr>
            <a:r>
              <a:rPr lang="pt-BR" sz="2400" dirty="0">
                <a:effectLst/>
              </a:rPr>
              <a:t>A logística hospitalar e sua cadeia de suprimentos tem como referencial a base de atuação da logística empresarial. </a:t>
            </a:r>
            <a:endParaRPr lang="pt-BR" sz="2400" dirty="0"/>
          </a:p>
        </p:txBody>
      </p:sp>
      <p:pic>
        <p:nvPicPr>
          <p:cNvPr id="6" name="Imagem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92370" y="1690688"/>
            <a:ext cx="3989920" cy="392823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461360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p:txBody>
          <a:bodyPr/>
          <a:lstStyle/>
          <a:p>
            <a:r>
              <a:rPr lang="pt-BR" b="1" dirty="0" smtClean="0">
                <a:effectLst/>
              </a:rPr>
              <a:t>Gestão </a:t>
            </a:r>
            <a:r>
              <a:rPr lang="pt-BR" b="1" dirty="0">
                <a:effectLst/>
              </a:rPr>
              <a:t>de logística</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5824025" y="2182904"/>
            <a:ext cx="5529775" cy="1608848"/>
          </a:xfrm>
        </p:spPr>
        <p:txBody>
          <a:bodyPr>
            <a:noAutofit/>
          </a:bodyPr>
          <a:lstStyle/>
          <a:p>
            <a:pPr marL="0" indent="0" algn="just">
              <a:buNone/>
            </a:pPr>
            <a:r>
              <a:rPr lang="pt-BR" sz="2400" dirty="0">
                <a:effectLst/>
              </a:rPr>
              <a:t>A ideia central da gestão de logística hospitalar é garantir o produto correto, no momento certo, para o paciente indicado. Produtos englobam os materiais específicos da área da saúde; os insumos, medicamentos, equipamentos, móveis, utensílios específicos, peças elétricas, eletrônicas e materiais comuns como produtos de limpeza, escritório e outros. </a:t>
            </a:r>
            <a:endParaRPr lang="pt-BR" sz="2400" dirty="0"/>
          </a:p>
        </p:txBody>
      </p:sp>
      <p:sp>
        <p:nvSpPr>
          <p:cNvPr id="4" name="Retângulo 3">
            <a:extLst>
              <a:ext uri="{FF2B5EF4-FFF2-40B4-BE49-F238E27FC236}">
                <a16:creationId xmlns:a16="http://schemas.microsoft.com/office/drawing/2014/main" xmlns="" id="{9C459871-D441-4415-A5C9-C37B75CA9839}"/>
              </a:ext>
            </a:extLst>
          </p:cNvPr>
          <p:cNvSpPr/>
          <p:nvPr/>
        </p:nvSpPr>
        <p:spPr>
          <a:xfrm>
            <a:off x="548640" y="1674053"/>
            <a:ext cx="4806462" cy="4235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6" name="Imagem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40" y="1674054"/>
            <a:ext cx="4806462" cy="423539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479576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566224" y="348490"/>
            <a:ext cx="10515600" cy="1325563"/>
          </a:xfrm>
        </p:spPr>
        <p:txBody>
          <a:bodyPr/>
          <a:lstStyle/>
          <a:p>
            <a:r>
              <a:rPr lang="pt-BR" b="1" dirty="0" smtClean="0">
                <a:effectLst/>
              </a:rPr>
              <a:t>Logística </a:t>
            </a:r>
            <a:r>
              <a:rPr lang="pt-BR" b="1" dirty="0">
                <a:effectLst/>
              </a:rPr>
              <a:t>de suprimentos</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5824024" y="1690688"/>
            <a:ext cx="5529775" cy="3844172"/>
          </a:xfrm>
        </p:spPr>
        <p:txBody>
          <a:bodyPr>
            <a:noAutofit/>
          </a:bodyPr>
          <a:lstStyle/>
          <a:p>
            <a:pPr marL="0" indent="0" algn="just">
              <a:buNone/>
            </a:pPr>
            <a:r>
              <a:rPr lang="pt-BR" sz="2400" dirty="0">
                <a:effectLst/>
              </a:rPr>
              <a:t>A logística de suprimento é representada pelo departamento de compras. Este, recebe as solicitações de compras dos setores: Almoxarifado, Central de Abastecimento Farmacêutico (CAF), Serviço de Nutrição e Dietética (SND) e Departamento de Gestão de Projetos (DGP). Existem hospitais que os setores da CAF e SND realizam suas compras diretas com a cadeia de suprimentos, não passando pelo setor de compras.</a:t>
            </a:r>
            <a:endParaRPr lang="pt-BR" sz="2400" dirty="0"/>
          </a:p>
        </p:txBody>
      </p:sp>
      <p:sp>
        <p:nvSpPr>
          <p:cNvPr id="4" name="Retângulo 3">
            <a:extLst>
              <a:ext uri="{FF2B5EF4-FFF2-40B4-BE49-F238E27FC236}">
                <a16:creationId xmlns:a16="http://schemas.microsoft.com/office/drawing/2014/main" xmlns="" id="{9C459871-D441-4415-A5C9-C37B75CA9839}"/>
              </a:ext>
            </a:extLst>
          </p:cNvPr>
          <p:cNvSpPr/>
          <p:nvPr/>
        </p:nvSpPr>
        <p:spPr>
          <a:xfrm>
            <a:off x="548640" y="1674053"/>
            <a:ext cx="4806462" cy="4235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6" name="Imagem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40" y="1690688"/>
            <a:ext cx="4806462" cy="421876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332750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p:txBody>
          <a:bodyPr/>
          <a:lstStyle/>
          <a:p>
            <a:r>
              <a:rPr lang="pt-BR" dirty="0" smtClean="0"/>
              <a:t>Logística </a:t>
            </a:r>
            <a:r>
              <a:rPr lang="pt-BR" dirty="0"/>
              <a:t>interna</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5933207" y="2529303"/>
            <a:ext cx="5529775" cy="1608848"/>
          </a:xfrm>
        </p:spPr>
        <p:txBody>
          <a:bodyPr>
            <a:noAutofit/>
          </a:bodyPr>
          <a:lstStyle/>
          <a:p>
            <a:pPr marL="0" indent="0" algn="just">
              <a:buNone/>
            </a:pPr>
            <a:r>
              <a:rPr lang="pt-BR" sz="2400" dirty="0">
                <a:effectLst/>
              </a:rPr>
              <a:t>A logística interna cuida do fluxo interno do controle e distribuição do material nas dependências do hospital: O almoxarifado é o setor responsável pelo correto recebimento dos materiais, correto armazenamento, controle de estoque, e sua movimentação.</a:t>
            </a:r>
            <a:endParaRPr lang="pt-BR" sz="2400" dirty="0"/>
          </a:p>
        </p:txBody>
      </p:sp>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413" y="2031883"/>
            <a:ext cx="4806463" cy="357734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153780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566224" y="340172"/>
            <a:ext cx="10515600" cy="1325563"/>
          </a:xfrm>
        </p:spPr>
        <p:txBody>
          <a:bodyPr/>
          <a:lstStyle/>
          <a:p>
            <a:r>
              <a:rPr lang="pt-BR" b="1" dirty="0" smtClean="0">
                <a:effectLst/>
              </a:rPr>
              <a:t>Logística </a:t>
            </a:r>
            <a:r>
              <a:rPr lang="pt-BR" b="1" dirty="0">
                <a:effectLst/>
              </a:rPr>
              <a:t>interna – unidades assistenciais</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6209731" y="3088862"/>
            <a:ext cx="5485262" cy="1608848"/>
          </a:xfrm>
        </p:spPr>
        <p:txBody>
          <a:bodyPr>
            <a:noAutofit/>
          </a:bodyPr>
          <a:lstStyle/>
          <a:p>
            <a:pPr algn="just"/>
            <a:r>
              <a:rPr lang="pt-BR" sz="2400" dirty="0">
                <a:effectLst/>
              </a:rPr>
              <a:t>CTI, Centro Cirúrgico, Pronto Socorro, Unidades de Internação, Hemodinâmica e outros;</a:t>
            </a:r>
          </a:p>
        </p:txBody>
      </p:sp>
      <p:pic>
        <p:nvPicPr>
          <p:cNvPr id="6" name="Imagem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40" y="1942450"/>
            <a:ext cx="5275384" cy="421876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079623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548640" y="227396"/>
            <a:ext cx="10515600" cy="1325563"/>
          </a:xfrm>
        </p:spPr>
        <p:txBody>
          <a:bodyPr/>
          <a:lstStyle/>
          <a:p>
            <a:r>
              <a:rPr lang="pt-BR" b="1" dirty="0" smtClean="0">
                <a:effectLst/>
              </a:rPr>
              <a:t>Logística </a:t>
            </a:r>
            <a:r>
              <a:rPr lang="pt-BR" b="1" dirty="0">
                <a:effectLst/>
              </a:rPr>
              <a:t>interna – unidades de apoio</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6042389" y="2987328"/>
            <a:ext cx="5529775" cy="1608848"/>
          </a:xfrm>
        </p:spPr>
        <p:txBody>
          <a:bodyPr>
            <a:noAutofit/>
          </a:bodyPr>
          <a:lstStyle/>
          <a:p>
            <a:pPr algn="just"/>
            <a:r>
              <a:rPr lang="pt-BR" sz="2400" dirty="0">
                <a:effectLst/>
              </a:rPr>
              <a:t>Lavanderia, Rouparia, Hotelaria, Manutenção Predial, Manutenção Biomédica, Conservação e Limpeza, Tecnologia de Informação, SESMT, e outros.</a:t>
            </a:r>
          </a:p>
        </p:txBody>
      </p:sp>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40" y="1769587"/>
            <a:ext cx="4806462" cy="423539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907670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548640" y="227396"/>
            <a:ext cx="10796451" cy="1325563"/>
          </a:xfrm>
        </p:spPr>
        <p:txBody>
          <a:bodyPr/>
          <a:lstStyle/>
          <a:p>
            <a:r>
              <a:rPr lang="pt-BR" b="1" dirty="0" smtClean="0">
                <a:effectLst/>
              </a:rPr>
              <a:t>Logística </a:t>
            </a:r>
            <a:r>
              <a:rPr lang="pt-BR" b="1" dirty="0">
                <a:effectLst/>
              </a:rPr>
              <a:t>interna – setores administrativos</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6114197" y="2747668"/>
            <a:ext cx="5239602" cy="1210183"/>
          </a:xfrm>
        </p:spPr>
        <p:txBody>
          <a:bodyPr>
            <a:noAutofit/>
          </a:bodyPr>
          <a:lstStyle/>
          <a:p>
            <a:pPr algn="just"/>
            <a:r>
              <a:rPr lang="pt-BR" sz="2400" dirty="0">
                <a:effectLst/>
              </a:rPr>
              <a:t>Diretoria, Departamento de Gestão de Projetos, Financeiro, Contabilidade, Jurídico, Recursos Humanos e outros.</a:t>
            </a:r>
          </a:p>
          <a:p>
            <a:pPr algn="just"/>
            <a:endParaRPr lang="pt-BR" sz="2400" dirty="0">
              <a:effectLst/>
            </a:endParaRPr>
          </a:p>
        </p:txBody>
      </p:sp>
      <p:pic>
        <p:nvPicPr>
          <p:cNvPr id="6" name="Imagem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1470" y="1632270"/>
            <a:ext cx="4806462" cy="383964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015607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557348" y="227396"/>
            <a:ext cx="10796451" cy="1325563"/>
          </a:xfrm>
        </p:spPr>
        <p:txBody>
          <a:bodyPr/>
          <a:lstStyle/>
          <a:p>
            <a:r>
              <a:rPr lang="pt-BR" b="1" dirty="0" smtClean="0">
                <a:effectLst/>
              </a:rPr>
              <a:t>Administração </a:t>
            </a:r>
            <a:r>
              <a:rPr lang="pt-BR" b="1" dirty="0">
                <a:effectLst/>
              </a:rPr>
              <a:t>hospitalar</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5824024" y="1674053"/>
            <a:ext cx="5529775" cy="1608848"/>
          </a:xfrm>
        </p:spPr>
        <p:txBody>
          <a:bodyPr>
            <a:noAutofit/>
          </a:bodyPr>
          <a:lstStyle/>
          <a:p>
            <a:pPr algn="just"/>
            <a:r>
              <a:rPr lang="pt-BR" sz="2400" dirty="0">
                <a:effectLst/>
              </a:rPr>
              <a:t>As funções administrativas são </a:t>
            </a:r>
            <a:r>
              <a:rPr lang="pt-BR" sz="2400" dirty="0" err="1">
                <a:effectLst/>
              </a:rPr>
              <a:t>interrelacionadas</a:t>
            </a:r>
            <a:r>
              <a:rPr lang="pt-BR" sz="2400" dirty="0">
                <a:effectLst/>
              </a:rPr>
              <a:t>, sendo que o resultado de cada uma das áreas tem influência direta no resultado final da organização. Por esse motivo é importante conhecê-las e estudá-las.</a:t>
            </a:r>
          </a:p>
          <a:p>
            <a:pPr algn="just"/>
            <a:r>
              <a:rPr lang="pt-BR" sz="2400" dirty="0">
                <a:effectLst/>
              </a:rPr>
              <a:t>Definem-se como funções administrativas o planejamento, organização, comando, controle e coordenação. De forma abreviada, é possível dizer que as funções administrativas são representadas pela sigla POC3.</a:t>
            </a:r>
          </a:p>
          <a:p>
            <a:pPr algn="just"/>
            <a:endParaRPr lang="pt-BR" sz="2400" dirty="0">
              <a:effectLst/>
            </a:endParaRPr>
          </a:p>
        </p:txBody>
      </p:sp>
      <p:sp>
        <p:nvSpPr>
          <p:cNvPr id="4" name="Retângulo 3">
            <a:extLst>
              <a:ext uri="{FF2B5EF4-FFF2-40B4-BE49-F238E27FC236}">
                <a16:creationId xmlns:a16="http://schemas.microsoft.com/office/drawing/2014/main" xmlns="" id="{9C459871-D441-4415-A5C9-C37B75CA9839}"/>
              </a:ext>
            </a:extLst>
          </p:cNvPr>
          <p:cNvSpPr/>
          <p:nvPr/>
        </p:nvSpPr>
        <p:spPr>
          <a:xfrm>
            <a:off x="548640" y="1674053"/>
            <a:ext cx="4806462" cy="4235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40" y="1690688"/>
            <a:ext cx="4806462" cy="421876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87954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838199" y="365125"/>
            <a:ext cx="10796451" cy="1325563"/>
          </a:xfrm>
        </p:spPr>
        <p:txBody>
          <a:bodyPr/>
          <a:lstStyle/>
          <a:p>
            <a:r>
              <a:rPr lang="pt-BR" b="1" dirty="0" smtClean="0">
                <a:effectLst/>
              </a:rPr>
              <a:t>Administração </a:t>
            </a:r>
            <a:r>
              <a:rPr lang="pt-BR" b="1" dirty="0">
                <a:effectLst/>
              </a:rPr>
              <a:t>hospitalar - Planejamento</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2129050" y="3020623"/>
            <a:ext cx="8064690" cy="1551377"/>
          </a:xfrm>
        </p:spPr>
        <p:txBody>
          <a:bodyPr>
            <a:noAutofit/>
          </a:bodyPr>
          <a:lstStyle/>
          <a:p>
            <a:pPr algn="just"/>
            <a:r>
              <a:rPr lang="pt-BR" sz="2400" dirty="0">
                <a:effectLst/>
              </a:rPr>
              <a:t>O planejamento é uma atividade sistêmica que visa, deforma organizada, prever os recursos necessários para serem utilizados no momento certo e da maneira correta, para atingir resultados desejados.</a:t>
            </a:r>
          </a:p>
          <a:p>
            <a:pPr algn="just"/>
            <a:endParaRPr lang="pt-BR" sz="2400" dirty="0">
              <a:effectLst/>
            </a:endParaRPr>
          </a:p>
        </p:txBody>
      </p:sp>
    </p:spTree>
    <p:extLst>
      <p:ext uri="{BB962C8B-B14F-4D97-AF65-F5344CB8AC3E}">
        <p14:creationId xmlns:p14="http://schemas.microsoft.com/office/powerpoint/2010/main" val="2824027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838199" y="365125"/>
            <a:ext cx="10796451" cy="1325563"/>
          </a:xfrm>
        </p:spPr>
        <p:txBody>
          <a:bodyPr/>
          <a:lstStyle/>
          <a:p>
            <a:r>
              <a:rPr lang="pt-BR" b="1" dirty="0" smtClean="0">
                <a:effectLst/>
              </a:rPr>
              <a:t>Administração </a:t>
            </a:r>
            <a:r>
              <a:rPr lang="pt-BR" b="1" dirty="0">
                <a:effectLst/>
              </a:rPr>
              <a:t>hospitalar - Planejamento</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838199" y="1914104"/>
            <a:ext cx="10017368" cy="3585943"/>
          </a:xfrm>
        </p:spPr>
        <p:txBody>
          <a:bodyPr>
            <a:noAutofit/>
          </a:bodyPr>
          <a:lstStyle/>
          <a:p>
            <a:r>
              <a:rPr lang="pt-BR" sz="2400" dirty="0">
                <a:effectLst/>
              </a:rPr>
              <a:t>O planejamento responde a questões básicas, como:</a:t>
            </a:r>
          </a:p>
          <a:p>
            <a:pPr lvl="0"/>
            <a:r>
              <a:rPr lang="pt-BR" sz="2400" dirty="0">
                <a:effectLst/>
              </a:rPr>
              <a:t>O que fazer?</a:t>
            </a:r>
          </a:p>
          <a:p>
            <a:pPr lvl="0"/>
            <a:r>
              <a:rPr lang="pt-BR" sz="2400" dirty="0">
                <a:effectLst/>
              </a:rPr>
              <a:t>Para que fazer?</a:t>
            </a:r>
          </a:p>
          <a:p>
            <a:pPr lvl="0"/>
            <a:r>
              <a:rPr lang="pt-BR" sz="2400" dirty="0">
                <a:effectLst/>
              </a:rPr>
              <a:t>Como fazer?</a:t>
            </a:r>
          </a:p>
          <a:p>
            <a:pPr lvl="0"/>
            <a:r>
              <a:rPr lang="pt-BR" sz="2400" dirty="0">
                <a:effectLst/>
              </a:rPr>
              <a:t>Com quais recursos fazer?</a:t>
            </a:r>
          </a:p>
          <a:p>
            <a:pPr lvl="0"/>
            <a:r>
              <a:rPr lang="pt-BR" sz="2400" dirty="0">
                <a:effectLst/>
              </a:rPr>
              <a:t>Quando fazer?</a:t>
            </a:r>
          </a:p>
          <a:p>
            <a:pPr lvl="0"/>
            <a:r>
              <a:rPr lang="pt-BR" sz="2400" dirty="0">
                <a:effectLst/>
              </a:rPr>
              <a:t>Com quem fazer?</a:t>
            </a:r>
          </a:p>
        </p:txBody>
      </p:sp>
    </p:spTree>
    <p:extLst>
      <p:ext uri="{BB962C8B-B14F-4D97-AF65-F5344CB8AC3E}">
        <p14:creationId xmlns:p14="http://schemas.microsoft.com/office/powerpoint/2010/main" val="511319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838199" y="365125"/>
            <a:ext cx="10796451" cy="1325563"/>
          </a:xfrm>
        </p:spPr>
        <p:txBody>
          <a:bodyPr/>
          <a:lstStyle/>
          <a:p>
            <a:r>
              <a:rPr lang="pt-BR" b="1" dirty="0" smtClean="0">
                <a:effectLst/>
              </a:rPr>
              <a:t>Administração </a:t>
            </a:r>
            <a:r>
              <a:rPr lang="pt-BR" b="1" dirty="0">
                <a:effectLst/>
              </a:rPr>
              <a:t>hospitalar - Planejamento</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954294" y="1690687"/>
            <a:ext cx="10298219" cy="4191497"/>
          </a:xfrm>
        </p:spPr>
        <p:txBody>
          <a:bodyPr>
            <a:noAutofit/>
          </a:bodyPr>
          <a:lstStyle/>
          <a:p>
            <a:pPr algn="just"/>
            <a:r>
              <a:rPr lang="pt-BR" sz="2400" dirty="0">
                <a:effectLst/>
              </a:rPr>
              <a:t>Em outras palavras, consiste em: determinar objetivos, formular estratégias, políticas e planos e a partir daí tomar decisões. O planejamento tem por finalidade permitir trabalharem deforma integrada as diversas áreas da organização para atingirem um mesmo objetivo, sempre observando o que ocorre dentro e fora dela. Cinco são as atividades básicas do planejamento:</a:t>
            </a:r>
          </a:p>
          <a:p>
            <a:pPr lvl="0" algn="just"/>
            <a:r>
              <a:rPr lang="pt-BR" sz="2400" dirty="0">
                <a:effectLst/>
              </a:rPr>
              <a:t>avaliação das condições atuais;</a:t>
            </a:r>
          </a:p>
          <a:p>
            <a:pPr lvl="0" algn="just"/>
            <a:r>
              <a:rPr lang="pt-BR" sz="2400" dirty="0">
                <a:effectLst/>
              </a:rPr>
              <a:t>tempo;</a:t>
            </a:r>
          </a:p>
          <a:p>
            <a:pPr lvl="0" algn="just"/>
            <a:r>
              <a:rPr lang="pt-BR" sz="2400" dirty="0">
                <a:effectLst/>
              </a:rPr>
              <a:t>problemas de previsão;</a:t>
            </a:r>
          </a:p>
          <a:p>
            <a:pPr lvl="0" algn="just"/>
            <a:r>
              <a:rPr lang="pt-BR" sz="2400" dirty="0">
                <a:effectLst/>
              </a:rPr>
              <a:t>coleta e análise de dados; e</a:t>
            </a:r>
          </a:p>
          <a:p>
            <a:pPr lvl="0" algn="just"/>
            <a:r>
              <a:rPr lang="pt-BR" sz="2400" dirty="0">
                <a:effectLst/>
              </a:rPr>
              <a:t>coordenação de planos.</a:t>
            </a:r>
          </a:p>
        </p:txBody>
      </p:sp>
    </p:spTree>
    <p:extLst>
      <p:ext uri="{BB962C8B-B14F-4D97-AF65-F5344CB8AC3E}">
        <p14:creationId xmlns:p14="http://schemas.microsoft.com/office/powerpoint/2010/main" val="2578676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838199" y="365125"/>
            <a:ext cx="10796451" cy="1325563"/>
          </a:xfrm>
        </p:spPr>
        <p:txBody>
          <a:bodyPr/>
          <a:lstStyle/>
          <a:p>
            <a:r>
              <a:rPr lang="pt-BR" b="1" dirty="0" smtClean="0">
                <a:effectLst/>
              </a:rPr>
              <a:t>Administração </a:t>
            </a:r>
            <a:r>
              <a:rPr lang="pt-BR" b="1" dirty="0">
                <a:effectLst/>
              </a:rPr>
              <a:t>hospitalar - Objetivos</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1407294" y="2326927"/>
            <a:ext cx="9360789" cy="2504380"/>
          </a:xfrm>
        </p:spPr>
        <p:txBody>
          <a:bodyPr>
            <a:noAutofit/>
          </a:bodyPr>
          <a:lstStyle/>
          <a:p>
            <a:pPr algn="just"/>
            <a:r>
              <a:rPr lang="pt-BR" sz="2400" dirty="0">
                <a:effectLst/>
              </a:rPr>
              <a:t>Os objetivos refletem um conjunto de desejos a serem atingidos</a:t>
            </a:r>
            <a:r>
              <a:rPr lang="pt-BR" sz="2400" dirty="0" smtClean="0">
                <a:effectLst/>
              </a:rPr>
              <a:t>. Os </a:t>
            </a:r>
            <a:r>
              <a:rPr lang="pt-BR" sz="2400" dirty="0">
                <a:effectLst/>
              </a:rPr>
              <a:t>desejos que compõem os objetivos podem ser denominados de metas. Uma organização pode ter um ou mais objetivos. Em geral, podemos traçar um objetivo principal, que pode ser decomposto por objetivos menores, ou seja, objetivos específicos. Muitas vezes, a causa da falha de uma organização pode estar na falta de objetivos e metas bem determinados.</a:t>
            </a:r>
          </a:p>
        </p:txBody>
      </p:sp>
    </p:spTree>
    <p:extLst>
      <p:ext uri="{BB962C8B-B14F-4D97-AF65-F5344CB8AC3E}">
        <p14:creationId xmlns:p14="http://schemas.microsoft.com/office/powerpoint/2010/main" val="2640580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838199" y="365125"/>
            <a:ext cx="10796451" cy="1325563"/>
          </a:xfrm>
        </p:spPr>
        <p:txBody>
          <a:bodyPr/>
          <a:lstStyle/>
          <a:p>
            <a:r>
              <a:rPr lang="pt-BR" b="1" dirty="0" smtClean="0">
                <a:effectLst/>
              </a:rPr>
              <a:t>Administração </a:t>
            </a:r>
            <a:r>
              <a:rPr lang="pt-BR" b="1" dirty="0">
                <a:effectLst/>
              </a:rPr>
              <a:t>hospitalar - Metas</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1754184" y="2695417"/>
            <a:ext cx="8964479" cy="1862936"/>
          </a:xfrm>
        </p:spPr>
        <p:txBody>
          <a:bodyPr>
            <a:noAutofit/>
          </a:bodyPr>
          <a:lstStyle/>
          <a:p>
            <a:pPr algn="just"/>
            <a:r>
              <a:rPr lang="pt-BR" sz="2400" dirty="0">
                <a:effectLst/>
              </a:rPr>
              <a:t>Metas são desejos que têm como características o fato de </a:t>
            </a:r>
            <a:r>
              <a:rPr lang="pt-BR" sz="2400" dirty="0" err="1">
                <a:effectLst/>
              </a:rPr>
              <a:t>se-rem</a:t>
            </a:r>
            <a:r>
              <a:rPr lang="pt-BR" sz="2400" dirty="0">
                <a:effectLst/>
              </a:rPr>
              <a:t> específicas, realistas, com possibilidades de verificação, determinação de prazos para a sua realização e a existência de alvos para serem atingidos. Em um hospital podemos observar tanto metas pessoais como organizacionais.</a:t>
            </a:r>
          </a:p>
        </p:txBody>
      </p:sp>
    </p:spTree>
    <p:extLst>
      <p:ext uri="{BB962C8B-B14F-4D97-AF65-F5344CB8AC3E}">
        <p14:creationId xmlns:p14="http://schemas.microsoft.com/office/powerpoint/2010/main" val="1383458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548639" y="166119"/>
            <a:ext cx="10796451" cy="1325563"/>
          </a:xfrm>
        </p:spPr>
        <p:txBody>
          <a:bodyPr/>
          <a:lstStyle/>
          <a:p>
            <a:r>
              <a:rPr lang="pt-BR" b="1" dirty="0" smtClean="0">
                <a:effectLst/>
              </a:rPr>
              <a:t>Administração </a:t>
            </a:r>
            <a:r>
              <a:rPr lang="pt-BR" b="1" dirty="0">
                <a:effectLst/>
              </a:rPr>
              <a:t>hospitalar – Metas Pessoais</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5946864" y="2790951"/>
            <a:ext cx="5775791" cy="1608848"/>
          </a:xfrm>
        </p:spPr>
        <p:txBody>
          <a:bodyPr>
            <a:noAutofit/>
          </a:bodyPr>
          <a:lstStyle/>
          <a:p>
            <a:pPr algn="just"/>
            <a:r>
              <a:rPr lang="pt-BR" sz="2400" dirty="0">
                <a:effectLst/>
              </a:rPr>
              <a:t>As metas pessoais são aquelas que refletem os desejos das pessoas que lá trabalham. </a:t>
            </a:r>
            <a:r>
              <a:rPr lang="pt-BR" sz="2400" dirty="0" err="1">
                <a:effectLst/>
              </a:rPr>
              <a:t>Ex</a:t>
            </a:r>
            <a:r>
              <a:rPr lang="pt-BR" sz="2400" dirty="0">
                <a:effectLst/>
              </a:rPr>
              <a:t>: desejo de ser promovido em um ano para o cargo de supervisor.</a:t>
            </a:r>
          </a:p>
        </p:txBody>
      </p:sp>
      <p:sp>
        <p:nvSpPr>
          <p:cNvPr id="4" name="Retângulo 3">
            <a:extLst>
              <a:ext uri="{FF2B5EF4-FFF2-40B4-BE49-F238E27FC236}">
                <a16:creationId xmlns:a16="http://schemas.microsoft.com/office/drawing/2014/main" xmlns="" id="{9C459871-D441-4415-A5C9-C37B75CA9839}"/>
              </a:ext>
            </a:extLst>
          </p:cNvPr>
          <p:cNvSpPr/>
          <p:nvPr/>
        </p:nvSpPr>
        <p:spPr>
          <a:xfrm>
            <a:off x="548640" y="1674053"/>
            <a:ext cx="4806462" cy="4235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39" y="1674052"/>
            <a:ext cx="4806463" cy="423539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92017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363620" y="128428"/>
            <a:ext cx="10990477" cy="1325563"/>
          </a:xfrm>
        </p:spPr>
        <p:txBody>
          <a:bodyPr>
            <a:normAutofit/>
          </a:bodyPr>
          <a:lstStyle/>
          <a:p>
            <a:r>
              <a:rPr lang="pt-BR" sz="4000" b="1" dirty="0" smtClean="0">
                <a:effectLst/>
              </a:rPr>
              <a:t>Administração </a:t>
            </a:r>
            <a:r>
              <a:rPr lang="pt-BR" sz="4000" b="1" dirty="0">
                <a:effectLst/>
              </a:rPr>
              <a:t>hospitalar – Metas Organizacionais</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5858859" y="1781016"/>
            <a:ext cx="5775791" cy="3377837"/>
          </a:xfrm>
        </p:spPr>
        <p:txBody>
          <a:bodyPr>
            <a:noAutofit/>
          </a:bodyPr>
          <a:lstStyle/>
          <a:p>
            <a:pPr lvl="0" algn="just"/>
            <a:r>
              <a:rPr lang="pt-BR" sz="2400" dirty="0">
                <a:effectLst/>
              </a:rPr>
              <a:t>As metas organizacionais são aquelas que refletem os desejos da organização – no nosso caso o hospital. </a:t>
            </a:r>
            <a:r>
              <a:rPr lang="pt-BR" sz="2400" dirty="0" err="1">
                <a:effectLst/>
              </a:rPr>
              <a:t>Ex</a:t>
            </a:r>
            <a:r>
              <a:rPr lang="pt-BR" sz="2400" dirty="0">
                <a:effectLst/>
              </a:rPr>
              <a:t>: aumentar o número de leitos em 20% no próximo ano. Os objetivos servem também como fatores de motivação individual. Quando sabemos para onde ir, buscamos pensar em formas para lá chegar. Então, podemos dizer que os objetivos servem de guias para as nossas ações.</a:t>
            </a:r>
          </a:p>
        </p:txBody>
      </p:sp>
      <p:sp>
        <p:nvSpPr>
          <p:cNvPr id="4" name="Retângulo 3">
            <a:extLst>
              <a:ext uri="{FF2B5EF4-FFF2-40B4-BE49-F238E27FC236}">
                <a16:creationId xmlns:a16="http://schemas.microsoft.com/office/drawing/2014/main" xmlns="" id="{9C459871-D441-4415-A5C9-C37B75CA9839}"/>
              </a:ext>
            </a:extLst>
          </p:cNvPr>
          <p:cNvSpPr/>
          <p:nvPr/>
        </p:nvSpPr>
        <p:spPr>
          <a:xfrm>
            <a:off x="548640" y="1674053"/>
            <a:ext cx="4806462" cy="4235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40" y="1690688"/>
            <a:ext cx="4806462" cy="422425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37617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548640" y="244031"/>
            <a:ext cx="11747862" cy="1325563"/>
          </a:xfrm>
        </p:spPr>
        <p:txBody>
          <a:bodyPr>
            <a:normAutofit/>
          </a:bodyPr>
          <a:lstStyle/>
          <a:p>
            <a:r>
              <a:rPr lang="pt-BR" b="1" dirty="0" smtClean="0">
                <a:effectLst/>
              </a:rPr>
              <a:t>Importância </a:t>
            </a:r>
            <a:r>
              <a:rPr lang="pt-BR" b="1" dirty="0">
                <a:effectLst/>
              </a:rPr>
              <a:t>do Ambiente e Planejamento</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5858859" y="2018234"/>
            <a:ext cx="5775791" cy="1608848"/>
          </a:xfrm>
        </p:spPr>
        <p:txBody>
          <a:bodyPr>
            <a:noAutofit/>
          </a:bodyPr>
          <a:lstStyle/>
          <a:p>
            <a:pPr lvl="0" algn="just"/>
            <a:r>
              <a:rPr lang="pt-BR" sz="2400" dirty="0">
                <a:effectLst/>
              </a:rPr>
              <a:t>O ambiente externo não é constante e exige que frequentemente sejam realizadas análises sobre aspectos demográficos, tecnológicos, econômicos, políticos, culturais e ambientais. </a:t>
            </a:r>
            <a:endParaRPr lang="pt-BR" sz="2400" dirty="0" smtClean="0">
              <a:effectLst/>
            </a:endParaRPr>
          </a:p>
          <a:p>
            <a:pPr algn="just"/>
            <a:r>
              <a:rPr lang="pt-BR" sz="2400" dirty="0">
                <a:effectLst/>
              </a:rPr>
              <a:t>Toda variação que possa, de alguma forma, influenciar nos resultados da organização deve ser levada em conta. No ambiente interno, a estrutura organizacional deve ser favorável ao processo de planejar, de forma a ser flexível e adaptável às contingências necessárias.</a:t>
            </a:r>
          </a:p>
          <a:p>
            <a:pPr marL="0" lvl="0" indent="0" algn="just">
              <a:buNone/>
            </a:pPr>
            <a:endParaRPr lang="pt-BR" sz="2400" dirty="0">
              <a:effectLst/>
            </a:endParaRPr>
          </a:p>
        </p:txBody>
      </p:sp>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7823" y="2018234"/>
            <a:ext cx="4806462" cy="367288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232620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334436" y="227396"/>
            <a:ext cx="11747862" cy="1325563"/>
          </a:xfrm>
        </p:spPr>
        <p:txBody>
          <a:bodyPr>
            <a:normAutofit/>
          </a:bodyPr>
          <a:lstStyle/>
          <a:p>
            <a:r>
              <a:rPr lang="pt-BR" b="1" dirty="0" smtClean="0">
                <a:effectLst/>
              </a:rPr>
              <a:t>Importância </a:t>
            </a:r>
            <a:r>
              <a:rPr lang="pt-BR" b="1" dirty="0">
                <a:effectLst/>
              </a:rPr>
              <a:t>do Ambiente e Planejamento – Divisão do trabalho</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5681438" y="2086474"/>
            <a:ext cx="5775791" cy="1608848"/>
          </a:xfrm>
        </p:spPr>
        <p:txBody>
          <a:bodyPr>
            <a:noAutofit/>
          </a:bodyPr>
          <a:lstStyle/>
          <a:p>
            <a:pPr algn="just"/>
            <a:r>
              <a:rPr lang="pt-BR" sz="2400" dirty="0">
                <a:effectLst/>
              </a:rPr>
              <a:t>A divisão do trabalho tem como primeiro resultado a departamentalização, a qual pode ocorrer segundo alguns fatores importantes</a:t>
            </a:r>
            <a:r>
              <a:rPr lang="pt-BR" sz="2400" dirty="0" smtClean="0">
                <a:effectLst/>
              </a:rPr>
              <a:t>.</a:t>
            </a:r>
          </a:p>
          <a:p>
            <a:pPr algn="just"/>
            <a:r>
              <a:rPr lang="pt-BR" sz="2400" b="1" dirty="0">
                <a:effectLst/>
              </a:rPr>
              <a:t>convergência em função da área territorial de ação</a:t>
            </a:r>
            <a:r>
              <a:rPr lang="pt-BR" sz="2400" dirty="0">
                <a:effectLst/>
              </a:rPr>
              <a:t>. </a:t>
            </a:r>
            <a:r>
              <a:rPr lang="pt-BR" sz="2400" dirty="0" err="1">
                <a:effectLst/>
              </a:rPr>
              <a:t>Ex</a:t>
            </a:r>
            <a:r>
              <a:rPr lang="pt-BR" sz="2400" dirty="0">
                <a:effectLst/>
              </a:rPr>
              <a:t>: um hospital pode ter diferentes seções conforme a área de atuação. No caso, matriz na capital do Estado e regionais ou filiais em cidades menores</a:t>
            </a:r>
          </a:p>
          <a:p>
            <a:pPr algn="just"/>
            <a:endParaRPr lang="pt-BR" sz="2400" dirty="0">
              <a:effectLst/>
            </a:endParaRPr>
          </a:p>
        </p:txBody>
      </p:sp>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40" y="2086474"/>
            <a:ext cx="4806462" cy="374112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039805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398514" y="201352"/>
            <a:ext cx="11747862" cy="1325563"/>
          </a:xfrm>
        </p:spPr>
        <p:txBody>
          <a:bodyPr>
            <a:normAutofit/>
          </a:bodyPr>
          <a:lstStyle/>
          <a:p>
            <a:r>
              <a:rPr lang="pt-BR" b="1" dirty="0" smtClean="0">
                <a:effectLst/>
              </a:rPr>
              <a:t>Importância </a:t>
            </a:r>
            <a:r>
              <a:rPr lang="pt-BR" b="1" dirty="0">
                <a:effectLst/>
              </a:rPr>
              <a:t>do Ambiente e Planejamento – Divisão do trabalho</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5681438" y="1526915"/>
            <a:ext cx="5775791" cy="4797204"/>
          </a:xfrm>
        </p:spPr>
        <p:txBody>
          <a:bodyPr>
            <a:noAutofit/>
          </a:bodyPr>
          <a:lstStyle/>
          <a:p>
            <a:pPr algn="just"/>
            <a:r>
              <a:rPr lang="pt-BR" sz="2400" b="1" dirty="0">
                <a:effectLst/>
              </a:rPr>
              <a:t>convergência em função dos clientes</a:t>
            </a:r>
            <a:r>
              <a:rPr lang="pt-BR" sz="2400" dirty="0">
                <a:effectLst/>
              </a:rPr>
              <a:t>. </a:t>
            </a:r>
            <a:r>
              <a:rPr lang="pt-BR" sz="2400" dirty="0" err="1">
                <a:effectLst/>
              </a:rPr>
              <a:t>Ex</a:t>
            </a:r>
            <a:r>
              <a:rPr lang="pt-BR" sz="2400" dirty="0">
                <a:effectLst/>
              </a:rPr>
              <a:t>: num mesmo hospital podem ser oferecidos serviços que são privados, para conveniados, e/ou direcionados para o público em geral. Combinações de algumas das modalidades anteriores. </a:t>
            </a:r>
            <a:r>
              <a:rPr lang="pt-BR" sz="2400" dirty="0" err="1">
                <a:effectLst/>
              </a:rPr>
              <a:t>Ex</a:t>
            </a:r>
            <a:r>
              <a:rPr lang="pt-BR" sz="2400" dirty="0">
                <a:effectLst/>
              </a:rPr>
              <a:t>: atendimento ambulatorial, exames anatomopatológicos, testes laboratoriais, análises clínicas, </a:t>
            </a:r>
            <a:r>
              <a:rPr lang="pt-BR" sz="2400" dirty="0" smtClean="0">
                <a:effectLst/>
              </a:rPr>
              <a:t>hospital-dia</a:t>
            </a:r>
          </a:p>
          <a:p>
            <a:pPr algn="just"/>
            <a:r>
              <a:rPr lang="pt-BR" sz="2400" b="1" dirty="0">
                <a:effectLst/>
              </a:rPr>
              <a:t>convergência em função de um produto ou serviço</a:t>
            </a:r>
            <a:r>
              <a:rPr lang="pt-BR" sz="2400" dirty="0">
                <a:effectLst/>
              </a:rPr>
              <a:t>. </a:t>
            </a:r>
            <a:r>
              <a:rPr lang="pt-BR" sz="2400" dirty="0" err="1">
                <a:effectLst/>
              </a:rPr>
              <a:t>Ex</a:t>
            </a:r>
            <a:r>
              <a:rPr lang="pt-BR" sz="2400" dirty="0">
                <a:effectLst/>
              </a:rPr>
              <a:t>: em um hospital podemos dividir a estrutura por serviços prestados, como UTI (Unidade de Terapia Intensiva), maternidade, oncologia, entre </a:t>
            </a:r>
            <a:r>
              <a:rPr lang="pt-BR" sz="2400" dirty="0" smtClean="0">
                <a:effectLst/>
              </a:rPr>
              <a:t>outros</a:t>
            </a:r>
            <a:endParaRPr lang="pt-BR" sz="2400" dirty="0">
              <a:effectLst/>
            </a:endParaRPr>
          </a:p>
        </p:txBody>
      </p:sp>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8514" y="1936349"/>
            <a:ext cx="4806462" cy="387759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837713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402674" y="242295"/>
            <a:ext cx="11747862" cy="1325563"/>
          </a:xfrm>
        </p:spPr>
        <p:txBody>
          <a:bodyPr>
            <a:normAutofit/>
          </a:bodyPr>
          <a:lstStyle/>
          <a:p>
            <a:r>
              <a:rPr lang="pt-BR" b="1" dirty="0" smtClean="0">
                <a:effectLst/>
              </a:rPr>
              <a:t>Importância </a:t>
            </a:r>
            <a:r>
              <a:rPr lang="pt-BR" b="1" dirty="0">
                <a:effectLst/>
              </a:rPr>
              <a:t>do Ambiente e Planejamento – Divisão do trabalho</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5599552" y="3081768"/>
            <a:ext cx="5775791" cy="1608848"/>
          </a:xfrm>
        </p:spPr>
        <p:txBody>
          <a:bodyPr>
            <a:noAutofit/>
          </a:bodyPr>
          <a:lstStyle/>
          <a:p>
            <a:pPr lvl="0" algn="just"/>
            <a:r>
              <a:rPr lang="pt-BR" sz="2400" b="1" dirty="0">
                <a:effectLst/>
              </a:rPr>
              <a:t>convergência em função de um processo produtivo</a:t>
            </a:r>
            <a:r>
              <a:rPr lang="pt-BR" sz="2400" dirty="0">
                <a:effectLst/>
              </a:rPr>
              <a:t>. </a:t>
            </a:r>
            <a:r>
              <a:rPr lang="pt-BR" sz="2400" dirty="0" err="1">
                <a:effectLst/>
              </a:rPr>
              <a:t>Ex</a:t>
            </a:r>
            <a:r>
              <a:rPr lang="pt-BR" sz="2400" dirty="0">
                <a:effectLst/>
              </a:rPr>
              <a:t>: ministrar soro (prescrição médica), gotejamento digitalizado (setor de informatização) e monitoramento (equipe de enfermagem).</a:t>
            </a:r>
          </a:p>
        </p:txBody>
      </p:sp>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2674" y="1903847"/>
            <a:ext cx="4806462" cy="396469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2557900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252549" y="365125"/>
            <a:ext cx="11747862" cy="1325563"/>
          </a:xfrm>
        </p:spPr>
        <p:txBody>
          <a:bodyPr>
            <a:normAutofit/>
          </a:bodyPr>
          <a:lstStyle/>
          <a:p>
            <a:r>
              <a:rPr lang="pt-BR" b="1" dirty="0" err="1" smtClean="0">
                <a:effectLst/>
              </a:rPr>
              <a:t>Ierarquia</a:t>
            </a:r>
            <a:endParaRPr lang="pt-BR" b="1" dirty="0">
              <a:effectLst/>
            </a:endParaRP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5789861" y="944385"/>
            <a:ext cx="5775791" cy="1608848"/>
          </a:xfrm>
        </p:spPr>
        <p:txBody>
          <a:bodyPr>
            <a:noAutofit/>
          </a:bodyPr>
          <a:lstStyle/>
          <a:p>
            <a:pPr algn="just"/>
            <a:r>
              <a:rPr lang="pt-BR" sz="2400" dirty="0">
                <a:effectLst/>
              </a:rPr>
              <a:t>A estrutura hierárquica pode ser apresentada de forma horizontal ou vertical:</a:t>
            </a:r>
          </a:p>
          <a:p>
            <a:pPr algn="just"/>
            <a:r>
              <a:rPr lang="pt-BR" sz="2400" dirty="0">
                <a:effectLst/>
              </a:rPr>
              <a:t>A estrutura vertical envolve elementos fundamentais, que são:</a:t>
            </a:r>
          </a:p>
          <a:p>
            <a:pPr lvl="0" algn="just"/>
            <a:r>
              <a:rPr lang="pt-BR" sz="2400" dirty="0">
                <a:effectLst/>
              </a:rPr>
              <a:t>posições que consistem de tarefas, </a:t>
            </a:r>
            <a:r>
              <a:rPr lang="pt-BR" sz="2400" dirty="0" err="1">
                <a:effectLst/>
              </a:rPr>
              <a:t>responsabilidadese</a:t>
            </a:r>
            <a:r>
              <a:rPr lang="pt-BR" sz="2400" dirty="0">
                <a:effectLst/>
              </a:rPr>
              <a:t> autoridades proporcionais;</a:t>
            </a:r>
          </a:p>
          <a:p>
            <a:pPr lvl="0" algn="just"/>
            <a:r>
              <a:rPr lang="pt-BR" sz="2400" dirty="0">
                <a:effectLst/>
              </a:rPr>
              <a:t>políticas de saúde, planos, objetivos, procedimentos em todos os níveis; e </a:t>
            </a:r>
          </a:p>
          <a:p>
            <a:pPr algn="just"/>
            <a:r>
              <a:rPr lang="pt-BR" sz="2400" dirty="0">
                <a:effectLst/>
              </a:rPr>
              <a:t>papéis, status e autoridades dos indivíduos que exercem os cargos. Organizações mais simples envolvem hierarquias mais simples e compactas. </a:t>
            </a:r>
          </a:p>
        </p:txBody>
      </p:sp>
      <p:sp>
        <p:nvSpPr>
          <p:cNvPr id="4" name="Retângulo 3">
            <a:extLst>
              <a:ext uri="{FF2B5EF4-FFF2-40B4-BE49-F238E27FC236}">
                <a16:creationId xmlns:a16="http://schemas.microsoft.com/office/drawing/2014/main" xmlns="" id="{9C459871-D441-4415-A5C9-C37B75CA9839}"/>
              </a:ext>
            </a:extLst>
          </p:cNvPr>
          <p:cNvSpPr/>
          <p:nvPr/>
        </p:nvSpPr>
        <p:spPr>
          <a:xfrm>
            <a:off x="548640" y="1674053"/>
            <a:ext cx="4806462" cy="4235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39" y="1674052"/>
            <a:ext cx="4806463" cy="423539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162770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252549" y="365125"/>
            <a:ext cx="11747862" cy="1325563"/>
          </a:xfrm>
        </p:spPr>
        <p:txBody>
          <a:bodyPr>
            <a:normAutofit/>
          </a:bodyPr>
          <a:lstStyle/>
          <a:p>
            <a:r>
              <a:rPr lang="pt-BR" b="1" dirty="0" err="1" smtClean="0">
                <a:effectLst/>
              </a:rPr>
              <a:t>Ierarquia</a:t>
            </a:r>
            <a:r>
              <a:rPr lang="pt-BR" b="1" dirty="0" smtClean="0">
                <a:effectLst/>
              </a:rPr>
              <a:t> </a:t>
            </a:r>
            <a:r>
              <a:rPr lang="pt-BR" b="1" dirty="0">
                <a:effectLst/>
              </a:rPr>
              <a:t>– exemplo de organograma</a:t>
            </a:r>
          </a:p>
        </p:txBody>
      </p:sp>
      <p:pic>
        <p:nvPicPr>
          <p:cNvPr id="7" name="Espaço Reservado para Conteúdo 6"/>
          <p:cNvPicPr>
            <a:picLocks noGrp="1"/>
          </p:cNvPicPr>
          <p:nvPr>
            <p:ph idx="1"/>
          </p:nvPr>
        </p:nvPicPr>
        <p:blipFill>
          <a:blip r:embed="rId2"/>
          <a:stretch>
            <a:fillRect/>
          </a:stretch>
        </p:blipFill>
        <p:spPr>
          <a:xfrm>
            <a:off x="3358509" y="1690688"/>
            <a:ext cx="5535942" cy="4859049"/>
          </a:xfrm>
          <a:prstGeom prst="rect">
            <a:avLst/>
          </a:prstGeom>
        </p:spPr>
      </p:pic>
    </p:spTree>
    <p:extLst>
      <p:ext uri="{BB962C8B-B14F-4D97-AF65-F5344CB8AC3E}">
        <p14:creationId xmlns:p14="http://schemas.microsoft.com/office/powerpoint/2010/main" val="754889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252549" y="365125"/>
            <a:ext cx="11747862" cy="1325563"/>
          </a:xfrm>
        </p:spPr>
        <p:txBody>
          <a:bodyPr>
            <a:normAutofit/>
          </a:bodyPr>
          <a:lstStyle/>
          <a:p>
            <a:r>
              <a:rPr lang="pt-BR" b="1" dirty="0" smtClean="0">
                <a:effectLst/>
              </a:rPr>
              <a:t>Comando </a:t>
            </a:r>
            <a:r>
              <a:rPr lang="pt-BR" b="1" dirty="0">
                <a:effectLst/>
              </a:rPr>
              <a:t>e Liderança</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5858859" y="1781017"/>
            <a:ext cx="5775791" cy="1608848"/>
          </a:xfrm>
        </p:spPr>
        <p:txBody>
          <a:bodyPr>
            <a:noAutofit/>
          </a:bodyPr>
          <a:lstStyle/>
          <a:p>
            <a:pPr algn="just"/>
            <a:r>
              <a:rPr lang="pt-BR" sz="2400" dirty="0">
                <a:effectLst/>
              </a:rPr>
              <a:t>O comando, enquanto função, exige características do </a:t>
            </a:r>
            <a:r>
              <a:rPr lang="pt-BR" sz="2400" dirty="0" err="1">
                <a:effectLst/>
              </a:rPr>
              <a:t>gestor,seja</a:t>
            </a:r>
            <a:r>
              <a:rPr lang="pt-BR" sz="2400" dirty="0">
                <a:effectLst/>
              </a:rPr>
              <a:t> na aplicação de recursos (</a:t>
            </a:r>
            <a:r>
              <a:rPr lang="pt-BR" sz="2400" dirty="0" err="1">
                <a:effectLst/>
              </a:rPr>
              <a:t>ex</a:t>
            </a:r>
            <a:r>
              <a:rPr lang="pt-BR" sz="2400" dirty="0">
                <a:effectLst/>
              </a:rPr>
              <a:t>: dinheiro, material </a:t>
            </a:r>
            <a:r>
              <a:rPr lang="pt-BR" sz="2400" dirty="0" err="1">
                <a:effectLst/>
              </a:rPr>
              <a:t>administrati</a:t>
            </a:r>
            <a:r>
              <a:rPr lang="pt-BR" sz="2400" dirty="0">
                <a:effectLst/>
              </a:rPr>
              <a:t>- </a:t>
            </a:r>
            <a:r>
              <a:rPr lang="pt-BR" sz="2400" dirty="0" err="1">
                <a:effectLst/>
              </a:rPr>
              <a:t>vo</a:t>
            </a:r>
            <a:r>
              <a:rPr lang="pt-BR" sz="2400" dirty="0">
                <a:effectLst/>
              </a:rPr>
              <a:t> e pessoal) ou no relacionamento com as pessoas e </a:t>
            </a:r>
            <a:r>
              <a:rPr lang="pt-BR" sz="2400" dirty="0" err="1">
                <a:effectLst/>
              </a:rPr>
              <a:t>entidadesque</a:t>
            </a:r>
            <a:r>
              <a:rPr lang="pt-BR" sz="2400" dirty="0">
                <a:effectLst/>
              </a:rPr>
              <a:t> estão relacionadas à organização (</a:t>
            </a:r>
            <a:r>
              <a:rPr lang="pt-BR" sz="2400" dirty="0" err="1">
                <a:effectLst/>
              </a:rPr>
              <a:t>ex</a:t>
            </a:r>
            <a:r>
              <a:rPr lang="pt-BR" sz="2400" dirty="0">
                <a:effectLst/>
              </a:rPr>
              <a:t>: pacientes, </a:t>
            </a:r>
            <a:r>
              <a:rPr lang="pt-BR" sz="2400" dirty="0" err="1">
                <a:effectLst/>
              </a:rPr>
              <a:t>funcionários,enfermeiros</a:t>
            </a:r>
            <a:r>
              <a:rPr lang="pt-BR" sz="2400" dirty="0">
                <a:effectLst/>
              </a:rPr>
              <a:t>, médicos e fornecedores).</a:t>
            </a:r>
          </a:p>
          <a:p>
            <a:pPr algn="just"/>
            <a:r>
              <a:rPr lang="pt-BR" sz="2400" dirty="0" smtClean="0">
                <a:effectLst/>
              </a:rPr>
              <a:t>A </a:t>
            </a:r>
            <a:r>
              <a:rPr lang="pt-BR" sz="2400" dirty="0">
                <a:effectLst/>
              </a:rPr>
              <a:t>boa liderança, baseada na educação e empatia, é essencial para o bom funcionamento do hospital.</a:t>
            </a:r>
          </a:p>
          <a:p>
            <a:pPr algn="just"/>
            <a:endParaRPr lang="pt-BR" sz="2400" dirty="0">
              <a:effectLst/>
            </a:endParaRPr>
          </a:p>
        </p:txBody>
      </p:sp>
      <p:sp>
        <p:nvSpPr>
          <p:cNvPr id="4" name="Retângulo 3">
            <a:extLst>
              <a:ext uri="{FF2B5EF4-FFF2-40B4-BE49-F238E27FC236}">
                <a16:creationId xmlns:a16="http://schemas.microsoft.com/office/drawing/2014/main" xmlns="" id="{9C459871-D441-4415-A5C9-C37B75CA9839}"/>
              </a:ext>
            </a:extLst>
          </p:cNvPr>
          <p:cNvSpPr/>
          <p:nvPr/>
        </p:nvSpPr>
        <p:spPr>
          <a:xfrm>
            <a:off x="548640" y="1674053"/>
            <a:ext cx="4806462" cy="4235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40" y="1674053"/>
            <a:ext cx="4806462" cy="423539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856293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252549" y="365125"/>
            <a:ext cx="11747862" cy="1325563"/>
          </a:xfrm>
        </p:spPr>
        <p:txBody>
          <a:bodyPr>
            <a:normAutofit/>
          </a:bodyPr>
          <a:lstStyle/>
          <a:p>
            <a:r>
              <a:rPr lang="pt-BR" b="1" dirty="0" smtClean="0">
                <a:effectLst/>
              </a:rPr>
              <a:t>Coordenação</a:t>
            </a:r>
            <a:endParaRPr lang="pt-BR" b="1" dirty="0">
              <a:effectLst/>
            </a:endParaRP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5948744" y="2418326"/>
            <a:ext cx="5775791" cy="1608848"/>
          </a:xfrm>
        </p:spPr>
        <p:txBody>
          <a:bodyPr>
            <a:noAutofit/>
          </a:bodyPr>
          <a:lstStyle/>
          <a:p>
            <a:pPr algn="just"/>
            <a:r>
              <a:rPr lang="pt-BR" sz="2400" dirty="0">
                <a:effectLst/>
              </a:rPr>
              <a:t>Uma organização para atingir os objetivos desejados </a:t>
            </a:r>
            <a:r>
              <a:rPr lang="pt-BR" sz="2400" dirty="0" smtClean="0">
                <a:effectLst/>
              </a:rPr>
              <a:t>precisa trabalhar </a:t>
            </a:r>
            <a:r>
              <a:rPr lang="pt-BR" sz="2400" dirty="0">
                <a:effectLst/>
              </a:rPr>
              <a:t>de forma conjunta. O trabalho em conjunto, de forma eficiente e eficaz, é denominado coordenação</a:t>
            </a:r>
          </a:p>
          <a:p>
            <a:pPr algn="just"/>
            <a:endParaRPr lang="pt-BR" sz="2400" dirty="0">
              <a:effectLst/>
            </a:endParaRPr>
          </a:p>
        </p:txBody>
      </p:sp>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39" y="1690689"/>
            <a:ext cx="5104015" cy="421876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310688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252549" y="365125"/>
            <a:ext cx="11747862" cy="1325563"/>
          </a:xfrm>
        </p:spPr>
        <p:txBody>
          <a:bodyPr>
            <a:normAutofit/>
          </a:bodyPr>
          <a:lstStyle/>
          <a:p>
            <a:r>
              <a:rPr lang="pt-BR" b="1" dirty="0" smtClean="0">
                <a:effectLst/>
              </a:rPr>
              <a:t>Coordenação</a:t>
            </a:r>
            <a:endParaRPr lang="pt-BR" b="1" dirty="0">
              <a:effectLst/>
            </a:endParaRP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5789861" y="1386798"/>
            <a:ext cx="6297636" cy="1608848"/>
          </a:xfrm>
        </p:spPr>
        <p:txBody>
          <a:bodyPr>
            <a:noAutofit/>
          </a:bodyPr>
          <a:lstStyle/>
          <a:p>
            <a:r>
              <a:rPr lang="pt-BR" sz="2000" dirty="0">
                <a:effectLst/>
              </a:rPr>
              <a:t>O fracasso na coordenação pode ser decorrente de uma série de fatores, tais como: perda de controle, conflito excessivo, divisão de autoridade e competências e responsabilidades ignoradas.</a:t>
            </a:r>
          </a:p>
          <a:p>
            <a:r>
              <a:rPr lang="pt-BR" sz="2000" dirty="0">
                <a:effectLst/>
              </a:rPr>
              <a:t>Podemos dizer que para alcançar uma boa coordenação é necessário que tenhamos bem definidos os seguintes aspectos:</a:t>
            </a:r>
          </a:p>
          <a:p>
            <a:pPr lvl="0"/>
            <a:r>
              <a:rPr lang="pt-BR" sz="2000" dirty="0">
                <a:effectLst/>
              </a:rPr>
              <a:t>hierarquia de autoridade;</a:t>
            </a:r>
          </a:p>
          <a:p>
            <a:pPr lvl="0"/>
            <a:r>
              <a:rPr lang="pt-BR" sz="2000" dirty="0">
                <a:effectLst/>
              </a:rPr>
              <a:t>mecanismos de coordenação entre departamentos;</a:t>
            </a:r>
          </a:p>
          <a:p>
            <a:pPr lvl="0"/>
            <a:r>
              <a:rPr lang="pt-BR" sz="2000" dirty="0">
                <a:effectLst/>
              </a:rPr>
              <a:t>pessoal;</a:t>
            </a:r>
          </a:p>
          <a:p>
            <a:pPr lvl="0"/>
            <a:r>
              <a:rPr lang="pt-BR" sz="2000" dirty="0">
                <a:effectLst/>
              </a:rPr>
              <a:t>centralização;</a:t>
            </a:r>
          </a:p>
          <a:p>
            <a:pPr lvl="0"/>
            <a:r>
              <a:rPr lang="pt-BR" sz="2000" dirty="0">
                <a:effectLst/>
              </a:rPr>
              <a:t>descentralização das atribuições;</a:t>
            </a:r>
          </a:p>
          <a:p>
            <a:pPr lvl="0"/>
            <a:r>
              <a:rPr lang="pt-BR" sz="2000" dirty="0">
                <a:effectLst/>
              </a:rPr>
              <a:t>delegação de tarefas e responsabilidades; e</a:t>
            </a:r>
          </a:p>
          <a:p>
            <a:pPr lvl="0"/>
            <a:r>
              <a:rPr lang="pt-BR" sz="2000" dirty="0">
                <a:effectLst/>
              </a:rPr>
              <a:t>poder e influência. </a:t>
            </a:r>
          </a:p>
          <a:p>
            <a:endParaRPr lang="pt-BR" sz="2000" dirty="0">
              <a:effectLst/>
            </a:endParaRPr>
          </a:p>
        </p:txBody>
      </p:sp>
      <p:sp>
        <p:nvSpPr>
          <p:cNvPr id="4" name="Retângulo 3">
            <a:extLst>
              <a:ext uri="{FF2B5EF4-FFF2-40B4-BE49-F238E27FC236}">
                <a16:creationId xmlns:a16="http://schemas.microsoft.com/office/drawing/2014/main" xmlns="" id="{9C459871-D441-4415-A5C9-C37B75CA9839}"/>
              </a:ext>
            </a:extLst>
          </p:cNvPr>
          <p:cNvSpPr/>
          <p:nvPr/>
        </p:nvSpPr>
        <p:spPr>
          <a:xfrm>
            <a:off x="548640" y="1674053"/>
            <a:ext cx="4806462" cy="4235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40" y="1690689"/>
            <a:ext cx="4806462" cy="421876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0776839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252549" y="365125"/>
            <a:ext cx="11747862" cy="1325563"/>
          </a:xfrm>
        </p:spPr>
        <p:txBody>
          <a:bodyPr>
            <a:normAutofit/>
          </a:bodyPr>
          <a:lstStyle/>
          <a:p>
            <a:r>
              <a:rPr lang="pt-BR" b="1" dirty="0" smtClean="0">
                <a:effectLst/>
              </a:rPr>
              <a:t>Coordenação</a:t>
            </a:r>
            <a:endParaRPr lang="pt-BR" b="1" dirty="0">
              <a:effectLst/>
            </a:endParaRP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5789861" y="1386798"/>
            <a:ext cx="6297636" cy="1608848"/>
          </a:xfrm>
        </p:spPr>
        <p:txBody>
          <a:bodyPr>
            <a:noAutofit/>
          </a:bodyPr>
          <a:lstStyle/>
          <a:p>
            <a:r>
              <a:rPr lang="pt-BR" sz="2000" dirty="0">
                <a:effectLst/>
              </a:rPr>
              <a:t>A hierarquia determina fatores como a “cadeia” ou estrutura </a:t>
            </a:r>
            <a:r>
              <a:rPr lang="pt-BR" sz="2000" dirty="0" smtClean="0">
                <a:effectLst/>
              </a:rPr>
              <a:t>de comando</a:t>
            </a:r>
            <a:r>
              <a:rPr lang="pt-BR" sz="2000" dirty="0">
                <a:effectLst/>
              </a:rPr>
              <a:t>, unidade de comando e a amplitude (tamanho) de controle. A coordenação interdepartamental responde a questões, tais como:</a:t>
            </a:r>
          </a:p>
          <a:p>
            <a:pPr lvl="0"/>
            <a:r>
              <a:rPr lang="pt-BR" sz="2000" dirty="0">
                <a:effectLst/>
              </a:rPr>
              <a:t>Onde precisamos de coordenação?</a:t>
            </a:r>
          </a:p>
          <a:p>
            <a:pPr lvl="0"/>
            <a:r>
              <a:rPr lang="pt-BR" sz="2000" dirty="0">
                <a:effectLst/>
              </a:rPr>
              <a:t>Qual o grau de necessidade?</a:t>
            </a:r>
          </a:p>
          <a:p>
            <a:pPr lvl="0"/>
            <a:r>
              <a:rPr lang="pt-BR" sz="2000" dirty="0">
                <a:effectLst/>
              </a:rPr>
              <a:t>Quais os mecanismos que podem facilitar a coordenação?</a:t>
            </a:r>
          </a:p>
          <a:p>
            <a:pPr lvl="0"/>
            <a:r>
              <a:rPr lang="pt-BR" sz="2000" dirty="0">
                <a:effectLst/>
              </a:rPr>
              <a:t>Quais os mecanismos adequados para cada </a:t>
            </a:r>
            <a:r>
              <a:rPr lang="pt-BR" sz="2000" dirty="0" err="1">
                <a:effectLst/>
              </a:rPr>
              <a:t>situação?Os</a:t>
            </a:r>
            <a:r>
              <a:rPr lang="pt-BR" sz="2000" dirty="0">
                <a:effectLst/>
              </a:rPr>
              <a:t> mecanismos mais comuns de coordenação são:</a:t>
            </a:r>
          </a:p>
          <a:p>
            <a:pPr lvl="0"/>
            <a:r>
              <a:rPr lang="pt-BR" sz="2000" dirty="0">
                <a:effectLst/>
              </a:rPr>
              <a:t>planos e regras; reuniões programadas, de improviso (emergência) e </a:t>
            </a:r>
            <a:r>
              <a:rPr lang="pt-BR" sz="2000" dirty="0" err="1">
                <a:effectLst/>
              </a:rPr>
              <a:t>deavaliação</a:t>
            </a:r>
            <a:r>
              <a:rPr lang="pt-BR" sz="2000" dirty="0">
                <a:effectLst/>
              </a:rPr>
              <a:t>;</a:t>
            </a:r>
          </a:p>
          <a:p>
            <a:pPr lvl="0"/>
            <a:r>
              <a:rPr lang="pt-BR" sz="2000" dirty="0">
                <a:effectLst/>
              </a:rPr>
              <a:t>responsabilidades de coordenação de departamentos; e</a:t>
            </a:r>
          </a:p>
          <a:p>
            <a:pPr lvl="0"/>
            <a:r>
              <a:rPr lang="pt-BR" sz="2000" dirty="0">
                <a:effectLst/>
              </a:rPr>
              <a:t>uso de intermediários.</a:t>
            </a:r>
          </a:p>
          <a:p>
            <a:endParaRPr lang="pt-BR" sz="2000" dirty="0">
              <a:effectLst/>
            </a:endParaRPr>
          </a:p>
        </p:txBody>
      </p:sp>
      <p:sp>
        <p:nvSpPr>
          <p:cNvPr id="4" name="Retângulo 3">
            <a:extLst>
              <a:ext uri="{FF2B5EF4-FFF2-40B4-BE49-F238E27FC236}">
                <a16:creationId xmlns:a16="http://schemas.microsoft.com/office/drawing/2014/main" xmlns="" id="{9C459871-D441-4415-A5C9-C37B75CA9839}"/>
              </a:ext>
            </a:extLst>
          </p:cNvPr>
          <p:cNvSpPr/>
          <p:nvPr/>
        </p:nvSpPr>
        <p:spPr>
          <a:xfrm>
            <a:off x="548640" y="1674053"/>
            <a:ext cx="4806462" cy="4235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40" y="1690689"/>
            <a:ext cx="4806462" cy="421876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8611953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202399" y="0"/>
            <a:ext cx="11747862" cy="1325563"/>
          </a:xfrm>
        </p:spPr>
        <p:txBody>
          <a:bodyPr>
            <a:normAutofit/>
          </a:bodyPr>
          <a:lstStyle/>
          <a:p>
            <a:r>
              <a:rPr lang="pt-BR" b="1" dirty="0" smtClean="0">
                <a:effectLst/>
              </a:rPr>
              <a:t>Controle</a:t>
            </a:r>
            <a:endParaRPr lang="pt-BR" b="1" dirty="0">
              <a:effectLst/>
            </a:endParaRP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376296" y="1105353"/>
            <a:ext cx="11400068" cy="1608848"/>
          </a:xfrm>
        </p:spPr>
        <p:txBody>
          <a:bodyPr>
            <a:noAutofit/>
          </a:bodyPr>
          <a:lstStyle/>
          <a:p>
            <a:pPr algn="just"/>
            <a:r>
              <a:rPr lang="pt-BR" sz="2000" dirty="0">
                <a:effectLst/>
              </a:rPr>
              <a:t>Para mantermos o rumo desejado precisamos saber como e para onde ir. O controle é justamente o intermediário entre esses dois pontos, ou seja, é a forma de nos certificarmos que estamos no caminho certo.</a:t>
            </a:r>
          </a:p>
          <a:p>
            <a:pPr algn="just"/>
            <a:r>
              <a:rPr lang="pt-BR" sz="2000" dirty="0">
                <a:effectLst/>
              </a:rPr>
              <a:t>A função de controle engloba três elementos principais:</a:t>
            </a:r>
          </a:p>
          <a:p>
            <a:pPr lvl="0" algn="just"/>
            <a:r>
              <a:rPr lang="pt-BR" sz="2000" dirty="0">
                <a:effectLst/>
              </a:rPr>
              <a:t>estabelecimento de padrões de desempenho;</a:t>
            </a:r>
          </a:p>
          <a:p>
            <a:pPr lvl="0" algn="just"/>
            <a:r>
              <a:rPr lang="pt-BR" sz="2000" dirty="0">
                <a:effectLst/>
              </a:rPr>
              <a:t>medição de desempenho; e</a:t>
            </a:r>
          </a:p>
          <a:p>
            <a:pPr lvl="0" algn="just"/>
            <a:r>
              <a:rPr lang="pt-BR" sz="2000" dirty="0">
                <a:effectLst/>
              </a:rPr>
              <a:t>comparação entre o desempenho obtido e o esperado</a:t>
            </a:r>
            <a:r>
              <a:rPr lang="pt-BR" sz="2000" dirty="0" smtClean="0">
                <a:effectLst/>
              </a:rPr>
              <a:t>.</a:t>
            </a:r>
          </a:p>
          <a:p>
            <a:r>
              <a:rPr lang="pt-BR" sz="2000" dirty="0">
                <a:effectLst/>
              </a:rPr>
              <a:t>O controle deve ser constante para que o que desejamos aconteça exatamente da forma que esperamos.</a:t>
            </a:r>
          </a:p>
          <a:p>
            <a:r>
              <a:rPr lang="pt-BR" sz="2000" dirty="0">
                <a:effectLst/>
              </a:rPr>
              <a:t>Quando realizamos o controle e verificamos que o desempenho obtido apresenta desvios em relação ao esperado, um quarto elemento deve entrar em ação: o uso de medidas corretivas</a:t>
            </a:r>
            <a:r>
              <a:rPr lang="pt-BR" sz="2000" dirty="0" smtClean="0">
                <a:effectLst/>
              </a:rPr>
              <a:t>.</a:t>
            </a:r>
          </a:p>
          <a:p>
            <a:r>
              <a:rPr lang="pt-BR" sz="2000" dirty="0">
                <a:effectLst/>
              </a:rPr>
              <a:t>O controle também pode ser feito tanto de forma qualitativa como quantitativa:</a:t>
            </a:r>
          </a:p>
          <a:p>
            <a:pPr lvl="0"/>
            <a:r>
              <a:rPr lang="pt-BR" sz="2000" dirty="0">
                <a:effectLst/>
              </a:rPr>
              <a:t>Controle qualitativo: pode ser feito por meio de observações do ambiente, conversas e entrevistas com </a:t>
            </a:r>
            <a:r>
              <a:rPr lang="pt-BR" sz="2000" dirty="0" smtClean="0">
                <a:effectLst/>
              </a:rPr>
              <a:t>as pessoas </a:t>
            </a:r>
            <a:r>
              <a:rPr lang="pt-BR" sz="2000" dirty="0">
                <a:effectLst/>
              </a:rPr>
              <a:t>envolvidas com o objeto de controle.</a:t>
            </a:r>
          </a:p>
          <a:p>
            <a:pPr lvl="0"/>
            <a:r>
              <a:rPr lang="pt-BR" sz="2000" dirty="0">
                <a:effectLst/>
              </a:rPr>
              <a:t>Controle quantitativo: pode ser realizado através </a:t>
            </a:r>
            <a:r>
              <a:rPr lang="pt-BR" sz="2000" dirty="0" smtClean="0">
                <a:effectLst/>
              </a:rPr>
              <a:t>de comparações </a:t>
            </a:r>
            <a:r>
              <a:rPr lang="pt-BR" sz="2000" dirty="0">
                <a:effectLst/>
              </a:rPr>
              <a:t>entre os desempenhos traçados no planejamento e os resultados </a:t>
            </a:r>
            <a:r>
              <a:rPr lang="pt-BR" sz="2000" dirty="0" smtClean="0">
                <a:effectLst/>
              </a:rPr>
              <a:t>obtidos.</a:t>
            </a:r>
            <a:endParaRPr lang="pt-BR" sz="2000" dirty="0">
              <a:effectLst/>
            </a:endParaRPr>
          </a:p>
          <a:p>
            <a:pPr lvl="0" algn="just"/>
            <a:endParaRPr lang="pt-BR" sz="2000" dirty="0">
              <a:effectLst/>
            </a:endParaRPr>
          </a:p>
          <a:p>
            <a:pPr algn="just"/>
            <a:endParaRPr lang="pt-BR" sz="2000" dirty="0">
              <a:effectLst/>
            </a:endParaRPr>
          </a:p>
        </p:txBody>
      </p:sp>
    </p:spTree>
    <p:extLst>
      <p:ext uri="{BB962C8B-B14F-4D97-AF65-F5344CB8AC3E}">
        <p14:creationId xmlns:p14="http://schemas.microsoft.com/office/powerpoint/2010/main" val="17353600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21C34D6-AAE8-42D2-8583-1008F87DAC71}"/>
              </a:ext>
            </a:extLst>
          </p:cNvPr>
          <p:cNvSpPr>
            <a:spLocks noGrp="1"/>
          </p:cNvSpPr>
          <p:nvPr>
            <p:ph type="title"/>
          </p:nvPr>
        </p:nvSpPr>
        <p:spPr>
          <a:xfrm>
            <a:off x="444138" y="287214"/>
            <a:ext cx="11747862" cy="1325563"/>
          </a:xfrm>
        </p:spPr>
        <p:txBody>
          <a:bodyPr>
            <a:normAutofit/>
          </a:bodyPr>
          <a:lstStyle/>
          <a:p>
            <a:r>
              <a:rPr lang="pt-BR" sz="3200" b="1" dirty="0" smtClean="0">
                <a:effectLst/>
              </a:rPr>
              <a:t>Gerencia </a:t>
            </a:r>
            <a:r>
              <a:rPr lang="pt-BR" sz="3200" b="1" dirty="0">
                <a:effectLst/>
              </a:rPr>
              <a:t>Hospitalar</a:t>
            </a:r>
          </a:p>
        </p:txBody>
      </p:sp>
      <p:sp>
        <p:nvSpPr>
          <p:cNvPr id="3" name="Espaço Reservado para Conteúdo 2">
            <a:extLst>
              <a:ext uri="{FF2B5EF4-FFF2-40B4-BE49-F238E27FC236}">
                <a16:creationId xmlns:a16="http://schemas.microsoft.com/office/drawing/2014/main" xmlns="" id="{C9D43AF4-0C2B-4A66-BB71-CC565C890D73}"/>
              </a:ext>
            </a:extLst>
          </p:cNvPr>
          <p:cNvSpPr>
            <a:spLocks noGrp="1"/>
          </p:cNvSpPr>
          <p:nvPr>
            <p:ph idx="1"/>
          </p:nvPr>
        </p:nvSpPr>
        <p:spPr>
          <a:xfrm>
            <a:off x="5488624" y="2421535"/>
            <a:ext cx="6297636" cy="1608848"/>
          </a:xfrm>
        </p:spPr>
        <p:txBody>
          <a:bodyPr>
            <a:noAutofit/>
          </a:bodyPr>
          <a:lstStyle/>
          <a:p>
            <a:pPr algn="just"/>
            <a:r>
              <a:rPr lang="pt-BR" sz="2400" dirty="0">
                <a:effectLst/>
              </a:rPr>
              <a:t>O administrador ou gestor hospitalar atua como a base do hospital. É ele quem estabelece e decide as linhas de ação da organização. Trata-se de um coordenador geral que lida com as diversas dimensões para garantir o funcionamento contínuo e adequado. Dessa forma, é ele o responsável direto perante o conselho.</a:t>
            </a:r>
          </a:p>
        </p:txBody>
      </p:sp>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40" y="1656286"/>
            <a:ext cx="4806462" cy="391324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0379613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p:cNvSpPr>
            <a:spLocks noGrp="1"/>
          </p:cNvSpPr>
          <p:nvPr>
            <p:ph type="title"/>
          </p:nvPr>
        </p:nvSpPr>
        <p:spPr>
          <a:xfrm>
            <a:off x="1032163" y="2651125"/>
            <a:ext cx="10515600" cy="1325563"/>
          </a:xfrm>
        </p:spPr>
        <p:txBody>
          <a:bodyPr>
            <a:normAutofit/>
          </a:bodyPr>
          <a:lstStyle/>
          <a:p>
            <a:pPr algn="ctr"/>
            <a:r>
              <a:rPr lang="pt-BR" sz="6600" dirty="0" smtClean="0"/>
              <a:t>Obrigado!</a:t>
            </a:r>
            <a:endParaRPr lang="pt-BR" sz="6600" dirty="0"/>
          </a:p>
        </p:txBody>
      </p:sp>
    </p:spTree>
    <p:extLst>
      <p:ext uri="{BB962C8B-B14F-4D97-AF65-F5344CB8AC3E}">
        <p14:creationId xmlns:p14="http://schemas.microsoft.com/office/powerpoint/2010/main" val="2112632689"/>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1571CA391CD8464C9C8CEABD013CA2E2" ma:contentTypeVersion="10" ma:contentTypeDescription="Crie um novo documento." ma:contentTypeScope="" ma:versionID="6bd3e0496def4a3c4b4ed6af00b0a183">
  <xsd:schema xmlns:xsd="http://www.w3.org/2001/XMLSchema" xmlns:xs="http://www.w3.org/2001/XMLSchema" xmlns:p="http://schemas.microsoft.com/office/2006/metadata/properties" xmlns:ns2="dbf6a54b-d722-49d8-81aa-522563e92801" xmlns:ns3="a8eaee7b-8d25-4cfe-bd98-cf5184fa8fa7" targetNamespace="http://schemas.microsoft.com/office/2006/metadata/properties" ma:root="true" ma:fieldsID="b690d6a8969a0d83b63e8314e614e8c3" ns2:_="" ns3:_="">
    <xsd:import namespace="dbf6a54b-d722-49d8-81aa-522563e92801"/>
    <xsd:import namespace="a8eaee7b-8d25-4cfe-bd98-cf5184fa8fa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f6a54b-d722-49d8-81aa-522563e928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eaee7b-8d25-4cfe-bd98-cf5184fa8fa7" elementFormDefault="qualified">
    <xsd:import namespace="http://schemas.microsoft.com/office/2006/documentManagement/types"/>
    <xsd:import namespace="http://schemas.microsoft.com/office/infopath/2007/PartnerControls"/>
    <xsd:element name="SharedWithUsers" ma:index="16"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1AE6C24-9DA8-4DD7-9CE8-E083EFCD0EF4}"/>
</file>

<file path=customXml/itemProps2.xml><?xml version="1.0" encoding="utf-8"?>
<ds:datastoreItem xmlns:ds="http://schemas.openxmlformats.org/officeDocument/2006/customXml" ds:itemID="{2388132E-D907-48D5-85B7-7111598E2AFD}"/>
</file>

<file path=customXml/itemProps3.xml><?xml version="1.0" encoding="utf-8"?>
<ds:datastoreItem xmlns:ds="http://schemas.openxmlformats.org/officeDocument/2006/customXml" ds:itemID="{9BAD9895-B72E-46F7-A715-8FECE36906E5}"/>
</file>

<file path=docProps/app.xml><?xml version="1.0" encoding="utf-8"?>
<Properties xmlns="http://schemas.openxmlformats.org/officeDocument/2006/extended-properties" xmlns:vt="http://schemas.openxmlformats.org/officeDocument/2006/docPropsVTypes">
  <TotalTime>1057</TotalTime>
  <Words>1763</Words>
  <Application>Microsoft Office PowerPoint</Application>
  <PresentationFormat>Widescreen</PresentationFormat>
  <Paragraphs>109</Paragraphs>
  <Slides>31</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31</vt:i4>
      </vt:variant>
    </vt:vector>
  </HeadingPairs>
  <TitlesOfParts>
    <vt:vector size="35" baseType="lpstr">
      <vt:lpstr>Arial</vt:lpstr>
      <vt:lpstr>Calibri</vt:lpstr>
      <vt:lpstr>Calibri Light</vt:lpstr>
      <vt:lpstr>Tema do Office</vt:lpstr>
      <vt:lpstr>LOGÍSTICA HOSPITALAR</vt:lpstr>
      <vt:lpstr>Unidade 2 | Introdução</vt:lpstr>
      <vt:lpstr>Unidade 2 | Objetivos</vt:lpstr>
      <vt:lpstr>Principios básicos da gestão hospitalar</vt:lpstr>
      <vt:lpstr>Gestão de logística</vt:lpstr>
      <vt:lpstr>Logística de suprimentos</vt:lpstr>
      <vt:lpstr>Logística interna</vt:lpstr>
      <vt:lpstr>Logística interna – unidades assistenciais</vt:lpstr>
      <vt:lpstr>Logística interna – unidades de apoio</vt:lpstr>
      <vt:lpstr>Logística interna – setores administrativos</vt:lpstr>
      <vt:lpstr>Administração hospitalar</vt:lpstr>
      <vt:lpstr>Administração hospitalar - Planejamento</vt:lpstr>
      <vt:lpstr>Administração hospitalar - Planejamento</vt:lpstr>
      <vt:lpstr>Administração hospitalar - Planejamento</vt:lpstr>
      <vt:lpstr>Administração hospitalar - Objetivos</vt:lpstr>
      <vt:lpstr>Administração hospitalar - Metas</vt:lpstr>
      <vt:lpstr>Administração hospitalar – Metas Pessoais</vt:lpstr>
      <vt:lpstr>Administração hospitalar – Metas Organizacionais</vt:lpstr>
      <vt:lpstr>Importância do Ambiente e Planejamento</vt:lpstr>
      <vt:lpstr>Importância do Ambiente e Planejamento – Divisão do trabalho</vt:lpstr>
      <vt:lpstr>Importância do Ambiente e Planejamento – Divisão do trabalho</vt:lpstr>
      <vt:lpstr>Importância do Ambiente e Planejamento – Divisão do trabalho</vt:lpstr>
      <vt:lpstr>Ierarquia</vt:lpstr>
      <vt:lpstr>Ierarquia – exemplo de organograma</vt:lpstr>
      <vt:lpstr>Comando e Liderança</vt:lpstr>
      <vt:lpstr>Coordenação</vt:lpstr>
      <vt:lpstr>Coordenação</vt:lpstr>
      <vt:lpstr>Coordenação</vt:lpstr>
      <vt:lpstr>Controle</vt:lpstr>
      <vt:lpstr>Gerencia Hospitalar</vt:lpstr>
      <vt:lpstr>Obrigado!</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oniversidade</dc:title>
  <dc:creator>David Stephen</dc:creator>
  <cp:lastModifiedBy>PC</cp:lastModifiedBy>
  <cp:revision>133</cp:revision>
  <dcterms:created xsi:type="dcterms:W3CDTF">2018-06-24T01:31:09Z</dcterms:created>
  <dcterms:modified xsi:type="dcterms:W3CDTF">2020-02-01T16:48:04Z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0x0101001571CA391CD8464C9C8CEABD013CA2E2</vt:lpwstr>
  </property>
</Properties>
</file>