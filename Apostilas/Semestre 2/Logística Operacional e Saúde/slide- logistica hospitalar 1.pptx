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6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57" r:id="rId2"/>
    <p:sldId id="360" r:id="rId3"/>
    <p:sldId id="361" r:id="rId4"/>
    <p:sldId id="379" r:id="rId5"/>
    <p:sldId id="442" r:id="rId6"/>
    <p:sldId id="447" r:id="rId7"/>
    <p:sldId id="443" r:id="rId8"/>
    <p:sldId id="448" r:id="rId9"/>
    <p:sldId id="449" r:id="rId10"/>
    <p:sldId id="450" r:id="rId11"/>
    <p:sldId id="451" r:id="rId12"/>
    <p:sldId id="452" r:id="rId13"/>
    <p:sldId id="453" r:id="rId14"/>
    <p:sldId id="455" r:id="rId15"/>
    <p:sldId id="456" r:id="rId16"/>
    <p:sldId id="457" r:id="rId17"/>
    <p:sldId id="458" r:id="rId18"/>
    <p:sldId id="474" r:id="rId19"/>
    <p:sldId id="475" r:id="rId20"/>
    <p:sldId id="476" r:id="rId21"/>
    <p:sldId id="477" r:id="rId22"/>
    <p:sldId id="467" r:id="rId23"/>
    <p:sldId id="468" r:id="rId24"/>
    <p:sldId id="469" r:id="rId25"/>
    <p:sldId id="470" r:id="rId26"/>
    <p:sldId id="471" r:id="rId27"/>
    <p:sldId id="472" r:id="rId28"/>
    <p:sldId id="473" r:id="rId29"/>
    <p:sldId id="478" r:id="rId30"/>
    <p:sldId id="479" r:id="rId31"/>
    <p:sldId id="480" r:id="rId32"/>
    <p:sldId id="481" r:id="rId33"/>
    <p:sldId id="482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A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61CBA-9D21-4261-A5F0-48314F3E7340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FEA4D-570D-4DCF-B011-D568CE3AA015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09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2FEA4D-570D-4DCF-B011-D568CE3AA015}" type="slidenum">
              <a:rPr lang="pt-BR" smtClean="0"/>
              <a:pPr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151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D3A6FB0-F37F-46DA-9E67-7C40BC81F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9C125E5-F883-48C1-8A70-F0ECDE9E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FA7189B-BB6A-46D0-8A39-89FCCD935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35C448A7-ECBC-47BF-81D7-3BE0B9D6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6574199-6A2D-4A34-B5E0-1980A5B1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0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37A8226-3798-49D5-B97A-64B7530D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F3355D9-6C3C-4F98-BDC9-41C5EE2C8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3867BD0C-72A7-48E4-BDBC-85D5C9B7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E5A37E49-1DBF-483F-9B46-D99D5156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119DB606-3073-4632-9BCB-0770C7BF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20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976F40C-F385-4588-8934-78990741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22336E6C-D800-4DB2-879A-B5D4A03CA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4095AE9-A59F-4065-99B7-C5F10B7B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95C450F-CF29-4A99-A6CE-451DE5DE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90B191A-2BF0-435A-B5F0-0C5AECC5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15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43D5E4-148C-459F-99A8-642D81D5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570DBF5-78E2-487B-B28F-F5D4E30A3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0EFCFCE-21CC-4DE0-B879-2D52B276E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20E85353-31E9-4963-8D87-022E900C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817926D1-516F-4581-BE09-AA677966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F27BA45A-6B64-4D74-B21C-FA671A58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91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417922E-BA32-48DD-8F1E-5772EC452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14E0FC4F-D2EC-467A-AA1F-484A20AA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16FAE2B-7B40-4207-9773-C9733622A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E9F80720-706C-4085-A1C2-B7D31E094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319DE410-4AAB-431A-AA57-27BFAF4AF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3C1EBE1D-45CD-4A01-89D6-312F0E43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753001EF-C51A-4AD0-B9AD-0D7AAEF0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CE4C2650-EF1E-4C5C-8CEE-A07B79E7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2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8396D29-CE3F-4480-8AA6-6C640C78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C372719B-6A1E-4D95-A9FF-821C9D70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C3580B7B-3153-4533-8E64-8057775D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087EA84A-9D46-44CF-9B12-87E2C25B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78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E109DADD-3E9A-4F68-A8D7-0A59CD89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55390C8D-5C23-4641-A537-69C2AD345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B0012668-9BB0-4388-A164-5AF854B9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21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2305F80-EAFA-4C1B-8CB5-0917EDAE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04EA720-82BF-437B-9489-CA6420228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9A3D99A1-9912-476F-9A6E-B078E50A9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348C0697-750E-44F9-A485-481509F0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744F6CF8-05C8-4793-9472-2CA500DE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FAFF8AB4-E8EC-4869-8D48-02E26BA2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05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798E4D1-93E7-46E4-AE9E-7913C8B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DF2C6B40-7120-4600-9858-122F37F73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63ED343E-66FE-47A0-980A-B478C568C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2D61BD9F-739A-4A96-8830-4C3C0606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08F799A-4DA9-44DA-BAED-84BB5F0E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792E0903-0208-4C75-A040-31192D3D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86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2157167-FD90-4A62-9DEE-93366284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051EA4AC-A44F-4085-8148-EB77A8A87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45EF876-355E-4D73-A66E-65D527BC2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4F632ABC-46ED-4A4E-AF04-BFC75B74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67AFD55-D1D8-41E2-8757-0D6BA99A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97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3C09B3B-F365-406D-94F7-070585E02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1E3E1111-9EA8-4518-AAA2-30033A2CB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3A08BBF-4CE9-4943-B183-AED52AC1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2BDAE6B9-1F17-4A46-A5B5-F0A99775E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9F74F8F-39EF-4C84-B6F3-AD47BD93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39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B8921AE1-807C-45A9-B785-478B8F7730F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A9947C06-89EE-461F-B0F3-9E7915BE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C2E7604D-A45B-4B9A-B334-7F9DCC38E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AB26B07-CF5C-44F2-A5B7-B6D4DC4A4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63BAF-D1AB-4C38-948D-4A36060575A2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552CC0F8-7FDE-4F9C-883E-FA0F76DAF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BC26AE1-99B2-4A19-AEFA-3C17DDE7C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45363-447A-476B-BF91-938BC8E7B28E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0F89DE09-C03B-410E-84BB-FA073049FC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0" t="16008" r="9930" b="23539"/>
          <a:stretch/>
        </p:blipFill>
        <p:spPr>
          <a:xfrm>
            <a:off x="10591869" y="5602198"/>
            <a:ext cx="1523862" cy="114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6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3">
            <a:extLst>
              <a:ext uri="{FF2B5EF4-FFF2-40B4-BE49-F238E27FC236}">
                <a16:creationId xmlns:a16="http://schemas.microsoft.com/office/drawing/2014/main" xmlns="" id="{4C4F2339-3F43-4617-9804-8B27EE7E8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26883"/>
            <a:ext cx="9144000" cy="1257802"/>
          </a:xfrm>
        </p:spPr>
        <p:txBody>
          <a:bodyPr>
            <a:noAutofit/>
          </a:bodyPr>
          <a:lstStyle/>
          <a:p>
            <a:r>
              <a:rPr lang="pt-BR" sz="4400" dirty="0" smtClean="0">
                <a:effectLst/>
              </a:rPr>
              <a:t>LOGÍSTICA HOSPITALAR</a:t>
            </a:r>
            <a:endParaRPr lang="pt-BR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Subtítulo 4">
            <a:extLst>
              <a:ext uri="{FF2B5EF4-FFF2-40B4-BE49-F238E27FC236}">
                <a16:creationId xmlns:a16="http://schemas.microsoft.com/office/drawing/2014/main" xmlns="" id="{35AD848D-C7DA-49FD-9B31-F936A9EC7076}"/>
              </a:ext>
            </a:extLst>
          </p:cNvPr>
          <p:cNvSpPr txBox="1">
            <a:spLocks/>
          </p:cNvSpPr>
          <p:nvPr/>
        </p:nvSpPr>
        <p:spPr>
          <a:xfrm>
            <a:off x="1524000" y="4563034"/>
            <a:ext cx="9144000" cy="587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effectLst/>
              </a:rPr>
              <a:t>EDMUNDO SOUZA</a:t>
            </a:r>
            <a:endParaRPr lang="pt-BR" dirty="0">
              <a:effectLst/>
            </a:endParaRPr>
          </a:p>
        </p:txBody>
      </p:sp>
      <p:cxnSp>
        <p:nvCxnSpPr>
          <p:cNvPr id="11" name="Conector reto 10"/>
          <p:cNvCxnSpPr/>
          <p:nvPr/>
        </p:nvCxnSpPr>
        <p:spPr>
          <a:xfrm flipV="1">
            <a:off x="-128789" y="5500047"/>
            <a:ext cx="12320789" cy="24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5033689" y="5849735"/>
            <a:ext cx="2124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spc="300" dirty="0" smtClean="0">
                <a:solidFill>
                  <a:schemeClr val="bg1"/>
                </a:solidFill>
              </a:rPr>
              <a:t>UNIDADE </a:t>
            </a:r>
            <a:r>
              <a:rPr lang="pt-BR" sz="2400" spc="300" dirty="0" smtClean="0">
                <a:solidFill>
                  <a:schemeClr val="bg1"/>
                </a:solidFill>
              </a:rPr>
              <a:t>01</a:t>
            </a:r>
            <a:endParaRPr lang="pt-BR" sz="2400" spc="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09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55AA40A-0415-47DA-BCE5-0076E878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Unidade 1 | 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5205521-02CD-43CD-B824-4073F365D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551" y="2834104"/>
            <a:ext cx="10200249" cy="1666460"/>
          </a:xfrm>
        </p:spPr>
        <p:txBody>
          <a:bodyPr>
            <a:normAutofit/>
          </a:bodyPr>
          <a:lstStyle/>
          <a:p>
            <a:pPr algn="just"/>
            <a:r>
              <a:rPr lang="pt-BR" sz="2400" dirty="0">
                <a:effectLst/>
              </a:rPr>
              <a:t>Já há algumas décadas percebemos o sentimento de que os problemas de saúde estão se acumulando, em virtude dos serviços de saúde não conseguirem atender às necessidades da sociedade nem às expectativas da população.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7472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55AA40A-0415-47DA-BCE5-0076E878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Unidade 1 | 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5205521-02CD-43CD-B824-4073F365D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893"/>
            <a:ext cx="9656298" cy="4504836"/>
          </a:xfrm>
        </p:spPr>
        <p:txBody>
          <a:bodyPr>
            <a:normAutofit/>
          </a:bodyPr>
          <a:lstStyle/>
          <a:p>
            <a:pPr lvl="0"/>
            <a:r>
              <a:rPr lang="pt-BR" sz="3200" dirty="0">
                <a:effectLst/>
              </a:rPr>
              <a:t>Evolução do Sistema Hospitalar na História</a:t>
            </a:r>
          </a:p>
          <a:p>
            <a:pPr lvl="0"/>
            <a:r>
              <a:rPr lang="pt-BR" sz="3200" dirty="0">
                <a:effectLst/>
              </a:rPr>
              <a:t>A crise da Saúde Pública</a:t>
            </a:r>
          </a:p>
          <a:p>
            <a:pPr lvl="0"/>
            <a:r>
              <a:rPr lang="pt-BR" sz="3200" dirty="0">
                <a:effectLst/>
              </a:rPr>
              <a:t>Históricos dos modelos assistenciais à saúde no Brasil</a:t>
            </a:r>
          </a:p>
          <a:p>
            <a:pPr lvl="0"/>
            <a:r>
              <a:rPr lang="pt-BR" sz="3200" dirty="0">
                <a:effectLst/>
              </a:rPr>
              <a:t>Novos modelos Assistenciais</a:t>
            </a:r>
          </a:p>
          <a:p>
            <a:pPr lvl="0"/>
            <a:r>
              <a:rPr lang="pt-BR" sz="3200" dirty="0">
                <a:effectLst/>
              </a:rPr>
              <a:t>Sistema de Saúde Único (SUS)</a:t>
            </a:r>
          </a:p>
          <a:p>
            <a:pPr lvl="0"/>
            <a:r>
              <a:rPr lang="pt-BR" sz="3200" dirty="0">
                <a:effectLst/>
              </a:rPr>
              <a:t>A institucionalização do SUS: marcos legais e históricos</a:t>
            </a:r>
          </a:p>
          <a:p>
            <a:pPr lvl="0" algn="just"/>
            <a:r>
              <a:rPr lang="pt-BR" sz="3200" dirty="0">
                <a:effectLst/>
              </a:rPr>
              <a:t>Os anos 1990 e a implantação do sus: desafios e inovações</a:t>
            </a:r>
          </a:p>
          <a:p>
            <a:pPr marL="0" indent="0">
              <a:buNone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377955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effectLst/>
              </a:rPr>
              <a:t>Evolução </a:t>
            </a:r>
            <a:r>
              <a:rPr lang="pt-BR" b="1" dirty="0">
                <a:effectLst/>
              </a:rPr>
              <a:t>do Sistema Hospitalar na História</a:t>
            </a:r>
            <a:br>
              <a:rPr lang="pt-BR" b="1" dirty="0">
                <a:effectLst/>
              </a:rPr>
            </a:b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03220"/>
            <a:ext cx="5998698" cy="21545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2400" dirty="0">
                <a:effectLst/>
              </a:rPr>
              <a:t>Na história da medicina, encontramos os primeiros relatos da estrutura hospitalar no mundo greco-romano, onde diversos templos eram erguidos em homenagem ao Deus da medicina, que na Grécia era chamado de Asclépio, e em Roma era Esculápio.</a:t>
            </a:r>
            <a:endParaRPr lang="pt-BR" sz="2400" dirty="0">
              <a:effectLst/>
            </a:endParaRPr>
          </a:p>
          <a:p>
            <a:pPr marL="0" indent="0" algn="just">
              <a:buNone/>
            </a:pPr>
            <a:endParaRPr lang="pt-BR" sz="2400" dirty="0">
              <a:effectLst/>
            </a:endParaRPr>
          </a:p>
        </p:txBody>
      </p:sp>
      <p:sp>
        <p:nvSpPr>
          <p:cNvPr id="1029" name="AutoShape 5" descr="C:\Users\edmundo.souza\Pictures\Imagem3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Picture 2" descr="Equipamento médico hospitalar falando sobre a ocupação de telefone Foto gratuita">
            <a:extLst>
              <a:ext uri="{FF2B5EF4-FFF2-40B4-BE49-F238E27FC236}">
                <a16:creationId xmlns:a16="http://schemas.microsoft.com/office/drawing/2014/main" xmlns="" id="{95081E5C-B226-476A-A108-953B79B1E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6" r="22452"/>
          <a:stretch/>
        </p:blipFill>
        <p:spPr bwMode="auto">
          <a:xfrm>
            <a:off x="7416768" y="2166865"/>
            <a:ext cx="4284695" cy="34195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360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 objetivo desses templos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81175" y="2554289"/>
            <a:ext cx="8905875" cy="2103438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Atendimento </a:t>
            </a:r>
            <a:r>
              <a:rPr lang="pt-BR" sz="2400" dirty="0">
                <a:effectLst/>
              </a:rPr>
              <a:t>a pessoas doentes</a:t>
            </a:r>
          </a:p>
          <a:p>
            <a:r>
              <a:rPr lang="pt-BR" sz="2400" dirty="0">
                <a:effectLst/>
              </a:rPr>
              <a:t>Busca na prática da medicina um auxílio para um “adormecimento”, </a:t>
            </a:r>
          </a:p>
          <a:p>
            <a:r>
              <a:rPr lang="pt-BR" sz="2400" dirty="0">
                <a:effectLst/>
              </a:rPr>
              <a:t>Conhecimento e cura de forma milagrosa.</a:t>
            </a:r>
          </a:p>
          <a:p>
            <a:r>
              <a:rPr lang="pt-PT" sz="2400" dirty="0">
                <a:effectLst/>
              </a:rPr>
              <a:t>Os médicos andavam de porta em porta para oferecer seus serviços.</a:t>
            </a:r>
            <a:endParaRPr lang="pt-BR" sz="2400" dirty="0">
              <a:effectLst/>
            </a:endParaRPr>
          </a:p>
          <a:p>
            <a:endParaRPr lang="pt-BR" sz="2000" dirty="0"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75" y="343498"/>
            <a:ext cx="10515600" cy="1325563"/>
          </a:xfrm>
        </p:spPr>
        <p:txBody>
          <a:bodyPr/>
          <a:lstStyle/>
          <a:p>
            <a:r>
              <a:rPr lang="pt-BR" b="1" dirty="0">
                <a:effectLst/>
              </a:rPr>
              <a:t>A História da Medicina</a:t>
            </a:r>
            <a:br>
              <a:rPr lang="pt-BR" b="1" dirty="0">
                <a:effectLst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2636" y="2155908"/>
            <a:ext cx="5529775" cy="2573255"/>
          </a:xfrm>
        </p:spPr>
        <p:txBody>
          <a:bodyPr>
            <a:normAutofit/>
          </a:bodyPr>
          <a:lstStyle/>
          <a:p>
            <a:pPr algn="just"/>
            <a:r>
              <a:rPr lang="pt-PT" sz="2400" dirty="0">
                <a:effectLst/>
              </a:rPr>
              <a:t>Na história da medicina, encontramos os primeiros relatos da estrutura hospitalar no mundo greco-romano, onde diversos templos eram erguidos em homenagem ao Deus da medicina, que na Grécia era chamado de Asclépio, e em Roma era Esculápio</a:t>
            </a:r>
            <a:r>
              <a:rPr lang="pt-PT" sz="2400" dirty="0" smtClean="0">
                <a:effectLst/>
              </a:rPr>
              <a:t>.</a:t>
            </a:r>
            <a:endParaRPr lang="pt-BR" sz="2400" dirty="0">
              <a:effectLst/>
            </a:endParaRPr>
          </a:p>
        </p:txBody>
      </p:sp>
      <p:sp>
        <p:nvSpPr>
          <p:cNvPr id="7170" name="AutoShape 2" descr="C:\Users\edmundo.souza\Pictures\Imagem3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172" name="AutoShape 4" descr="C:\Users\edmundo.souza\Pictures\Imagem3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174" name="AutoShape 6" descr="C:\Users\edmundo.souza\Pictures\Imagem3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176" name="AutoShape 8" descr="C:\Users\edmundo.souza\Pictures\Imagem3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178" name="AutoShape 10" descr="C:\Users\edmundo.souza\Pictures\Imagem3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180" name="AutoShape 12" descr="C:\Users\edmundo.souza\Pictures\Imagem3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1746" name="AutoShape 2" descr="Resultado de imagem para a historia da medic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1748" name="AutoShape 4" descr="Resultado de imagem para a historia da medic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0" name="Picture 2" descr="Paciente, esperando, hospitalar Foto gratuita">
            <a:extLst>
              <a:ext uri="{FF2B5EF4-FFF2-40B4-BE49-F238E27FC236}">
                <a16:creationId xmlns:a16="http://schemas.microsoft.com/office/drawing/2014/main" xmlns="" id="{7D45AEFB-87D9-446E-82C9-7FBDEAD53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669061"/>
            <a:ext cx="5517368" cy="40005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576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b="1" dirty="0">
                <a:effectLst/>
              </a:rPr>
              <a:t/>
            </a:r>
            <a:br>
              <a:rPr lang="pt-BR" b="1" dirty="0">
                <a:effectLst/>
              </a:rPr>
            </a:br>
            <a:r>
              <a:rPr lang="pt-BR" b="1" dirty="0">
                <a:effectLst/>
              </a:rPr>
              <a:t/>
            </a:r>
            <a:br>
              <a:rPr lang="pt-BR" b="1" dirty="0">
                <a:effectLst/>
              </a:rPr>
            </a:br>
            <a:r>
              <a:rPr lang="pt-BR" b="1" dirty="0">
                <a:effectLst/>
              </a:rPr>
              <a:t>A medicina recebe forte influência religiosa  </a:t>
            </a:r>
            <a:br>
              <a:rPr lang="pt-BR" b="1" dirty="0">
                <a:effectLst/>
              </a:rPr>
            </a:br>
            <a:r>
              <a:rPr lang="pt-BR" b="1" dirty="0">
                <a:effectLst/>
              </a:rPr>
              <a:t> </a:t>
            </a:r>
            <a:br>
              <a:rPr lang="pt-BR" b="1" dirty="0">
                <a:effectLst/>
              </a:rPr>
            </a:br>
            <a:r>
              <a:rPr lang="pt-BR" b="1" dirty="0">
                <a:effectLst/>
              </a:rPr>
              <a:t/>
            </a:r>
            <a:br>
              <a:rPr lang="pt-BR" b="1" dirty="0">
                <a:effectLst/>
              </a:rPr>
            </a:br>
            <a:endParaRPr lang="pt-BR" b="1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93118" y="2468563"/>
            <a:ext cx="8005763" cy="2074863"/>
          </a:xfrm>
        </p:spPr>
        <p:txBody>
          <a:bodyPr>
            <a:normAutofit/>
          </a:bodyPr>
          <a:lstStyle/>
          <a:p>
            <a:r>
              <a:rPr lang="pt-PT" sz="2400" dirty="0" smtClean="0">
                <a:effectLst/>
              </a:rPr>
              <a:t>Período </a:t>
            </a:r>
            <a:r>
              <a:rPr lang="pt-PT" sz="2400" dirty="0">
                <a:effectLst/>
              </a:rPr>
              <a:t>medieval na Grécia e em Roma, </a:t>
            </a:r>
          </a:p>
          <a:p>
            <a:r>
              <a:rPr lang="pt-PT" sz="2400" dirty="0">
                <a:effectLst/>
              </a:rPr>
              <a:t>A medicina recebia forte influencia religiosa </a:t>
            </a:r>
          </a:p>
          <a:p>
            <a:r>
              <a:rPr lang="pt-PT" sz="2400" dirty="0">
                <a:effectLst/>
              </a:rPr>
              <a:t>A história do cristianismo </a:t>
            </a:r>
          </a:p>
          <a:p>
            <a:r>
              <a:rPr lang="pt-PT" sz="2400" dirty="0">
                <a:effectLst/>
              </a:rPr>
              <a:t>A  função da medicina era de acolher e dar assistência social.</a:t>
            </a:r>
            <a:endParaRPr lang="pt-BR" sz="2400" dirty="0">
              <a:effectLst/>
            </a:endParaRP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Os hospitais na Idade Média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409950" y="2625725"/>
            <a:ext cx="6419850" cy="1960563"/>
          </a:xfrm>
        </p:spPr>
        <p:txBody>
          <a:bodyPr>
            <a:normAutofit/>
          </a:bodyPr>
          <a:lstStyle/>
          <a:p>
            <a:r>
              <a:rPr lang="pt-BR" sz="2400" dirty="0">
                <a:effectLst/>
              </a:rPr>
              <a:t>Administração pública</a:t>
            </a:r>
          </a:p>
          <a:p>
            <a:r>
              <a:rPr lang="pt-PT" sz="2400" dirty="0">
                <a:effectLst/>
              </a:rPr>
              <a:t>Administrados por ordens religiosas</a:t>
            </a:r>
          </a:p>
          <a:p>
            <a:r>
              <a:rPr lang="pt-BR" sz="2400" dirty="0">
                <a:effectLst/>
              </a:rPr>
              <a:t>Fato histórico dos cuidados do Ocidente</a:t>
            </a:r>
          </a:p>
          <a:p>
            <a:r>
              <a:rPr lang="pt-BR" sz="2400" dirty="0">
                <a:effectLst/>
              </a:rPr>
              <a:t>O hospital como instituição importante</a:t>
            </a:r>
          </a:p>
          <a:p>
            <a:endParaRPr lang="pt-BR" sz="2400" dirty="0">
              <a:effectLst/>
            </a:endParaRP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 médico não era mais importante para o hospital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09700" y="2754313"/>
            <a:ext cx="9763125" cy="2089150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O </a:t>
            </a:r>
            <a:r>
              <a:rPr lang="pt-BR" sz="2400" dirty="0">
                <a:effectLst/>
              </a:rPr>
              <a:t>hospital medieval europeu separava as pessoas que eram consideradas sadias daquelas que eram ditas como perigo para a sociedade.</a:t>
            </a:r>
          </a:p>
          <a:p>
            <a:r>
              <a:rPr lang="pt-BR" sz="2400" dirty="0">
                <a:effectLst/>
              </a:rPr>
              <a:t>A partir do século XVI, poder governamental</a:t>
            </a:r>
          </a:p>
          <a:p>
            <a:r>
              <a:rPr lang="pt-BR" sz="2400" dirty="0">
                <a:effectLst/>
              </a:rPr>
              <a:t>As mudanças mais significativas nas instituições hospitalares acontecem entre os séculos XVI e XIX.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 crescimento e desenvolvimento da teoria bacteriológica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85900" y="2882900"/>
            <a:ext cx="8710612" cy="1674813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Mudanças </a:t>
            </a:r>
            <a:r>
              <a:rPr lang="pt-BR" sz="2400" dirty="0">
                <a:effectLst/>
              </a:rPr>
              <a:t>no século XX</a:t>
            </a:r>
          </a:p>
          <a:p>
            <a:r>
              <a:rPr lang="pt-BR" sz="2400" dirty="0">
                <a:effectLst/>
              </a:rPr>
              <a:t>O cuidado ao doente passa a ser mais sistematizado</a:t>
            </a:r>
          </a:p>
          <a:p>
            <a:r>
              <a:rPr lang="pt-PT" sz="2400" dirty="0">
                <a:effectLst/>
              </a:rPr>
              <a:t>Redução da morbimortalidade nas instituições hospitalares.</a:t>
            </a:r>
            <a:endParaRPr lang="pt-BR" sz="2400" dirty="0">
              <a:effectLst/>
            </a:endParaRPr>
          </a:p>
          <a:p>
            <a:pPr marL="0" indent="0">
              <a:buNone/>
            </a:pPr>
            <a:endParaRPr lang="pt-BR" sz="2400" dirty="0">
              <a:effectLst/>
            </a:endParaRP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A </a:t>
            </a:r>
            <a:r>
              <a:rPr lang="pt-BR" b="1" dirty="0">
                <a:effectLst/>
              </a:rPr>
              <a:t>crise da saúde pública</a:t>
            </a:r>
            <a:br>
              <a:rPr lang="pt-BR" b="1" dirty="0">
                <a:effectLst/>
              </a:rPr>
            </a:b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81100" y="2325687"/>
            <a:ext cx="9363075" cy="1974850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Diversas </a:t>
            </a:r>
            <a:r>
              <a:rPr lang="pt-BR" sz="2400" dirty="0">
                <a:effectLst/>
              </a:rPr>
              <a:t>ações de intervenção no processo saúde-doença</a:t>
            </a:r>
          </a:p>
          <a:p>
            <a:r>
              <a:rPr lang="pt-BR" sz="2400" dirty="0">
                <a:effectLst/>
              </a:rPr>
              <a:t>Modelo de atenção à saúde ou modelo assistencial</a:t>
            </a:r>
          </a:p>
          <a:p>
            <a:r>
              <a:rPr lang="pt-BR" sz="2400" dirty="0">
                <a:effectLst/>
              </a:rPr>
              <a:t>Na esfera das práticas de saúde</a:t>
            </a:r>
          </a:p>
          <a:p>
            <a:r>
              <a:rPr lang="pt-BR" sz="2400" dirty="0">
                <a:effectLst/>
              </a:rPr>
              <a:t>Características que podem diferenciar os modelos de práticas de saúde.</a:t>
            </a: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 modelo assistencial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8500" y="2568575"/>
            <a:ext cx="5233988" cy="2132013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A </a:t>
            </a:r>
            <a:r>
              <a:rPr lang="pt-BR" sz="2400" dirty="0">
                <a:effectLst/>
              </a:rPr>
              <a:t>reorganização dos serviços de saúde</a:t>
            </a:r>
          </a:p>
          <a:p>
            <a:r>
              <a:rPr lang="pt-BR" sz="2400" dirty="0">
                <a:effectLst/>
              </a:rPr>
              <a:t>Distorções na compreensão</a:t>
            </a:r>
          </a:p>
          <a:p>
            <a:r>
              <a:rPr lang="pt-BR" sz="2400" dirty="0">
                <a:effectLst/>
              </a:rPr>
              <a:t>Modelo certo ou errado?</a:t>
            </a:r>
          </a:p>
          <a:p>
            <a:r>
              <a:rPr lang="pt-BR" sz="2400" dirty="0">
                <a:effectLst/>
              </a:rPr>
              <a:t>Às suas relações ativas ou passivas?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Outros modelos são historicamente construídos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721768" y="2825750"/>
            <a:ext cx="6748463" cy="2060575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Condicionamentos </a:t>
            </a:r>
            <a:r>
              <a:rPr lang="pt-BR" sz="2400" dirty="0">
                <a:effectLst/>
              </a:rPr>
              <a:t>a que estão expostos</a:t>
            </a:r>
          </a:p>
          <a:p>
            <a:r>
              <a:rPr lang="pt-BR" sz="2400" dirty="0">
                <a:effectLst/>
              </a:rPr>
              <a:t>Existem em uma determinada realidade concreta</a:t>
            </a:r>
          </a:p>
          <a:p>
            <a:r>
              <a:rPr lang="pt-BR" sz="2400" dirty="0">
                <a:effectLst/>
              </a:rPr>
              <a:t>Modelo puro </a:t>
            </a:r>
          </a:p>
          <a:p>
            <a:r>
              <a:rPr lang="pt-BR" sz="2400" dirty="0">
                <a:effectLst/>
              </a:rPr>
              <a:t>Modelo limitado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50838"/>
            <a:ext cx="10515600" cy="1325563"/>
          </a:xfrm>
        </p:spPr>
        <p:txBody>
          <a:bodyPr>
            <a:normAutofit/>
          </a:bodyPr>
          <a:lstStyle/>
          <a:p>
            <a:r>
              <a:rPr lang="pt-BR" b="1" dirty="0" smtClean="0">
                <a:effectLst/>
              </a:rPr>
              <a:t>Histórico </a:t>
            </a:r>
            <a:r>
              <a:rPr lang="pt-BR" b="1" dirty="0">
                <a:effectLst/>
              </a:rPr>
              <a:t>dos modelos assistenciais à saúde no </a:t>
            </a:r>
            <a:r>
              <a:rPr lang="pt-BR" b="1" dirty="0" smtClean="0">
                <a:effectLst/>
              </a:rPr>
              <a:t>Brasil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09750" y="2482850"/>
            <a:ext cx="8234363" cy="2146300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Modelos </a:t>
            </a:r>
            <a:r>
              <a:rPr lang="pt-BR" sz="2400" dirty="0">
                <a:effectLst/>
              </a:rPr>
              <a:t>assistenciais no Brasil</a:t>
            </a:r>
          </a:p>
          <a:p>
            <a:r>
              <a:rPr lang="pt-BR" sz="2400" dirty="0">
                <a:effectLst/>
              </a:rPr>
              <a:t>Século XX</a:t>
            </a:r>
          </a:p>
          <a:p>
            <a:r>
              <a:rPr lang="pt-BR" sz="2400" dirty="0" err="1">
                <a:effectLst/>
              </a:rPr>
              <a:t>Sanitarismo</a:t>
            </a:r>
            <a:r>
              <a:rPr lang="pt-BR" sz="2400" dirty="0">
                <a:effectLst/>
              </a:rPr>
              <a:t> </a:t>
            </a:r>
            <a:r>
              <a:rPr lang="pt-BR" sz="2400" dirty="0" err="1">
                <a:effectLst/>
              </a:rPr>
              <a:t>campanhista</a:t>
            </a:r>
            <a:r>
              <a:rPr lang="pt-BR" sz="2400" dirty="0">
                <a:effectLst/>
              </a:rPr>
              <a:t> e do assistencialismo médico</a:t>
            </a:r>
          </a:p>
          <a:p>
            <a:r>
              <a:rPr lang="pt-BR" sz="2400" dirty="0">
                <a:effectLst/>
              </a:rPr>
              <a:t>Altos índices de ocorrência da peste bubônica, da febre amarela, da malária, da varíola etc.</a:t>
            </a: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Reforma Sanitária de Oswaldo Cruz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66850" y="2668588"/>
            <a:ext cx="8863013" cy="2332038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Do </a:t>
            </a:r>
            <a:r>
              <a:rPr lang="pt-BR" sz="2400" dirty="0">
                <a:effectLst/>
              </a:rPr>
              <a:t>sistema previdenciário (</a:t>
            </a:r>
            <a:r>
              <a:rPr lang="pt-BR" sz="2400" dirty="0" err="1">
                <a:effectLst/>
              </a:rPr>
              <a:t>IAPs</a:t>
            </a:r>
            <a:r>
              <a:rPr lang="pt-BR" sz="2400" dirty="0">
                <a:effectLst/>
              </a:rPr>
              <a:t>, depois INPS e </a:t>
            </a:r>
            <a:r>
              <a:rPr lang="pt-BR" sz="2400" dirty="0" err="1">
                <a:effectLst/>
              </a:rPr>
              <a:t>Inamps</a:t>
            </a:r>
            <a:r>
              <a:rPr lang="pt-BR" sz="2400" dirty="0">
                <a:effectLst/>
              </a:rPr>
              <a:t>)</a:t>
            </a:r>
          </a:p>
          <a:p>
            <a:r>
              <a:rPr lang="pt-BR" sz="2400" dirty="0">
                <a:effectLst/>
              </a:rPr>
              <a:t>Sistema de saúde no Brasil, história por um dualismo</a:t>
            </a:r>
          </a:p>
          <a:p>
            <a:r>
              <a:rPr lang="pt-BR" sz="2400" dirty="0">
                <a:effectLst/>
              </a:rPr>
              <a:t>A unificação dos institutos de previdência</a:t>
            </a:r>
          </a:p>
          <a:p>
            <a:r>
              <a:rPr lang="pt-BR" sz="2400" dirty="0">
                <a:effectLst/>
              </a:rPr>
              <a:t>O modelo médico-hospitalar-curativo é herdado e desenvolvido pela atenção supletiva.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9363"/>
          </a:xfrm>
        </p:spPr>
        <p:txBody>
          <a:bodyPr>
            <a:normAutofit/>
          </a:bodyPr>
          <a:lstStyle/>
          <a:p>
            <a:r>
              <a:rPr lang="pt-BR" b="1" dirty="0" smtClean="0">
                <a:effectLst/>
              </a:rPr>
              <a:t>Novos </a:t>
            </a:r>
            <a:r>
              <a:rPr lang="pt-BR" b="1" dirty="0">
                <a:effectLst/>
              </a:rPr>
              <a:t>modelos </a:t>
            </a:r>
            <a:r>
              <a:rPr lang="pt-BR" b="1" dirty="0" smtClean="0">
                <a:effectLst/>
              </a:rPr>
              <a:t>assistenciais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35981" y="2640013"/>
            <a:ext cx="7920038" cy="1989138"/>
          </a:xfrm>
        </p:spPr>
        <p:txBody>
          <a:bodyPr>
            <a:normAutofit lnSpcReduction="10000"/>
          </a:bodyPr>
          <a:lstStyle/>
          <a:p>
            <a:r>
              <a:rPr lang="pt-BR" sz="2400" dirty="0">
                <a:effectLst/>
              </a:rPr>
              <a:t>O espaço institucional e as organizações atuantes no setor</a:t>
            </a:r>
          </a:p>
          <a:p>
            <a:r>
              <a:rPr lang="pt-BR" sz="2400" dirty="0">
                <a:effectLst/>
              </a:rPr>
              <a:t>O termo </a:t>
            </a:r>
            <a:r>
              <a:rPr lang="pt-BR" sz="2400" b="1" dirty="0">
                <a:effectLst/>
              </a:rPr>
              <a:t>ideológico </a:t>
            </a:r>
            <a:r>
              <a:rPr lang="pt-BR" sz="2400" dirty="0">
                <a:effectLst/>
              </a:rPr>
              <a:t>é utilizado como referência aos paradigmas assistenciais </a:t>
            </a:r>
          </a:p>
          <a:p>
            <a:r>
              <a:rPr lang="pt-BR" sz="2400" dirty="0">
                <a:effectLst/>
              </a:rPr>
              <a:t>Modelo  </a:t>
            </a:r>
            <a:r>
              <a:rPr lang="pt-BR" sz="2400" b="1" dirty="0">
                <a:effectLst/>
              </a:rPr>
              <a:t>clínico </a:t>
            </a:r>
            <a:r>
              <a:rPr lang="pt-BR" sz="2400" dirty="0">
                <a:effectLst/>
              </a:rPr>
              <a:t>e o modelo </a:t>
            </a:r>
            <a:r>
              <a:rPr lang="pt-BR" sz="2400" b="1" dirty="0">
                <a:effectLst/>
              </a:rPr>
              <a:t>assistencial </a:t>
            </a:r>
          </a:p>
          <a:p>
            <a:r>
              <a:rPr lang="pt-BR" sz="2400" dirty="0">
                <a:effectLst/>
              </a:rPr>
              <a:t>Contraponto  chamado de </a:t>
            </a:r>
            <a:r>
              <a:rPr lang="pt-BR" sz="2400" b="1" dirty="0">
                <a:effectLst/>
              </a:rPr>
              <a:t>sanitário</a:t>
            </a:r>
            <a:endParaRPr lang="pt-BR" sz="2400" dirty="0">
              <a:effectLst/>
            </a:endParaRPr>
          </a:p>
          <a:p>
            <a:endParaRPr lang="pt-BR" sz="2400" dirty="0">
              <a:effectLst/>
            </a:endParaRPr>
          </a:p>
        </p:txBody>
      </p:sp>
      <p:sp>
        <p:nvSpPr>
          <p:cNvPr id="21506" name="AutoShape 2" descr="Resultado de imagem para a historia da medic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900"/>
          </a:xfrm>
        </p:spPr>
        <p:txBody>
          <a:bodyPr>
            <a:normAutofit/>
          </a:bodyPr>
          <a:lstStyle/>
          <a:p>
            <a:r>
              <a:rPr lang="pt-BR" b="1" dirty="0" smtClean="0">
                <a:effectLst/>
              </a:rPr>
              <a:t>Sistema </a:t>
            </a:r>
            <a:r>
              <a:rPr lang="pt-BR" b="1" dirty="0">
                <a:effectLst/>
              </a:rPr>
              <a:t>Único de Saúde (SUS</a:t>
            </a:r>
            <a:r>
              <a:rPr lang="pt-BR" b="1" dirty="0" smtClean="0">
                <a:effectLst/>
              </a:rPr>
              <a:t>)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93231" y="2497138"/>
            <a:ext cx="6205538" cy="2260600"/>
          </a:xfrm>
        </p:spPr>
        <p:txBody>
          <a:bodyPr>
            <a:normAutofit/>
          </a:bodyPr>
          <a:lstStyle/>
          <a:p>
            <a:r>
              <a:rPr lang="pt-BR" sz="2400" dirty="0">
                <a:effectLst/>
              </a:rPr>
              <a:t>A história do SUS</a:t>
            </a:r>
          </a:p>
          <a:p>
            <a:r>
              <a:rPr lang="pt-PT" sz="2400" dirty="0">
                <a:effectLst/>
              </a:rPr>
              <a:t>Modeloitalar </a:t>
            </a:r>
            <a:r>
              <a:rPr lang="pt-BR" sz="2400" dirty="0">
                <a:effectLst/>
              </a:rPr>
              <a:t>clássico do </a:t>
            </a:r>
            <a:r>
              <a:rPr lang="pt-BR" sz="2400" i="1" dirty="0" err="1">
                <a:effectLst/>
              </a:rPr>
              <a:t>Welfare</a:t>
            </a:r>
            <a:endParaRPr lang="pt-BR" sz="2400" dirty="0">
              <a:effectLst/>
            </a:endParaRPr>
          </a:p>
          <a:p>
            <a:r>
              <a:rPr lang="pt-BR" sz="2400" dirty="0">
                <a:effectLst/>
              </a:rPr>
              <a:t>Antecedentes  do SUS: breve trajetória</a:t>
            </a:r>
          </a:p>
          <a:p>
            <a:r>
              <a:rPr lang="pt-BR" sz="2400" dirty="0">
                <a:effectLst/>
              </a:rPr>
              <a:t>A migração do modelo do </a:t>
            </a:r>
            <a:r>
              <a:rPr lang="pt-BR" sz="2400" i="1" dirty="0">
                <a:effectLst/>
              </a:rPr>
              <a:t>seguro social </a:t>
            </a:r>
            <a:endParaRPr lang="pt-BR" sz="2400" dirty="0">
              <a:effectLst/>
            </a:endParaRPr>
          </a:p>
          <a:p>
            <a:endParaRPr lang="pt-BR" sz="2400" dirty="0">
              <a:effectLst/>
            </a:endParaRP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As origens da saúde previdenciária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81138" y="2582863"/>
            <a:ext cx="8420100" cy="2046288"/>
          </a:xfrm>
        </p:spPr>
        <p:txBody>
          <a:bodyPr>
            <a:normAutofit lnSpcReduction="10000"/>
          </a:bodyPr>
          <a:lstStyle/>
          <a:p>
            <a:r>
              <a:rPr lang="pt-BR" sz="2400" dirty="0" smtClean="0">
                <a:effectLst/>
              </a:rPr>
              <a:t>Lei </a:t>
            </a:r>
            <a:r>
              <a:rPr lang="pt-BR" sz="2400" dirty="0">
                <a:effectLst/>
              </a:rPr>
              <a:t>Orgânica da Previdência Social (</a:t>
            </a:r>
            <a:r>
              <a:rPr lang="pt-BR" sz="2400" dirty="0" err="1">
                <a:effectLst/>
              </a:rPr>
              <a:t>Lops</a:t>
            </a:r>
            <a:r>
              <a:rPr lang="pt-BR" sz="2400" dirty="0">
                <a:effectLst/>
              </a:rPr>
              <a:t>), 1960</a:t>
            </a:r>
          </a:p>
          <a:p>
            <a:r>
              <a:rPr lang="pt-BR" sz="2400" dirty="0">
                <a:effectLst/>
              </a:rPr>
              <a:t>A criação do Instituto Nacional de Previdência Social (INPS), em 1966</a:t>
            </a:r>
          </a:p>
          <a:p>
            <a:r>
              <a:rPr lang="pt-BR" sz="2400" dirty="0">
                <a:effectLst/>
              </a:rPr>
              <a:t>Gestão do sistema e reforço da sua irracionalidade</a:t>
            </a:r>
          </a:p>
          <a:p>
            <a:r>
              <a:rPr lang="pt-BR" sz="2400" dirty="0">
                <a:effectLst/>
              </a:rPr>
              <a:t>Medicina curativa</a:t>
            </a: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effectLst/>
              </a:rPr>
              <a:t>Anos 1970: expansão e crise do modelo </a:t>
            </a:r>
            <a:r>
              <a:rPr lang="pt-BR" b="1" dirty="0" smtClean="0">
                <a:effectLst/>
              </a:rPr>
              <a:t>médico‑previdenciário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64556" y="2568575"/>
            <a:ext cx="7862888" cy="2603500"/>
          </a:xfrm>
        </p:spPr>
        <p:txBody>
          <a:bodyPr>
            <a:normAutofit/>
          </a:bodyPr>
          <a:lstStyle/>
          <a:p>
            <a:r>
              <a:rPr lang="pt-BR" sz="2400" dirty="0">
                <a:effectLst/>
              </a:rPr>
              <a:t>A expansão da cobertura </a:t>
            </a:r>
          </a:p>
          <a:p>
            <a:r>
              <a:rPr lang="pt-BR" sz="2400" dirty="0">
                <a:effectLst/>
              </a:rPr>
              <a:t>A criação do Instituto Nacional de Assistência Médica da Previdência Social (</a:t>
            </a:r>
            <a:r>
              <a:rPr lang="pt-BR" sz="2400" dirty="0" err="1">
                <a:effectLst/>
              </a:rPr>
              <a:t>Inamps</a:t>
            </a:r>
            <a:r>
              <a:rPr lang="pt-BR" sz="2400" dirty="0">
                <a:effectLst/>
              </a:rPr>
              <a:t>), em 1977</a:t>
            </a:r>
          </a:p>
          <a:p>
            <a:r>
              <a:rPr lang="pt-BR" sz="2400" dirty="0">
                <a:effectLst/>
              </a:rPr>
              <a:t>O Sistema Nacional de Saúde (SNS) foi criado pela Lei nº 6.229</a:t>
            </a:r>
          </a:p>
          <a:p>
            <a:r>
              <a:rPr lang="pt-BR" sz="2400" dirty="0">
                <a:effectLst/>
              </a:rPr>
              <a:t>O </a:t>
            </a:r>
            <a:r>
              <a:rPr lang="pt-BR" sz="2400" dirty="0" err="1">
                <a:effectLst/>
              </a:rPr>
              <a:t>Inamps</a:t>
            </a:r>
            <a:r>
              <a:rPr lang="pt-BR" sz="2400" dirty="0">
                <a:effectLst/>
              </a:rPr>
              <a:t> como o braço da saúde do </a:t>
            </a:r>
            <a:r>
              <a:rPr lang="pt-BR" sz="2400" dirty="0" err="1">
                <a:effectLst/>
              </a:rPr>
              <a:t>Sinpas</a:t>
            </a:r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Os anos 1980 e a transição para a seguridade social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00200" y="2740025"/>
            <a:ext cx="8991600" cy="2432050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Universalização </a:t>
            </a:r>
            <a:r>
              <a:rPr lang="pt-BR" sz="2400" dirty="0">
                <a:effectLst/>
              </a:rPr>
              <a:t>progressiva do direito à saúde </a:t>
            </a:r>
          </a:p>
          <a:p>
            <a:r>
              <a:rPr lang="pt-BR" sz="2400" dirty="0">
                <a:effectLst/>
              </a:rPr>
              <a:t>O agravamento da crise financeira da Previdência Social </a:t>
            </a:r>
          </a:p>
          <a:p>
            <a:r>
              <a:rPr lang="pt-BR" sz="2400" dirty="0">
                <a:effectLst/>
              </a:rPr>
              <a:t>A criação do Conselho Consultivo de Administração de Saúde Previdenciária (</a:t>
            </a:r>
            <a:r>
              <a:rPr lang="pt-BR" sz="2400" dirty="0" err="1">
                <a:effectLst/>
              </a:rPr>
              <a:t>Conasp</a:t>
            </a:r>
            <a:r>
              <a:rPr lang="pt-BR" sz="2400" dirty="0">
                <a:effectLst/>
              </a:rPr>
              <a:t>)</a:t>
            </a:r>
          </a:p>
          <a:p>
            <a:r>
              <a:rPr lang="pt-BR" sz="2400" dirty="0">
                <a:effectLst/>
              </a:rPr>
              <a:t>A implantação do (SAMHPS) e o das Ações Integradas de Saúde (AIS)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A VIII Conferência Nacional de Saúde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354262"/>
            <a:ext cx="10515600" cy="2746375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Redefinição </a:t>
            </a:r>
            <a:r>
              <a:rPr lang="pt-BR" sz="2400" dirty="0">
                <a:effectLst/>
              </a:rPr>
              <a:t>das funções e atribuições das três esferas gestoras no campo da saúde</a:t>
            </a:r>
          </a:p>
          <a:p>
            <a:r>
              <a:rPr lang="pt-BR" sz="2400" dirty="0">
                <a:effectLst/>
              </a:rPr>
              <a:t>Reestruturação para cumprir funções de planejamento, orçamento e acompanhamento</a:t>
            </a:r>
          </a:p>
          <a:p>
            <a:r>
              <a:rPr lang="pt-PT" sz="2400" dirty="0">
                <a:effectLst/>
              </a:rPr>
              <a:t>Leis nº 8.080 e 8.142</a:t>
            </a:r>
          </a:p>
          <a:p>
            <a:r>
              <a:rPr lang="pt-BR" sz="2400" dirty="0">
                <a:effectLst/>
              </a:rPr>
              <a:t>Normas Operacionais Básicas (</a:t>
            </a:r>
            <a:r>
              <a:rPr lang="pt-BR" sz="2400" dirty="0" err="1">
                <a:effectLst/>
              </a:rPr>
              <a:t>NOBs</a:t>
            </a:r>
            <a:r>
              <a:rPr lang="pt-BR" sz="2400" dirty="0">
                <a:effectLst/>
              </a:rPr>
              <a:t>)</a:t>
            </a: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/>
              </a:rPr>
              <a:t>A </a:t>
            </a:r>
            <a:r>
              <a:rPr lang="pt-BR" b="1" dirty="0">
                <a:effectLst/>
              </a:rPr>
              <a:t>institucionalização do SUS: marcos legais e históricos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28900" y="2997200"/>
            <a:ext cx="6934200" cy="1531938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A </a:t>
            </a:r>
            <a:r>
              <a:rPr lang="pt-BR" sz="2400" dirty="0">
                <a:effectLst/>
              </a:rPr>
              <a:t>nova institucionalidade do setor saúde </a:t>
            </a:r>
          </a:p>
          <a:p>
            <a:r>
              <a:rPr lang="pt-BR" sz="2400" dirty="0">
                <a:effectLst/>
              </a:rPr>
              <a:t>A Constituição Federal de 5 de outubro de 1988 </a:t>
            </a:r>
          </a:p>
          <a:p>
            <a:r>
              <a:rPr lang="pt-BR" sz="2400" dirty="0">
                <a:effectLst/>
              </a:rPr>
              <a:t>Universalização da atenção pública com a expansão </a:t>
            </a:r>
          </a:p>
          <a:p>
            <a:endParaRPr lang="pt-BR" sz="2400" dirty="0">
              <a:effectLst/>
            </a:endParaRP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6488"/>
          </a:xfrm>
        </p:spPr>
        <p:txBody>
          <a:bodyPr>
            <a:normAutofit/>
          </a:bodyPr>
          <a:lstStyle/>
          <a:p>
            <a:r>
              <a:rPr lang="pt-BR" b="1" dirty="0" smtClean="0">
                <a:effectLst/>
              </a:rPr>
              <a:t>O </a:t>
            </a:r>
            <a:r>
              <a:rPr lang="pt-BR" b="1" dirty="0">
                <a:effectLst/>
              </a:rPr>
              <a:t>SUS como novo pacto </a:t>
            </a:r>
            <a:r>
              <a:rPr lang="pt-BR" b="1" dirty="0" smtClean="0">
                <a:effectLst/>
              </a:rPr>
              <a:t>social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78868" y="2654300"/>
            <a:ext cx="7434263" cy="2303463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Saúde</a:t>
            </a:r>
            <a:r>
              <a:rPr lang="pt-BR" sz="2400" dirty="0">
                <a:effectLst/>
              </a:rPr>
              <a:t>: direito de todos e dever do Estado</a:t>
            </a:r>
          </a:p>
          <a:p>
            <a:r>
              <a:rPr lang="pt-BR" sz="2400" dirty="0">
                <a:effectLst/>
              </a:rPr>
              <a:t>Universalidade e equidade</a:t>
            </a:r>
          </a:p>
          <a:p>
            <a:r>
              <a:rPr lang="pt-BR" sz="2400" dirty="0">
                <a:effectLst/>
              </a:rPr>
              <a:t>O SUS como novo desenho político‑institucional</a:t>
            </a:r>
          </a:p>
          <a:p>
            <a:r>
              <a:rPr lang="pt-BR" sz="2400" dirty="0">
                <a:effectLst/>
              </a:rPr>
              <a:t>Novo </a:t>
            </a:r>
            <a:r>
              <a:rPr lang="pt-BR" sz="2400" dirty="0" err="1">
                <a:effectLst/>
              </a:rPr>
              <a:t>desing</a:t>
            </a:r>
            <a:r>
              <a:rPr lang="pt-BR" sz="2400" dirty="0">
                <a:effectLst/>
              </a:rPr>
              <a:t> da </a:t>
            </a:r>
            <a:r>
              <a:rPr lang="pt-BR" sz="2400" b="1" dirty="0">
                <a:effectLst/>
              </a:rPr>
              <a:t>unificação </a:t>
            </a:r>
            <a:r>
              <a:rPr lang="pt-BR" sz="2400" dirty="0">
                <a:effectLst/>
              </a:rPr>
              <a:t>dos comandos institucionais</a:t>
            </a: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Os conselhos gestores de saúde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57337" y="2954338"/>
            <a:ext cx="9077325" cy="1803400"/>
          </a:xfrm>
        </p:spPr>
        <p:txBody>
          <a:bodyPr>
            <a:normAutofit/>
          </a:bodyPr>
          <a:lstStyle/>
          <a:p>
            <a:r>
              <a:rPr lang="pt-BR" sz="2400" dirty="0">
                <a:effectLst/>
              </a:rPr>
              <a:t>Obstáculos  apontados para a efetiva participação dos conselhos no processo decisório da política de saúde.</a:t>
            </a:r>
          </a:p>
          <a:p>
            <a:r>
              <a:rPr lang="pt-BR" sz="2400" dirty="0">
                <a:effectLst/>
              </a:rPr>
              <a:t>Proliferação veloz de conselhos</a:t>
            </a:r>
          </a:p>
          <a:p>
            <a:r>
              <a:rPr lang="pt-BR" sz="2400" b="1" dirty="0">
                <a:effectLst/>
              </a:rPr>
              <a:t>SUS como novo modelo técnico‑assistencial</a:t>
            </a: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effectLst/>
              </a:rPr>
              <a:t>Os </a:t>
            </a:r>
            <a:r>
              <a:rPr lang="pt-BR" b="1" dirty="0">
                <a:effectLst/>
              </a:rPr>
              <a:t>anos 1990 e a implantação do SUS: desafios e </a:t>
            </a:r>
            <a:r>
              <a:rPr lang="pt-BR" b="1" dirty="0" smtClean="0">
                <a:effectLst/>
              </a:rPr>
              <a:t>inovações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52788" y="2511425"/>
            <a:ext cx="5476875" cy="2403475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Normas </a:t>
            </a:r>
            <a:r>
              <a:rPr lang="pt-BR" sz="2400" dirty="0">
                <a:effectLst/>
              </a:rPr>
              <a:t>Operacionais Básicas (</a:t>
            </a:r>
            <a:r>
              <a:rPr lang="pt-BR" sz="2400" dirty="0" err="1">
                <a:effectLst/>
              </a:rPr>
              <a:t>NOBs</a:t>
            </a:r>
            <a:r>
              <a:rPr lang="pt-BR" sz="2400" dirty="0">
                <a:effectLst/>
              </a:rPr>
              <a:t>)</a:t>
            </a:r>
          </a:p>
          <a:p>
            <a:r>
              <a:rPr lang="pt-BR" sz="2400" dirty="0">
                <a:effectLst/>
              </a:rPr>
              <a:t>Nova República</a:t>
            </a:r>
          </a:p>
          <a:p>
            <a:r>
              <a:rPr lang="pt-BR" sz="2400" dirty="0">
                <a:effectLst/>
              </a:rPr>
              <a:t>NOB-SUS-91 e NOB-SUS-93</a:t>
            </a:r>
          </a:p>
          <a:p>
            <a:r>
              <a:rPr lang="pt-BR" sz="2400" dirty="0">
                <a:effectLst/>
              </a:rPr>
              <a:t>Gestão descentralizada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effectLst/>
              </a:rPr>
              <a:t>A palavra crise ronda o sistema desde o nascedouro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5931" y="2582863"/>
            <a:ext cx="8720138" cy="2332038"/>
          </a:xfrm>
        </p:spPr>
        <p:txBody>
          <a:bodyPr>
            <a:normAutofit lnSpcReduction="10000"/>
          </a:bodyPr>
          <a:lstStyle/>
          <a:p>
            <a:r>
              <a:rPr lang="pt-BR" sz="2400" dirty="0" smtClean="0">
                <a:effectLst/>
              </a:rPr>
              <a:t>Grande </a:t>
            </a:r>
            <a:r>
              <a:rPr lang="pt-BR" sz="2400" dirty="0">
                <a:effectLst/>
              </a:rPr>
              <a:t>extensão de programas de saúde pública e de serviços assistenciais </a:t>
            </a:r>
          </a:p>
          <a:p>
            <a:r>
              <a:rPr lang="pt-BR" sz="2400" dirty="0">
                <a:effectLst/>
              </a:rPr>
              <a:t>Desencadeamento de um efetivo processo de descentralização política e administrativa</a:t>
            </a:r>
          </a:p>
          <a:p>
            <a:pPr lvl="0"/>
            <a:r>
              <a:rPr lang="pt-BR" sz="2400" dirty="0">
                <a:effectLst/>
              </a:rPr>
              <a:t>Incorporação e disseminação de Conselhos de Saúde</a:t>
            </a:r>
          </a:p>
          <a:p>
            <a:pPr lvl="0"/>
            <a:r>
              <a:rPr lang="pt-BR" sz="2400" dirty="0">
                <a:effectLst/>
              </a:rPr>
              <a:t>Ampliação das discussões sobre saúde na sociedade.</a:t>
            </a:r>
          </a:p>
          <a:p>
            <a:endParaRPr lang="pt-BR" sz="2400" dirty="0">
              <a:effectLst/>
            </a:endParaRP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 SUS e a NB-96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311400"/>
            <a:ext cx="10515600" cy="2503488"/>
          </a:xfrm>
        </p:spPr>
        <p:txBody>
          <a:bodyPr>
            <a:normAutofit/>
          </a:bodyPr>
          <a:lstStyle/>
          <a:p>
            <a:r>
              <a:rPr lang="pt-BR" sz="2400" dirty="0">
                <a:effectLst/>
              </a:rPr>
              <a:t>Promoção e consolidação, por parte do poder público municipal e do Distrito Federal</a:t>
            </a:r>
          </a:p>
          <a:p>
            <a:r>
              <a:rPr lang="pt-BR" sz="2400" dirty="0">
                <a:effectLst/>
              </a:rPr>
              <a:t>Os poderes públicos estadual e federal </a:t>
            </a:r>
          </a:p>
          <a:p>
            <a:r>
              <a:rPr lang="pt-BR" sz="2400" dirty="0">
                <a:effectLst/>
              </a:rPr>
              <a:t>Os papéis de cada esfera de governo e, em especial, no tocante à direção única</a:t>
            </a:r>
          </a:p>
          <a:p>
            <a:r>
              <a:rPr lang="pt-BR" sz="2400" dirty="0">
                <a:effectLst/>
              </a:rPr>
              <a:t>Os instrumentos gerenciais para que municípios e estados superem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Os mecanismos e fluxos de financiamento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3068637"/>
            <a:ext cx="10515600" cy="1603375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A </a:t>
            </a:r>
            <a:r>
              <a:rPr lang="pt-BR" sz="2400" dirty="0">
                <a:effectLst/>
              </a:rPr>
              <a:t>prática do acompanhamento, controle e avaliação do SUS</a:t>
            </a:r>
          </a:p>
          <a:p>
            <a:r>
              <a:rPr lang="pt-BR" sz="2400" dirty="0">
                <a:effectLst/>
              </a:rPr>
              <a:t>Os vínculos dos serviços com os seus usuários</a:t>
            </a:r>
          </a:p>
          <a:p>
            <a:r>
              <a:rPr lang="pt-BR" sz="2400" dirty="0">
                <a:effectLst/>
              </a:rPr>
              <a:t>NOB-96 incorpora a concepção de saúde estabelecida constitucionalmente</a:t>
            </a:r>
          </a:p>
          <a:p>
            <a:endParaRPr lang="pt-BR" sz="2400" dirty="0">
              <a:effectLst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effectLst/>
              </a:rPr>
              <a:t>A atenção à saúde compreende três grandes campos, a saber</a:t>
            </a:r>
            <a:r>
              <a:rPr lang="pt-BR" b="1" dirty="0" smtClean="0">
                <a:effectLst/>
              </a:rPr>
              <a:t>: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450431" y="2925763"/>
            <a:ext cx="5291138" cy="1603375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O </a:t>
            </a:r>
            <a:r>
              <a:rPr lang="pt-BR" sz="2400" dirty="0">
                <a:effectLst/>
              </a:rPr>
              <a:t>da assistência</a:t>
            </a:r>
          </a:p>
          <a:p>
            <a:r>
              <a:rPr lang="pt-BR" sz="2400" dirty="0">
                <a:effectLst/>
              </a:rPr>
              <a:t>O das intervenções ambientais</a:t>
            </a:r>
          </a:p>
          <a:p>
            <a:r>
              <a:rPr lang="pt-BR" sz="2400" dirty="0">
                <a:effectLst/>
              </a:rPr>
              <a:t>o das políticas externas ao setor saúde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A NOB-96 estabelece ainda uma divisão e um compartilhamento formal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24224" y="2840038"/>
            <a:ext cx="5543551" cy="1646238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Proteção </a:t>
            </a:r>
            <a:r>
              <a:rPr lang="pt-BR" sz="2400" dirty="0">
                <a:effectLst/>
              </a:rPr>
              <a:t>e de recuperação da saúde</a:t>
            </a:r>
          </a:p>
          <a:p>
            <a:r>
              <a:rPr lang="pt-BR" sz="2400" dirty="0">
                <a:effectLst/>
              </a:rPr>
              <a:t>Gestão e à gerência. </a:t>
            </a:r>
          </a:p>
          <a:p>
            <a:r>
              <a:rPr lang="pt-BR" sz="2400" dirty="0">
                <a:effectLst/>
              </a:rPr>
              <a:t>Medicina mágica da antiguidade clássica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 tratamento dado à saúde pública sofreu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35918" y="2954338"/>
            <a:ext cx="8920163" cy="1646238"/>
          </a:xfrm>
        </p:spPr>
        <p:txBody>
          <a:bodyPr>
            <a:normAutofit/>
          </a:bodyPr>
          <a:lstStyle/>
          <a:p>
            <a:r>
              <a:rPr lang="pt-BR" sz="2400" dirty="0" smtClean="0">
                <a:effectLst/>
              </a:rPr>
              <a:t>A </a:t>
            </a:r>
            <a:r>
              <a:rPr lang="pt-BR" sz="2400" dirty="0">
                <a:effectLst/>
              </a:rPr>
              <a:t>ênfase dos gregos e romanos antigos </a:t>
            </a:r>
          </a:p>
          <a:p>
            <a:r>
              <a:rPr lang="pt-BR" sz="2400" dirty="0">
                <a:effectLst/>
              </a:rPr>
              <a:t>A ênfase medieval das epidemias e nos mecanismos de transmissão</a:t>
            </a:r>
          </a:p>
          <a:p>
            <a:r>
              <a:rPr lang="pt-BR" sz="2400" dirty="0">
                <a:effectLst/>
              </a:rPr>
              <a:t>A ênfase do ilusionismo na prevalência das doenças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/>
              </a:rPr>
              <a:t>O novo pacto social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24113" y="2697162"/>
            <a:ext cx="8220075" cy="1674813"/>
          </a:xfrm>
        </p:spPr>
        <p:txBody>
          <a:bodyPr>
            <a:normAutofit/>
          </a:bodyPr>
          <a:lstStyle/>
          <a:p>
            <a:r>
              <a:rPr lang="pt-BR" sz="2400" dirty="0">
                <a:effectLst/>
              </a:rPr>
              <a:t>Volume de recursos destinados à saúde</a:t>
            </a:r>
          </a:p>
          <a:p>
            <a:r>
              <a:rPr lang="pt-BR" sz="2400" dirty="0">
                <a:effectLst/>
              </a:rPr>
              <a:t>Papéis no pacto nacional de saúde</a:t>
            </a:r>
          </a:p>
          <a:p>
            <a:r>
              <a:rPr lang="pt-BR" sz="2400" dirty="0">
                <a:effectLst/>
              </a:rPr>
              <a:t>O sistema se eximiria da atenção de média e alta complexidade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3912" y="24511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dirty="0" smtClean="0"/>
              <a:t>Obrigado!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594477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571CA391CD8464C9C8CEABD013CA2E2" ma:contentTypeVersion="10" ma:contentTypeDescription="Crie um novo documento." ma:contentTypeScope="" ma:versionID="6bd3e0496def4a3c4b4ed6af00b0a183">
  <xsd:schema xmlns:xsd="http://www.w3.org/2001/XMLSchema" xmlns:xs="http://www.w3.org/2001/XMLSchema" xmlns:p="http://schemas.microsoft.com/office/2006/metadata/properties" xmlns:ns2="dbf6a54b-d722-49d8-81aa-522563e92801" xmlns:ns3="a8eaee7b-8d25-4cfe-bd98-cf5184fa8fa7" targetNamespace="http://schemas.microsoft.com/office/2006/metadata/properties" ma:root="true" ma:fieldsID="b690d6a8969a0d83b63e8314e614e8c3" ns2:_="" ns3:_="">
    <xsd:import namespace="dbf6a54b-d722-49d8-81aa-522563e92801"/>
    <xsd:import namespace="a8eaee7b-8d25-4cfe-bd98-cf5184fa8f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f6a54b-d722-49d8-81aa-522563e928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aee7b-8d25-4cfe-bd98-cf5184fa8fa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DD2794-941A-4AC7-B182-EAB4D9E7BCAD}"/>
</file>

<file path=customXml/itemProps2.xml><?xml version="1.0" encoding="utf-8"?>
<ds:datastoreItem xmlns:ds="http://schemas.openxmlformats.org/officeDocument/2006/customXml" ds:itemID="{266AB94C-CC49-4310-9D92-9012A0ECC0D7}"/>
</file>

<file path=customXml/itemProps3.xml><?xml version="1.0" encoding="utf-8"?>
<ds:datastoreItem xmlns:ds="http://schemas.openxmlformats.org/officeDocument/2006/customXml" ds:itemID="{7CF9B21A-6690-4134-A294-250CCF1A7949}"/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1129</Words>
  <Application>Microsoft Office PowerPoint</Application>
  <PresentationFormat>Widescreen</PresentationFormat>
  <Paragraphs>145</Paragraphs>
  <Slides>33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Tema do Office</vt:lpstr>
      <vt:lpstr>LOGÍSTICA HOSPITALAR</vt:lpstr>
      <vt:lpstr>Unidade 1 | Introdução</vt:lpstr>
      <vt:lpstr>Unidade 1 | Objetivos</vt:lpstr>
      <vt:lpstr>Evolução do Sistema Hospitalar na História </vt:lpstr>
      <vt:lpstr>O objetivo desses templos</vt:lpstr>
      <vt:lpstr>A História da Medicina </vt:lpstr>
      <vt:lpstr>  A medicina recebe forte influência religiosa      </vt:lpstr>
      <vt:lpstr>Os hospitais na Idade Média</vt:lpstr>
      <vt:lpstr>O médico não era mais importante para o hospital</vt:lpstr>
      <vt:lpstr>O crescimento e desenvolvimento da teoria bacteriológica</vt:lpstr>
      <vt:lpstr>A crise da saúde pública </vt:lpstr>
      <vt:lpstr>O modelo assistencial</vt:lpstr>
      <vt:lpstr>Outros modelos são historicamente construídos</vt:lpstr>
      <vt:lpstr>Histórico dos modelos assistenciais à saúde no Brasil</vt:lpstr>
      <vt:lpstr>Reforma Sanitária de Oswaldo Cruz</vt:lpstr>
      <vt:lpstr>Novos modelos assistenciais</vt:lpstr>
      <vt:lpstr>Sistema Único de Saúde (SUS)</vt:lpstr>
      <vt:lpstr>As origens da saúde previdenciária</vt:lpstr>
      <vt:lpstr>Anos 1970: expansão e crise do modelo médico‑previdenciário</vt:lpstr>
      <vt:lpstr>Os anos 1980 e a transição para a seguridade social</vt:lpstr>
      <vt:lpstr>A VIII Conferência Nacional de Saúde</vt:lpstr>
      <vt:lpstr>A institucionalização do SUS: marcos legais e históricos</vt:lpstr>
      <vt:lpstr>O SUS como novo pacto social</vt:lpstr>
      <vt:lpstr>Os conselhos gestores de saúde </vt:lpstr>
      <vt:lpstr>Os anos 1990 e a implantação do SUS: desafios e inovações</vt:lpstr>
      <vt:lpstr>A palavra crise ronda o sistema desde o nascedouro </vt:lpstr>
      <vt:lpstr>O SUS e a NB-96</vt:lpstr>
      <vt:lpstr>Os mecanismos e fluxos de financiamento</vt:lpstr>
      <vt:lpstr>A atenção à saúde compreende três grandes campos, a saber:</vt:lpstr>
      <vt:lpstr>A NOB-96 estabelece ainda uma divisão e um compartilhamento formal</vt:lpstr>
      <vt:lpstr>O tratamento dado à saúde pública sofreu </vt:lpstr>
      <vt:lpstr>O novo pacto social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oniversidade</dc:title>
  <dc:creator>David Stephen</dc:creator>
  <cp:lastModifiedBy>PC</cp:lastModifiedBy>
  <cp:revision>141</cp:revision>
  <dcterms:created xsi:type="dcterms:W3CDTF">2018-06-24T01:31:09Z</dcterms:created>
  <dcterms:modified xsi:type="dcterms:W3CDTF">2020-02-01T16:24:09Z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0x0101001571CA391CD8464C9C8CEABD013CA2E2</vt:lpwstr>
  </property>
</Properties>
</file>