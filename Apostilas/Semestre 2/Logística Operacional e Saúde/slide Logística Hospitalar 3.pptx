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7.xml" ContentType="application/vnd.openxmlformats-officedocument.presentationml.slide+xml"/>
  <Override PartName="/ppt/slides/slide15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357" r:id="rId2"/>
    <p:sldId id="360" r:id="rId3"/>
    <p:sldId id="361" r:id="rId4"/>
    <p:sldId id="379" r:id="rId5"/>
    <p:sldId id="444" r:id="rId6"/>
    <p:sldId id="449" r:id="rId7"/>
    <p:sldId id="450" r:id="rId8"/>
    <p:sldId id="452" r:id="rId9"/>
    <p:sldId id="454" r:id="rId10"/>
    <p:sldId id="456" r:id="rId11"/>
    <p:sldId id="459" r:id="rId12"/>
    <p:sldId id="461" r:id="rId13"/>
    <p:sldId id="463" r:id="rId14"/>
    <p:sldId id="466" r:id="rId15"/>
    <p:sldId id="469" r:id="rId16"/>
    <p:sldId id="473" r:id="rId17"/>
    <p:sldId id="474" r:id="rId1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7A7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176" autoAdjust="0"/>
    <p:restoredTop sz="94249" autoAdjust="0"/>
  </p:normalViewPr>
  <p:slideViewPr>
    <p:cSldViewPr snapToGrid="0">
      <p:cViewPr varScale="1">
        <p:scale>
          <a:sx n="63" d="100"/>
          <a:sy n="63" d="100"/>
        </p:scale>
        <p:origin x="90" y="324"/>
      </p:cViewPr>
      <p:guideLst/>
    </p:cSldViewPr>
  </p:slideViewPr>
  <p:notesTextViewPr>
    <p:cViewPr>
      <p:scale>
        <a:sx n="300" d="100"/>
        <a:sy n="3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3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761CBA-9D21-4261-A5F0-48314F3E7340}" type="datetimeFigureOut">
              <a:rPr lang="pt-BR" smtClean="0"/>
              <a:t>01/02/2020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2FEA4D-570D-4DCF-B011-D568CE3AA0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6099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FEA4D-570D-4DCF-B011-D568CE3AA015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49204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4D3A6FB0-F37F-46DA-9E67-7C40BC81F2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D9C125E5-F883-48C1-8A70-F0ECDE9E02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9FA7189B-BB6A-46D0-8A39-89FCCD935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63BAF-D1AB-4C38-948D-4A36060575A2}" type="datetimeFigureOut">
              <a:rPr lang="pt-BR" smtClean="0"/>
              <a:t>01/02/2020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35C448A7-ECBC-47BF-81D7-3BE0B9D69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C6574199-6A2D-4A34-B5E0-1980A5B1D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45363-447A-476B-BF91-938BC8E7B2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502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37A8226-3798-49D5-B97A-64B7530DB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5F3355D9-6C3C-4F98-BDC9-41C5EE2C84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3867BD0C-72A7-48E4-BDBC-85D5C9B7F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63BAF-D1AB-4C38-948D-4A36060575A2}" type="datetimeFigureOut">
              <a:rPr lang="pt-BR" smtClean="0"/>
              <a:t>01/02/2020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E5A37E49-1DBF-483F-9B46-D99D51561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119DB606-3073-4632-9BCB-0770C7BFE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45363-447A-476B-BF91-938BC8E7B2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6207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976F40C-F385-4588-8934-789907414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xmlns="" id="{22336E6C-D800-4DB2-879A-B5D4A03CAD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94095AE9-A59F-4065-99B7-C5F10B7BC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63BAF-D1AB-4C38-948D-4A36060575A2}" type="datetimeFigureOut">
              <a:rPr lang="pt-BR" smtClean="0"/>
              <a:t>01/02/2020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195C450F-CF29-4A99-A6CE-451DE5DE7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690B191A-2BF0-435A-B5F0-0C5AECC5E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45363-447A-476B-BF91-938BC8E7B2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1155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9943D5E4-148C-459F-99A8-642D81D51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C570DBF5-78E2-487B-B28F-F5D4E30A3B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00EFCFCE-21CC-4DE0-B879-2D52B276E7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xmlns="" id="{20E85353-31E9-4963-8D87-022E900CF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63BAF-D1AB-4C38-948D-4A36060575A2}" type="datetimeFigureOut">
              <a:rPr lang="pt-BR" smtClean="0"/>
              <a:t>01/02/2020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xmlns="" id="{817926D1-516F-4581-BE09-AA6779660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xmlns="" id="{F27BA45A-6B64-4D74-B21C-FA671A584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45363-447A-476B-BF91-938BC8E7B2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3912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417922E-BA32-48DD-8F1E-5772EC452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xmlns="" id="{14E0FC4F-D2EC-467A-AA1F-484A20AA3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316FAE2B-7B40-4207-9773-C9733622A2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xmlns="" id="{E9F80720-706C-4085-A1C2-B7D31E0941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xmlns="" id="{319DE410-4AAB-431A-AA57-27BFAF4AFF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xmlns="" id="{3C1EBE1D-45CD-4A01-89D6-312F0E43D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63BAF-D1AB-4C38-948D-4A36060575A2}" type="datetimeFigureOut">
              <a:rPr lang="pt-BR" smtClean="0"/>
              <a:t>01/02/2020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xmlns="" id="{753001EF-C51A-4AD0-B9AD-0D7AAEF03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xmlns="" id="{CE4C2650-EF1E-4C5C-8CEE-A07B79E7A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45363-447A-476B-BF91-938BC8E7B2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8521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8396D29-CE3F-4480-8AA6-6C640C78D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xmlns="" id="{C372719B-6A1E-4D95-A9FF-821C9D700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63BAF-D1AB-4C38-948D-4A36060575A2}" type="datetimeFigureOut">
              <a:rPr lang="pt-BR" smtClean="0"/>
              <a:t>01/02/2020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C3580B7B-3153-4533-8E64-8057775D5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087EA84A-9D46-44CF-9B12-87E2C25B0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45363-447A-476B-BF91-938BC8E7B2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6784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xmlns="" id="{E109DADD-3E9A-4F68-A8D7-0A59CD89D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63BAF-D1AB-4C38-948D-4A36060575A2}" type="datetimeFigureOut">
              <a:rPr lang="pt-BR" smtClean="0"/>
              <a:t>01/02/2020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xmlns="" id="{55390C8D-5C23-4641-A537-69C2AD345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xmlns="" id="{B0012668-9BB0-4388-A164-5AF854B96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45363-447A-476B-BF91-938BC8E7B2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1219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2305F80-EAFA-4C1B-8CB5-0917EDAEF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504EA720-82BF-437B-9489-CA64202282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xmlns="" id="{9A3D99A1-9912-476F-9A6E-B078E50A91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xmlns="" id="{348C0697-750E-44F9-A485-481509F0B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63BAF-D1AB-4C38-948D-4A36060575A2}" type="datetimeFigureOut">
              <a:rPr lang="pt-BR" smtClean="0"/>
              <a:t>01/02/2020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xmlns="" id="{744F6CF8-05C8-4793-9472-2CA500DEB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xmlns="" id="{FAFF8AB4-E8EC-4869-8D48-02E26BA24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45363-447A-476B-BF91-938BC8E7B2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0053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798E4D1-93E7-46E4-AE9E-7913C8B21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xmlns="" id="{DF2C6B40-7120-4600-9858-122F37F73C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xmlns="" id="{63ED343E-66FE-47A0-980A-B478C568C4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xmlns="" id="{2D61BD9F-739A-4A96-8830-4C3C0606C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63BAF-D1AB-4C38-948D-4A36060575A2}" type="datetimeFigureOut">
              <a:rPr lang="pt-BR" smtClean="0"/>
              <a:t>01/02/2020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xmlns="" id="{208F799A-4DA9-44DA-BAED-84BB5F0EF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xmlns="" id="{792E0903-0208-4C75-A040-31192D3D9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45363-447A-476B-BF91-938BC8E7B2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861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C2157167-FD90-4A62-9DEE-933662847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xmlns="" id="{051EA4AC-A44F-4085-8148-EB77A8A879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F45EF876-355E-4D73-A66E-65D527BC2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63BAF-D1AB-4C38-948D-4A36060575A2}" type="datetimeFigureOut">
              <a:rPr lang="pt-BR" smtClean="0"/>
              <a:t>01/02/2020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4F632ABC-46ED-4A4E-AF04-BFC75B749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C67AFD55-D1D8-41E2-8757-0D6BA99A1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45363-447A-476B-BF91-938BC8E7B2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9979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xmlns="" id="{E3C09B3B-F365-406D-94F7-070585E025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xmlns="" id="{1E3E1111-9EA8-4518-AAA2-30033A2CB3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93A08BBF-4CE9-4943-B183-AED52AC13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63BAF-D1AB-4C38-948D-4A36060575A2}" type="datetimeFigureOut">
              <a:rPr lang="pt-BR" smtClean="0"/>
              <a:t>01/02/2020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2BDAE6B9-1F17-4A46-A5B5-F0A99775E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C9F74F8F-39EF-4C84-B6F3-AD47BD936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45363-447A-476B-BF91-938BC8E7B2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1395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B8921AE1-807C-45A9-B785-478B8F7730FC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xmlns="" id="{A9947C06-89EE-461F-B0F3-9E7915BEB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xmlns="" id="{C2E7604D-A45B-4B9A-B334-7F9DCC38E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FAB26B07-CF5C-44F2-A5B7-B6D4DC4A44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D63BAF-D1AB-4C38-948D-4A36060575A2}" type="datetimeFigureOut">
              <a:rPr lang="pt-BR" smtClean="0"/>
              <a:t>01/02/2020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552CC0F8-7FDE-4F9C-883E-FA0F76DAF5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0BC26AE1-99B2-4A19-AEFA-3C17DDE7C4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245363-447A-476B-BF91-938BC8E7B28E}" type="slidenum">
              <a:rPr lang="pt-BR" smtClean="0"/>
              <a:t>‹nº›</a:t>
            </a:fld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xmlns="" id="{0F89DE09-C03B-410E-84BB-FA073049FC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30" t="16008" r="9930" b="23539"/>
          <a:stretch/>
        </p:blipFill>
        <p:spPr>
          <a:xfrm>
            <a:off x="10591869" y="5602198"/>
            <a:ext cx="1523862" cy="1149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766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3">
            <a:extLst>
              <a:ext uri="{FF2B5EF4-FFF2-40B4-BE49-F238E27FC236}">
                <a16:creationId xmlns:a16="http://schemas.microsoft.com/office/drawing/2014/main" xmlns="" id="{4C4F2339-3F43-4617-9804-8B27EE7E83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26883"/>
            <a:ext cx="9144000" cy="1257802"/>
          </a:xfrm>
        </p:spPr>
        <p:txBody>
          <a:bodyPr>
            <a:noAutofit/>
          </a:bodyPr>
          <a:lstStyle/>
          <a:p>
            <a:r>
              <a:rPr lang="pt-BR" sz="4400" dirty="0" smtClean="0">
                <a:effectLst/>
              </a:rPr>
              <a:t>LOGÍSTICA HOSPITALAR</a:t>
            </a:r>
            <a:endParaRPr lang="pt-BR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10" name="Subtítulo 4">
            <a:extLst>
              <a:ext uri="{FF2B5EF4-FFF2-40B4-BE49-F238E27FC236}">
                <a16:creationId xmlns:a16="http://schemas.microsoft.com/office/drawing/2014/main" xmlns="" id="{35AD848D-C7DA-49FD-9B31-F936A9EC7076}"/>
              </a:ext>
            </a:extLst>
          </p:cNvPr>
          <p:cNvSpPr txBox="1">
            <a:spLocks/>
          </p:cNvSpPr>
          <p:nvPr/>
        </p:nvSpPr>
        <p:spPr>
          <a:xfrm>
            <a:off x="1524000" y="4563034"/>
            <a:ext cx="9144000" cy="5873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smtClean="0">
                <a:effectLst/>
              </a:rPr>
              <a:t>EDMUNDO SOUZA</a:t>
            </a:r>
            <a:endParaRPr lang="pt-BR" dirty="0">
              <a:effectLst/>
            </a:endParaRPr>
          </a:p>
        </p:txBody>
      </p:sp>
      <p:cxnSp>
        <p:nvCxnSpPr>
          <p:cNvPr id="11" name="Conector reto 10"/>
          <p:cNvCxnSpPr/>
          <p:nvPr/>
        </p:nvCxnSpPr>
        <p:spPr>
          <a:xfrm flipV="1">
            <a:off x="-128789" y="5500047"/>
            <a:ext cx="12320789" cy="2499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/>
          <p:cNvSpPr txBox="1"/>
          <p:nvPr/>
        </p:nvSpPr>
        <p:spPr>
          <a:xfrm>
            <a:off x="5033689" y="5849735"/>
            <a:ext cx="21246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spc="300" dirty="0" smtClean="0">
                <a:solidFill>
                  <a:schemeClr val="bg1"/>
                </a:solidFill>
              </a:rPr>
              <a:t>UNIDADE </a:t>
            </a:r>
            <a:r>
              <a:rPr lang="pt-BR" sz="2400" spc="300" dirty="0" smtClean="0">
                <a:solidFill>
                  <a:schemeClr val="bg1"/>
                </a:solidFill>
              </a:rPr>
              <a:t>03</a:t>
            </a:r>
            <a:endParaRPr lang="pt-BR" sz="2400" spc="3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8093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55AA40A-0415-47DA-BCE5-0076E878A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692" y="248014"/>
            <a:ext cx="10515600" cy="1325563"/>
          </a:xfrm>
        </p:spPr>
        <p:txBody>
          <a:bodyPr/>
          <a:lstStyle/>
          <a:p>
            <a:r>
              <a:rPr lang="pt-BR" b="1" dirty="0">
                <a:effectLst/>
              </a:rPr>
              <a:t>Unidade 3 | 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45205521-02CD-43CD-B824-4073F365D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9492" y="2282726"/>
            <a:ext cx="5979942" cy="268243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2400" dirty="0">
                <a:effectLst/>
              </a:rPr>
              <a:t>Definição:</a:t>
            </a:r>
          </a:p>
          <a:p>
            <a:r>
              <a:rPr lang="pt-BR" sz="2400" dirty="0" smtClean="0">
                <a:effectLst/>
              </a:rPr>
              <a:t>O </a:t>
            </a:r>
            <a:r>
              <a:rPr lang="pt-BR" sz="2400" dirty="0">
                <a:effectLst/>
              </a:rPr>
              <a:t>estoque representa um conjunto variado de materiais que a empresa possui e utiliza no processo de produção de seus produtos e/ou serviços, que dependendo do seu perfil podem apresentar diferentes características e formas de gestão.</a:t>
            </a:r>
          </a:p>
          <a:p>
            <a:endParaRPr lang="pt-BR" sz="2400" dirty="0">
              <a:effectLst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xmlns="" id="{CCB5883C-3CC4-487B-B7FF-792EB3AEAD7F}"/>
              </a:ext>
            </a:extLst>
          </p:cNvPr>
          <p:cNvSpPr/>
          <p:nvPr/>
        </p:nvSpPr>
        <p:spPr>
          <a:xfrm>
            <a:off x="351692" y="1690688"/>
            <a:ext cx="4749019" cy="44146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xmlns="" id="{C58D18FF-1857-4C8E-9B6C-5668B8D125D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795" y="1690688"/>
            <a:ext cx="4785916" cy="441468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74722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55AA40A-0415-47DA-BCE5-0076E878A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689" y="251905"/>
            <a:ext cx="10515600" cy="1325563"/>
          </a:xfrm>
        </p:spPr>
        <p:txBody>
          <a:bodyPr/>
          <a:lstStyle/>
          <a:p>
            <a:r>
              <a:rPr lang="pt-BR" b="1" dirty="0">
                <a:effectLst/>
              </a:rPr>
              <a:t>Unidade 3 | Tipos de Estoques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45205521-02CD-43CD-B824-4073F365D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7802" y="1913641"/>
            <a:ext cx="5601987" cy="3644585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pt-BR" sz="2600" b="1" dirty="0">
                <a:effectLst/>
              </a:rPr>
              <a:t>Estoque de antecipação ou sazonal: </a:t>
            </a:r>
            <a:r>
              <a:rPr lang="pt-BR" dirty="0">
                <a:effectLst/>
              </a:rPr>
              <a:t>geralmente este tipo é adotado quando há variações relevantes de fornecimento, assim a empresa o adota na tentativa de nivelar estas flutuações, adquirindo com antecedência uma quantidade de itens estabelecidos na previsão de uma demanda futura. Esta é uma prática comum </a:t>
            </a:r>
            <a:br>
              <a:rPr lang="pt-BR" dirty="0">
                <a:effectLst/>
              </a:rPr>
            </a:br>
            <a:r>
              <a:rPr lang="pt-BR" dirty="0">
                <a:effectLst/>
              </a:rPr>
              <a:t>em produtos como: ovos de páscoa, árvores de natal, etc.</a:t>
            </a:r>
          </a:p>
          <a:p>
            <a:pPr marL="0" indent="0">
              <a:buNone/>
            </a:pPr>
            <a:endParaRPr lang="pt-BR" dirty="0">
              <a:effectLst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xmlns="" id="{291B8469-8114-4D01-9F10-A23EAF8ADEB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908" y="1913641"/>
            <a:ext cx="4770688" cy="337526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77955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21C34D6-AAE8-42D2-8583-1008F87DA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b="1" dirty="0">
                <a:effectLst/>
              </a:rPr>
              <a:t>Tipos de Estoques</a:t>
            </a:r>
            <a:endParaRPr lang="pt-BR" b="1" dirty="0">
              <a:effectLst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C9D43AF4-0C2B-4A66-BB71-CC565C890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790" y="1536141"/>
            <a:ext cx="8799638" cy="4568444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200" u="sng" dirty="0">
                <a:effectLst/>
              </a:rPr>
              <a:t>Estoque consignado</a:t>
            </a:r>
            <a:r>
              <a:rPr lang="pt-BR" sz="2200" dirty="0">
                <a:effectLst/>
              </a:rPr>
              <a:t>: é aquele que é mantido por fornecedores ou até clientes (terceiros). Este armazenamento é condicionado por meio de contratos em que </a:t>
            </a:r>
            <a:br>
              <a:rPr lang="pt-BR" sz="2200" dirty="0">
                <a:effectLst/>
              </a:rPr>
            </a:br>
            <a:r>
              <a:rPr lang="pt-BR" sz="2200" dirty="0">
                <a:effectLst/>
              </a:rPr>
              <a:t>a propriedade do material continua sendo do fabricante do produto</a:t>
            </a:r>
            <a:r>
              <a:rPr lang="pt-BR" sz="2200" dirty="0" smtClean="0">
                <a:effectLst/>
              </a:rPr>
              <a:t>.</a:t>
            </a:r>
          </a:p>
          <a:p>
            <a:pPr marL="0" indent="0" algn="just">
              <a:buNone/>
            </a:pPr>
            <a:r>
              <a:rPr lang="pt-BR" sz="2200" u="sng" dirty="0">
                <a:effectLst/>
              </a:rPr>
              <a:t>Estoque de contingência</a:t>
            </a:r>
            <a:r>
              <a:rPr lang="pt-BR" sz="2200" dirty="0">
                <a:effectLst/>
              </a:rPr>
              <a:t>: são os materiais mantidos como garantia para cobrir situações de falha extraordinária dos processos da organização</a:t>
            </a:r>
            <a:r>
              <a:rPr lang="pt-BR" sz="2200" dirty="0" smtClean="0">
                <a:effectLst/>
              </a:rPr>
              <a:t>.</a:t>
            </a:r>
          </a:p>
          <a:p>
            <a:pPr marL="0" indent="0" algn="just">
              <a:buNone/>
            </a:pPr>
            <a:r>
              <a:rPr lang="pt-BR" sz="2200" u="sng" dirty="0">
                <a:effectLst/>
              </a:rPr>
              <a:t>Estoque inativo</a:t>
            </a:r>
            <a:r>
              <a:rPr lang="pt-BR" sz="2200" dirty="0">
                <a:effectLst/>
              </a:rPr>
              <a:t>: são itens que não saíram nos últimos períodos e encontram-se obsoletos.</a:t>
            </a:r>
          </a:p>
          <a:p>
            <a:pPr marL="0" indent="0" algn="just">
              <a:buNone/>
            </a:pPr>
            <a:r>
              <a:rPr lang="pt-BR" sz="2200" u="sng" dirty="0">
                <a:effectLst/>
              </a:rPr>
              <a:t>Estoque de proteção</a:t>
            </a:r>
            <a:r>
              <a:rPr lang="pt-BR" sz="2200" dirty="0">
                <a:effectLst/>
              </a:rPr>
              <a:t>: também conhecido como estoque isolador, tem o intuito de compensar as demandas acima do esperado, além disso, também compensa as incertezas de fornecimento</a:t>
            </a:r>
            <a:r>
              <a:rPr lang="pt-BR" sz="2200" dirty="0" smtClean="0">
                <a:effectLst/>
              </a:rPr>
              <a:t>.</a:t>
            </a:r>
          </a:p>
          <a:p>
            <a:pPr marL="0" indent="0" algn="just">
              <a:buNone/>
            </a:pPr>
            <a:r>
              <a:rPr lang="pt-BR" sz="2200" u="sng" dirty="0">
                <a:effectLst/>
              </a:rPr>
              <a:t>Estoque regulador</a:t>
            </a:r>
            <a:r>
              <a:rPr lang="pt-BR" sz="2200" dirty="0">
                <a:effectLst/>
              </a:rPr>
              <a:t>: é aquele que é mantido por uma das filiais </a:t>
            </a:r>
            <a:r>
              <a:rPr lang="pt-BR" sz="2200" dirty="0" smtClean="0">
                <a:effectLst/>
              </a:rPr>
              <a:t>para </a:t>
            </a:r>
            <a:r>
              <a:rPr lang="pt-BR" sz="2200" dirty="0">
                <a:effectLst/>
              </a:rPr>
              <a:t>suprir </a:t>
            </a:r>
            <a:br>
              <a:rPr lang="pt-BR" sz="2200" dirty="0">
                <a:effectLst/>
              </a:rPr>
            </a:br>
            <a:r>
              <a:rPr lang="pt-BR" sz="2200" dirty="0">
                <a:effectLst/>
              </a:rPr>
              <a:t>as eventuais necessidades das outras.</a:t>
            </a:r>
          </a:p>
          <a:p>
            <a:pPr marL="0" indent="0" algn="just">
              <a:buNone/>
            </a:pPr>
            <a:endParaRPr lang="pt-BR" sz="2200" dirty="0">
              <a:effectLst/>
            </a:endParaRPr>
          </a:p>
          <a:p>
            <a:pPr marL="0" indent="0" algn="just">
              <a:buNone/>
            </a:pPr>
            <a:endParaRPr lang="pt-BR" sz="2200" dirty="0">
              <a:effectLst/>
            </a:endParaRPr>
          </a:p>
          <a:p>
            <a:pPr marL="0" indent="0" algn="just">
              <a:buNone/>
            </a:pPr>
            <a:endParaRPr lang="pt-BR" sz="2200" dirty="0">
              <a:effectLst/>
            </a:endParaRPr>
          </a:p>
          <a:p>
            <a:pPr marL="0" indent="0" algn="just">
              <a:buNone/>
            </a:pPr>
            <a:endParaRPr lang="pt-BR" sz="22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461360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21C34D6-AAE8-42D2-8583-1008F87DA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224" y="194042"/>
            <a:ext cx="10515600" cy="1325563"/>
          </a:xfrm>
        </p:spPr>
        <p:txBody>
          <a:bodyPr/>
          <a:lstStyle/>
          <a:p>
            <a:r>
              <a:rPr lang="pt-BR" b="1" dirty="0">
                <a:effectLst/>
              </a:rPr>
              <a:t>Tipos de Estoques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C9D43AF4-0C2B-4A66-BB71-CC565C890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118" y="1352180"/>
            <a:ext cx="10673812" cy="5164530"/>
          </a:xfrm>
        </p:spPr>
        <p:txBody>
          <a:bodyPr>
            <a:noAutofit/>
          </a:bodyPr>
          <a:lstStyle/>
          <a:p>
            <a:pPr algn="just"/>
            <a:r>
              <a:rPr lang="pt-BR" sz="2200" u="sng" dirty="0">
                <a:effectLst/>
              </a:rPr>
              <a:t>Estoque de ciclo</a:t>
            </a:r>
            <a:r>
              <a:rPr lang="pt-BR" sz="2200" dirty="0">
                <a:effectLst/>
              </a:rPr>
              <a:t>: ocorre principalmente em empresas que operam com vários produtos ou que apresentam vários estágios de produção. Assim, estas empresas realizam o planejamento do estoque de acordo com o ciclo produtivo programado. </a:t>
            </a:r>
          </a:p>
          <a:p>
            <a:pPr algn="just"/>
            <a:r>
              <a:rPr lang="pt-BR" sz="2200" u="sng" dirty="0">
                <a:effectLst/>
              </a:rPr>
              <a:t>Estoque em trânsito</a:t>
            </a:r>
            <a:r>
              <a:rPr lang="pt-BR" sz="2200" dirty="0">
                <a:effectLst/>
              </a:rPr>
              <a:t>: refere-se ao período em que os produtos ficam nos veículos sendo transportados dentro da cadeia de suprimentos</a:t>
            </a:r>
            <a:r>
              <a:rPr lang="pt-BR" sz="2200" dirty="0" smtClean="0">
                <a:effectLst/>
              </a:rPr>
              <a:t>.</a:t>
            </a:r>
          </a:p>
          <a:p>
            <a:pPr marL="0" indent="0" algn="just">
              <a:buNone/>
              <a:defRPr/>
            </a:pPr>
            <a:r>
              <a:rPr lang="pt-BR" sz="2200" dirty="0">
                <a:effectLst/>
              </a:rPr>
              <a:t>Além destas diversas classificações, os estoques ainda podem receber diferentes denominações de acordo com a sua disponibilidade, sendo assim, eles podem ser identificados como: </a:t>
            </a:r>
          </a:p>
          <a:p>
            <a:pPr algn="just">
              <a:defRPr/>
            </a:pPr>
            <a:r>
              <a:rPr lang="pt-BR" sz="2200" u="sng" dirty="0" smtClean="0">
                <a:effectLst/>
              </a:rPr>
              <a:t>Estoque </a:t>
            </a:r>
            <a:r>
              <a:rPr lang="pt-BR" sz="2200" u="sng" dirty="0">
                <a:effectLst/>
              </a:rPr>
              <a:t>físico</a:t>
            </a:r>
            <a:r>
              <a:rPr lang="pt-BR" sz="2200" dirty="0">
                <a:effectLst/>
              </a:rPr>
              <a:t>: quantidade de materiais armazenados sob guarda do almoxarifado, à espera de utilização (disponível + empenhado</a:t>
            </a:r>
            <a:r>
              <a:rPr lang="pt-BR" sz="2200" dirty="0" smtClean="0">
                <a:effectLst/>
              </a:rPr>
              <a:t>).</a:t>
            </a:r>
          </a:p>
          <a:p>
            <a:pPr algn="just">
              <a:defRPr/>
            </a:pPr>
            <a:r>
              <a:rPr lang="pt-BR" sz="2200" u="sng" dirty="0">
                <a:effectLst/>
              </a:rPr>
              <a:t>Estoque disponível</a:t>
            </a:r>
            <a:r>
              <a:rPr lang="pt-BR" sz="2200" dirty="0">
                <a:effectLst/>
              </a:rPr>
              <a:t>: quantidade física de materiais existentes no almoxarifado sem embargo, ou seja, que podem ser utilizados</a:t>
            </a:r>
            <a:r>
              <a:rPr lang="pt-BR" sz="2200" dirty="0" smtClean="0">
                <a:effectLst/>
              </a:rPr>
              <a:t>.</a:t>
            </a:r>
          </a:p>
          <a:p>
            <a:pPr algn="just">
              <a:defRPr/>
            </a:pPr>
            <a:r>
              <a:rPr lang="pt-BR" sz="2200" u="sng" dirty="0">
                <a:effectLst/>
              </a:rPr>
              <a:t>Estoque empenhado</a:t>
            </a:r>
            <a:r>
              <a:rPr lang="pt-BR" sz="2200" dirty="0">
                <a:effectLst/>
              </a:rPr>
              <a:t>: quantidade de materiais com destino pré-determinado, </a:t>
            </a:r>
            <a:br>
              <a:rPr lang="pt-BR" sz="2200" dirty="0">
                <a:effectLst/>
              </a:rPr>
            </a:br>
            <a:r>
              <a:rPr lang="pt-BR" sz="2200" dirty="0">
                <a:effectLst/>
              </a:rPr>
              <a:t>mas que permanecem no almoxarifado. </a:t>
            </a:r>
          </a:p>
          <a:p>
            <a:pPr algn="just">
              <a:defRPr/>
            </a:pPr>
            <a:endParaRPr lang="pt-BR" sz="2200" dirty="0">
              <a:effectLst/>
            </a:endParaRPr>
          </a:p>
          <a:p>
            <a:pPr algn="just"/>
            <a:endParaRPr lang="pt-BR" sz="22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07670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21C34D6-AAE8-42D2-8583-1008F87DA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633" y="252348"/>
            <a:ext cx="10796451" cy="1325563"/>
          </a:xfrm>
        </p:spPr>
        <p:txBody>
          <a:bodyPr/>
          <a:lstStyle/>
          <a:p>
            <a:r>
              <a:rPr lang="pt-BR" altLang="pt-BR" b="1" dirty="0">
                <a:effectLst/>
              </a:rPr>
              <a:t>Considerações</a:t>
            </a:r>
            <a:endParaRPr lang="pt-BR" b="1" dirty="0">
              <a:effectLst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C9D43AF4-0C2B-4A66-BB71-CC565C890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8858" y="2987328"/>
            <a:ext cx="5775791" cy="1608848"/>
          </a:xfrm>
        </p:spPr>
        <p:txBody>
          <a:bodyPr>
            <a:noAutofit/>
          </a:bodyPr>
          <a:lstStyle/>
          <a:p>
            <a:pPr algn="just"/>
            <a:r>
              <a:rPr lang="pt-BR" sz="2200" dirty="0">
                <a:effectLst/>
              </a:rPr>
              <a:t>Como vimos, as definições dos tipos de estoques definem conceitos para a administração de uma atividade produtiva. Sendo assim, vamos utilizar estes conceitos no exercício a seguir.</a:t>
            </a:r>
          </a:p>
          <a:p>
            <a:pPr algn="just"/>
            <a:endParaRPr lang="pt-BR" sz="2200" dirty="0">
              <a:effectLst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xmlns="" id="{9C459871-D441-4415-A5C9-C37B75CA9839}"/>
              </a:ext>
            </a:extLst>
          </p:cNvPr>
          <p:cNvSpPr/>
          <p:nvPr/>
        </p:nvSpPr>
        <p:spPr>
          <a:xfrm>
            <a:off x="548640" y="1674053"/>
            <a:ext cx="4806462" cy="42353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xmlns="" id="{30FE6D39-5EEA-4949-ABEA-F56E49E106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1690688"/>
            <a:ext cx="4806463" cy="423539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78676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21C34D6-AAE8-42D2-8583-1008F87DA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712" y="184821"/>
            <a:ext cx="10796451" cy="1325563"/>
          </a:xfrm>
        </p:spPr>
        <p:txBody>
          <a:bodyPr/>
          <a:lstStyle/>
          <a:p>
            <a:r>
              <a:rPr lang="pt-BR" altLang="pt-BR" b="1" dirty="0">
                <a:effectLst/>
              </a:rPr>
              <a:t>Razões para manter estoques</a:t>
            </a:r>
            <a:endParaRPr lang="pt-BR" b="1" dirty="0">
              <a:effectLst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C9D43AF4-0C2B-4A66-BB71-CC565C890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307" y="1819653"/>
            <a:ext cx="10836160" cy="3383411"/>
          </a:xfrm>
        </p:spPr>
        <p:txBody>
          <a:bodyPr>
            <a:noAutofit/>
          </a:bodyPr>
          <a:lstStyle/>
          <a:p>
            <a:pPr algn="just"/>
            <a:r>
              <a:rPr lang="pt-BR" sz="2400" dirty="0">
                <a:effectLst/>
              </a:rPr>
              <a:t>As decisões relacionadas ao estoque envolvem </a:t>
            </a:r>
            <a:r>
              <a:rPr lang="pt-BR" sz="2400" b="1" dirty="0">
                <a:effectLst/>
              </a:rPr>
              <a:t>alto risco </a:t>
            </a:r>
            <a:r>
              <a:rPr lang="pt-BR" sz="2400" dirty="0">
                <a:effectLst/>
              </a:rPr>
              <a:t>e </a:t>
            </a:r>
            <a:r>
              <a:rPr lang="pt-BR" sz="2400" b="1" dirty="0">
                <a:effectLst/>
              </a:rPr>
              <a:t>alto impacto </a:t>
            </a:r>
            <a:r>
              <a:rPr lang="pt-BR" sz="2400" dirty="0">
                <a:effectLst/>
              </a:rPr>
              <a:t>ao longo da cadeia de suprimento. Estoques são mantidos por uma variedade de motivos, e os mecanismos de controle precisam encarar as seguintes considerações</a:t>
            </a:r>
            <a:r>
              <a:rPr lang="pt-BR" sz="2400" dirty="0" smtClean="0">
                <a:effectLst/>
              </a:rPr>
              <a:t>:</a:t>
            </a:r>
          </a:p>
          <a:p>
            <a:pPr algn="just">
              <a:defRPr/>
            </a:pPr>
            <a:r>
              <a:rPr lang="pt-BR" sz="2400" dirty="0">
                <a:effectLst/>
              </a:rPr>
              <a:t>Mudanças inesperadas na demanda do cliente (ciclos de vida mais curtos, presença de muitos produtos competindo no mercado).</a:t>
            </a:r>
          </a:p>
          <a:p>
            <a:pPr algn="just">
              <a:defRPr/>
            </a:pPr>
            <a:r>
              <a:rPr lang="pt-BR" sz="2400" dirty="0" smtClean="0">
                <a:effectLst/>
              </a:rPr>
              <a:t>Incerteza </a:t>
            </a:r>
            <a:r>
              <a:rPr lang="pt-BR" sz="2400" dirty="0">
                <a:effectLst/>
              </a:rPr>
              <a:t>de mercado (quantidade e qualidade do suprimento).</a:t>
            </a:r>
          </a:p>
          <a:p>
            <a:pPr algn="just">
              <a:defRPr/>
            </a:pPr>
            <a:r>
              <a:rPr lang="pt-BR" sz="2400" i="1" dirty="0" smtClean="0">
                <a:effectLst/>
              </a:rPr>
              <a:t>Lead-times</a:t>
            </a:r>
            <a:r>
              <a:rPr lang="pt-BR" sz="2400" dirty="0">
                <a:effectLst/>
              </a:rPr>
              <a:t>.</a:t>
            </a:r>
          </a:p>
          <a:p>
            <a:pPr algn="just">
              <a:defRPr/>
            </a:pPr>
            <a:r>
              <a:rPr lang="pt-BR" sz="2400" dirty="0" smtClean="0">
                <a:effectLst/>
              </a:rPr>
              <a:t>As </a:t>
            </a:r>
            <a:r>
              <a:rPr lang="pt-BR" sz="2400" dirty="0">
                <a:effectLst/>
              </a:rPr>
              <a:t>economias de escala oferecidas pelas transportadoras.</a:t>
            </a:r>
          </a:p>
          <a:p>
            <a:pPr algn="just"/>
            <a:endParaRPr lang="en-US" sz="2400" dirty="0">
              <a:effectLst/>
            </a:endParaRPr>
          </a:p>
          <a:p>
            <a:pPr algn="just"/>
            <a:endParaRPr lang="pt-BR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40580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21C34D6-AAE8-42D2-8583-1008F87DA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16" y="300730"/>
            <a:ext cx="10796451" cy="1325563"/>
          </a:xfrm>
        </p:spPr>
        <p:txBody>
          <a:bodyPr/>
          <a:lstStyle/>
          <a:p>
            <a:r>
              <a:rPr lang="pt-BR" altLang="pt-BR" b="1" dirty="0">
                <a:effectLst/>
              </a:rPr>
              <a:t>Melhorar o nível de serviço oferecido</a:t>
            </a:r>
            <a:endParaRPr lang="pt-BR" b="1" dirty="0">
              <a:effectLst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C9D43AF4-0C2B-4A66-BB71-CC565C890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16" y="1626293"/>
            <a:ext cx="8466742" cy="1608848"/>
          </a:xfrm>
        </p:spPr>
        <p:txBody>
          <a:bodyPr>
            <a:noAutofit/>
          </a:bodyPr>
          <a:lstStyle/>
          <a:p>
            <a:pPr algn="just"/>
            <a:r>
              <a:rPr lang="pt-BR" sz="2400" dirty="0">
                <a:effectLst/>
              </a:rPr>
              <a:t>As metas pessoais são aquelas que refletem os desejos das pessoas que lá trabalham. </a:t>
            </a:r>
            <a:r>
              <a:rPr lang="pt-BR" sz="2400" dirty="0" err="1">
                <a:effectLst/>
              </a:rPr>
              <a:t>Ex</a:t>
            </a:r>
            <a:r>
              <a:rPr lang="pt-BR" sz="2400" dirty="0">
                <a:effectLst/>
              </a:rPr>
              <a:t>: desejo de ser promovido em um ano para o cargo de supervisor</a:t>
            </a:r>
            <a:r>
              <a:rPr lang="pt-BR" sz="2400" dirty="0" smtClean="0">
                <a:effectLst/>
              </a:rPr>
              <a:t>.</a:t>
            </a:r>
          </a:p>
          <a:p>
            <a:pPr algn="just"/>
            <a:r>
              <a:rPr lang="pt-BR" sz="2400" dirty="0">
                <a:effectLst/>
              </a:rPr>
              <a:t>O objetivo central do gerenciamento de estoque está relacionado à disponibilidade do produto no tempo e nas quantidades necessárias. A probabilidade associada ao atendimento do pedido com um produto do estoque atual é denominada nível de serviço (BALLOU, 2007) e pode ser mensurada como: </a:t>
            </a:r>
          </a:p>
          <a:p>
            <a:pPr algn="just"/>
            <a:r>
              <a:rPr lang="pt-BR" sz="2400" dirty="0">
                <a:effectLst/>
              </a:rPr>
              <a:t>Nível de serviço = 1 </a:t>
            </a:r>
            <a:r>
              <a:rPr lang="pt-BR" sz="2400" dirty="0" smtClean="0">
                <a:effectLst/>
              </a:rPr>
              <a:t>- </a:t>
            </a:r>
            <a:r>
              <a:rPr lang="pt-BR" sz="2400" dirty="0">
                <a:effectLst/>
              </a:rPr>
              <a:t>Número esperado de unidades faltantes</a:t>
            </a:r>
          </a:p>
          <a:p>
            <a:pPr marL="0" indent="0" algn="just">
              <a:buNone/>
            </a:pPr>
            <a:endParaRPr lang="pt-BR" sz="2400" dirty="0">
              <a:effectLst/>
            </a:endParaRPr>
          </a:p>
          <a:p>
            <a:pPr algn="just"/>
            <a:endParaRPr lang="pt-BR" sz="2400" dirty="0">
              <a:effectLst/>
            </a:endParaRPr>
          </a:p>
        </p:txBody>
      </p:sp>
      <p:cxnSp>
        <p:nvCxnSpPr>
          <p:cNvPr id="6" name="Conector reto 5"/>
          <p:cNvCxnSpPr/>
          <p:nvPr/>
        </p:nvCxnSpPr>
        <p:spPr>
          <a:xfrm>
            <a:off x="824248" y="5383369"/>
            <a:ext cx="788187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/>
          <p:cNvSpPr txBox="1"/>
          <p:nvPr/>
        </p:nvSpPr>
        <p:spPr>
          <a:xfrm>
            <a:off x="1693571" y="5383369"/>
            <a:ext cx="61432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</a:rPr>
              <a:t>Demanda total</a:t>
            </a:r>
          </a:p>
          <a:p>
            <a:pPr algn="ctr"/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492017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21C34D6-AAE8-42D2-8583-1008F87DA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b="1" dirty="0" smtClean="0">
                <a:effectLst/>
              </a:rPr>
              <a:t>Melhorar o nível de serviço oferecido</a:t>
            </a:r>
            <a:endParaRPr lang="pt-BR" b="1" dirty="0">
              <a:effectLst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C9D43AF4-0C2B-4A66-BB71-CC565C890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8554" y="2053477"/>
            <a:ext cx="5597852" cy="3085194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pt-BR" sz="2400" dirty="0" smtClean="0">
                <a:effectLst/>
              </a:rPr>
              <a:t>O nível de serviço varia entre 0 e 1, e refere-se à uma meta de desempenho que é definida pela gerência. É a partir dele que se definem os objetivos de desempenho do estoque.</a:t>
            </a:r>
          </a:p>
          <a:p>
            <a:pPr algn="just"/>
            <a:r>
              <a:rPr lang="pt-BR" sz="2400" dirty="0">
                <a:effectLst/>
              </a:rPr>
              <a:t>É importante destacar que não necessariamente o maior nível de serviço é o mais adequado para a organização. A empresa deve buscar o intervalo no qual a lucratividade for maior. A figura mostra estas relações entre receitas, </a:t>
            </a:r>
            <a:br>
              <a:rPr lang="pt-BR" sz="2400" dirty="0">
                <a:effectLst/>
              </a:rPr>
            </a:br>
            <a:r>
              <a:rPr lang="pt-BR" sz="2400" dirty="0">
                <a:effectLst/>
              </a:rPr>
              <a:t>despesas, nível de serviço </a:t>
            </a:r>
            <a:br>
              <a:rPr lang="pt-BR" sz="2400" dirty="0">
                <a:effectLst/>
              </a:rPr>
            </a:br>
            <a:r>
              <a:rPr lang="pt-BR" sz="2400" dirty="0">
                <a:effectLst/>
              </a:rPr>
              <a:t>e lucratividade. 	</a:t>
            </a:r>
          </a:p>
          <a:p>
            <a:pPr algn="just"/>
            <a:endParaRPr lang="pt-BR" sz="2400" dirty="0" smtClean="0">
              <a:effectLst/>
            </a:endParaRPr>
          </a:p>
          <a:p>
            <a:pPr lvl="0" algn="just"/>
            <a:endParaRPr lang="pt-BR" sz="2400" dirty="0">
              <a:effectLst/>
            </a:endParaRPr>
          </a:p>
        </p:txBody>
      </p:sp>
      <p:pic>
        <p:nvPicPr>
          <p:cNvPr id="7" name="Picture 3" descr="Captura de Tela 2019-03-12 às 14.10.54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3621" t="37244" r="19096" b="21394"/>
          <a:stretch/>
        </p:blipFill>
        <p:spPr bwMode="auto">
          <a:xfrm>
            <a:off x="7128631" y="2182659"/>
            <a:ext cx="4086886" cy="25950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326204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21C34D6-AAE8-42D2-8583-1008F87DA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549" y="365125"/>
            <a:ext cx="11747862" cy="1325563"/>
          </a:xfrm>
        </p:spPr>
        <p:txBody>
          <a:bodyPr>
            <a:normAutofit/>
          </a:bodyPr>
          <a:lstStyle/>
          <a:p>
            <a:r>
              <a:rPr lang="pt-BR" altLang="pt-BR" b="1" dirty="0">
                <a:effectLst/>
              </a:rPr>
              <a:t>Melhorar o nível de serviço oferecido</a:t>
            </a:r>
            <a:endParaRPr lang="pt-BR" b="1" dirty="0">
              <a:effectLst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C9D43AF4-0C2B-4A66-BB71-CC565C890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549" y="1569166"/>
            <a:ext cx="11454347" cy="4973301"/>
          </a:xfrm>
        </p:spPr>
        <p:txBody>
          <a:bodyPr>
            <a:noAutofit/>
          </a:bodyPr>
          <a:lstStyle/>
          <a:p>
            <a:r>
              <a:rPr lang="pt-BR" sz="2200" dirty="0">
                <a:effectLst/>
              </a:rPr>
              <a:t>A divisão do trabalho tem como primeiro resultado a departamentalização, a qual pode ocorrer segundo alguns fatores importantes</a:t>
            </a:r>
            <a:r>
              <a:rPr lang="pt-BR" sz="2200" dirty="0" smtClean="0">
                <a:effectLst/>
              </a:rPr>
              <a:t>.</a:t>
            </a:r>
          </a:p>
          <a:p>
            <a:pPr>
              <a:defRPr/>
            </a:pPr>
            <a:r>
              <a:rPr lang="pt-BR" sz="2200" u="sng" dirty="0">
                <a:effectLst/>
              </a:rPr>
              <a:t>Taxa de atendimento de linhas</a:t>
            </a:r>
            <a:r>
              <a:rPr lang="pt-BR" sz="2200" dirty="0">
                <a:effectLst/>
              </a:rPr>
              <a:t>: é o percentual de linhas de pedidos atendidas </a:t>
            </a:r>
            <a:br>
              <a:rPr lang="pt-BR" sz="2200" dirty="0">
                <a:effectLst/>
              </a:rPr>
            </a:br>
            <a:r>
              <a:rPr lang="pt-BR" sz="2200" dirty="0">
                <a:effectLst/>
              </a:rPr>
              <a:t>por completo.</a:t>
            </a:r>
          </a:p>
          <a:p>
            <a:pPr>
              <a:defRPr/>
            </a:pPr>
            <a:r>
              <a:rPr lang="pt-BR" sz="2200" u="sng" dirty="0" smtClean="0">
                <a:effectLst/>
              </a:rPr>
              <a:t>Taxa </a:t>
            </a:r>
            <a:r>
              <a:rPr lang="pt-BR" sz="2200" u="sng" dirty="0">
                <a:effectLst/>
              </a:rPr>
              <a:t>de atendimento de pedidos</a:t>
            </a:r>
            <a:r>
              <a:rPr lang="pt-BR" sz="2200" dirty="0">
                <a:effectLst/>
              </a:rPr>
              <a:t>: é o percentual de pedidos atendidos por </a:t>
            </a:r>
            <a:r>
              <a:rPr lang="pt-BR" sz="2200" dirty="0" smtClean="0">
                <a:effectLst/>
              </a:rPr>
              <a:t>completo</a:t>
            </a:r>
          </a:p>
          <a:p>
            <a:pPr marL="0" indent="0">
              <a:buNone/>
              <a:defRPr/>
            </a:pPr>
            <a:r>
              <a:rPr lang="pt-BR" sz="2200" dirty="0">
                <a:effectLst/>
              </a:rPr>
              <a:t>O nível de serviço indica o quanto queremos estar seguros frente às variabilidades que ocorrem, em outras palavras, frente aos desvios padrões da demanda e do </a:t>
            </a:r>
            <a:r>
              <a:rPr lang="pt-BR" sz="2200" i="1" dirty="0">
                <a:effectLst/>
              </a:rPr>
              <a:t>lead time</a:t>
            </a:r>
            <a:r>
              <a:rPr lang="pt-BR" sz="2200" dirty="0">
                <a:effectLst/>
              </a:rPr>
              <a:t>. Logo, este conceito costuma estar intrinsecamente relacionado com o estoque de segurança. Três passos devem ser seguidos para planejar o estoque de segurança: </a:t>
            </a:r>
          </a:p>
          <a:p>
            <a:pPr marL="457200" indent="-457200">
              <a:buFont typeface="+mj-lt"/>
              <a:buAutoNum type="arabicParenR"/>
              <a:defRPr/>
            </a:pPr>
            <a:r>
              <a:rPr lang="pt-BR" sz="2200" dirty="0" smtClean="0">
                <a:effectLst/>
              </a:rPr>
              <a:t>Prever </a:t>
            </a:r>
            <a:r>
              <a:rPr lang="pt-BR" sz="2200" dirty="0">
                <a:effectLst/>
              </a:rPr>
              <a:t>a probabilidade de falta de estoque; </a:t>
            </a:r>
          </a:p>
          <a:p>
            <a:pPr marL="457200" indent="-457200">
              <a:buFont typeface="+mj-lt"/>
              <a:buAutoNum type="arabicParenR"/>
              <a:defRPr/>
            </a:pPr>
            <a:r>
              <a:rPr lang="pt-BR" sz="2200" dirty="0">
                <a:effectLst/>
              </a:rPr>
              <a:t>Estimar a demanda durante um período de falta de estoque; </a:t>
            </a:r>
            <a:endParaRPr lang="pt-BR" sz="2200" dirty="0" smtClean="0">
              <a:effectLst/>
            </a:endParaRPr>
          </a:p>
          <a:p>
            <a:pPr marL="457200" indent="-457200">
              <a:buFont typeface="+mj-lt"/>
              <a:buAutoNum type="arabicParenR"/>
              <a:defRPr/>
            </a:pPr>
            <a:r>
              <a:rPr lang="pt-BR" sz="2200" dirty="0">
                <a:effectLst/>
              </a:rPr>
              <a:t>Decidir sobre a política em relação ao nível desejado </a:t>
            </a:r>
            <a:br>
              <a:rPr lang="pt-BR" sz="2200" dirty="0">
                <a:effectLst/>
              </a:rPr>
            </a:br>
            <a:r>
              <a:rPr lang="pt-BR" sz="2200" dirty="0">
                <a:effectLst/>
              </a:rPr>
              <a:t>de proteção contra faltas de estoque.</a:t>
            </a:r>
          </a:p>
          <a:p>
            <a:pPr marL="0" indent="0">
              <a:buNone/>
              <a:defRPr/>
            </a:pPr>
            <a:endParaRPr lang="pt-BR" sz="2200" dirty="0" smtClean="0">
              <a:effectLst/>
            </a:endParaRPr>
          </a:p>
          <a:p>
            <a:endParaRPr lang="pt-BR" sz="2200" dirty="0">
              <a:effectLst/>
            </a:endParaRPr>
          </a:p>
          <a:p>
            <a:pPr>
              <a:defRPr/>
            </a:pPr>
            <a:endParaRPr lang="pt-BR" sz="22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398054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21C34D6-AAE8-42D2-8583-1008F87DA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138" y="242574"/>
            <a:ext cx="11747862" cy="1325563"/>
          </a:xfrm>
        </p:spPr>
        <p:txBody>
          <a:bodyPr>
            <a:normAutofit/>
          </a:bodyPr>
          <a:lstStyle/>
          <a:p>
            <a:r>
              <a:rPr lang="pt-BR" altLang="pt-BR" sz="3200" b="1" dirty="0">
                <a:effectLst/>
              </a:rPr>
              <a:t>Melhorar o nível de serviço oferecido</a:t>
            </a:r>
            <a:endParaRPr lang="pt-BR" sz="3200" b="1" dirty="0">
              <a:effectLst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C9D43AF4-0C2B-4A66-BB71-CC565C890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2797" y="3088786"/>
            <a:ext cx="5775791" cy="1608848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pt-BR" sz="2400" dirty="0">
                <a:effectLst/>
              </a:rPr>
              <a:t>No que se refere à matemática utilizada neste conceito, usa-se a distribuição de probabilidade normal para aproximar o comportamento da demanda.</a:t>
            </a:r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endParaRPr lang="pt-BR" sz="2400" dirty="0">
              <a:effectLst/>
            </a:endParaRPr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endParaRPr lang="pt-BR" sz="2400" dirty="0">
              <a:effectLst/>
            </a:endParaRPr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endParaRPr lang="pt-BR" sz="2400" dirty="0">
              <a:effectLst/>
            </a:endParaRPr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endParaRPr lang="pt-BR" sz="2400" dirty="0">
              <a:effectLst/>
            </a:endParaRPr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endParaRPr lang="pt-BR" sz="2400" dirty="0">
              <a:effectLst/>
            </a:endParaRPr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endParaRPr lang="pt-BR" sz="2400" dirty="0">
              <a:effectLst/>
            </a:endParaRPr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endParaRPr lang="pt-BR" sz="2400" dirty="0">
              <a:effectLst/>
            </a:endParaRPr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endParaRPr lang="pt-BR" sz="2400" dirty="0">
              <a:effectLst/>
            </a:endParaRPr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endParaRPr lang="pt-BR" sz="2400" dirty="0">
              <a:effectLst/>
            </a:endParaRPr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endParaRPr lang="pt-BR" sz="2400" dirty="0">
              <a:effectLst/>
            </a:endParaRPr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endParaRPr lang="pt-BR" sz="2400" dirty="0">
              <a:effectLst/>
            </a:endParaRPr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endParaRPr lang="pt-BR" sz="2400" dirty="0">
              <a:effectLst/>
            </a:endParaRPr>
          </a:p>
          <a:p>
            <a:endParaRPr lang="pt-BR" sz="2400" dirty="0">
              <a:effectLst/>
            </a:endParaRPr>
          </a:p>
        </p:txBody>
      </p:sp>
      <p:pic>
        <p:nvPicPr>
          <p:cNvPr id="8" name="Picture 1" descr="esultado de imagem para nÃ­vel de serviÃ§o estoqu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159" t="3572"/>
          <a:stretch/>
        </p:blipFill>
        <p:spPr bwMode="auto">
          <a:xfrm>
            <a:off x="444138" y="1674053"/>
            <a:ext cx="4806462" cy="4218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67922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21C34D6-AAE8-42D2-8583-1008F87DA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549" y="365125"/>
            <a:ext cx="11747862" cy="1325563"/>
          </a:xfrm>
        </p:spPr>
        <p:txBody>
          <a:bodyPr>
            <a:normAutofit/>
          </a:bodyPr>
          <a:lstStyle/>
          <a:p>
            <a:r>
              <a:rPr lang="pt-BR" altLang="pt-BR" b="1" dirty="0">
                <a:effectLst/>
              </a:rPr>
              <a:t>Incentivar economias na produção</a:t>
            </a:r>
            <a:endParaRPr lang="pt-BR" b="1" dirty="0">
              <a:effectLst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C9D43AF4-0C2B-4A66-BB71-CC565C890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518" y="1610633"/>
            <a:ext cx="9556123" cy="430077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pt-BR" sz="2400" dirty="0"/>
              <a:t>Sabendo que os estoques regulam oferta e demanda, isto faz com que a produção permaneça constante sem necessariamente oscilar com as flutuações das vendas.</a:t>
            </a:r>
          </a:p>
          <a:p>
            <a:pPr>
              <a:defRPr/>
            </a:pPr>
            <a:r>
              <a:rPr lang="pt-BR" sz="2400" dirty="0" smtClean="0"/>
              <a:t>Este </a:t>
            </a:r>
            <a:r>
              <a:rPr lang="pt-BR" sz="2400" dirty="0"/>
              <a:t>equilíbrio permite que a força de trabalho seja mantida em quantidade </a:t>
            </a:r>
            <a:br>
              <a:rPr lang="pt-BR" sz="2400" dirty="0"/>
            </a:br>
            <a:r>
              <a:rPr lang="pt-BR" sz="2400" dirty="0"/>
              <a:t>e os custos de preparação de lotes possam ser minimizados.</a:t>
            </a:r>
          </a:p>
          <a:p>
            <a:pPr>
              <a:spcAft>
                <a:spcPts val="0"/>
              </a:spcAft>
              <a:defRPr/>
            </a:pPr>
            <a:r>
              <a:rPr lang="pt-BR" sz="2400" dirty="0" smtClean="0"/>
              <a:t>Ao </a:t>
            </a:r>
            <a:r>
              <a:rPr lang="pt-BR" sz="2400" dirty="0"/>
              <a:t>se produzir grandes lotes de fabricação com a mesma quantidade de fatores produtivos (número de máquinas e colaboradores) obtém-se, geralmente, o menor </a:t>
            </a:r>
            <a:r>
              <a:rPr lang="pt-BR" sz="2400" dirty="0" smtClean="0"/>
              <a:t>custo </a:t>
            </a:r>
            <a:r>
              <a:rPr lang="pt-BR" sz="2400" dirty="0"/>
              <a:t>unitário de produção. Neste caso, uma maior quantidade de estoques pode implicar em economias </a:t>
            </a:r>
            <a:br>
              <a:rPr lang="pt-BR" sz="2400" dirty="0"/>
            </a:br>
            <a:r>
              <a:rPr lang="pt-BR" sz="2400" dirty="0"/>
              <a:t>de escala na produção.</a:t>
            </a:r>
          </a:p>
          <a:p>
            <a:endParaRPr lang="pt-BR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627709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21C34D6-AAE8-42D2-8583-1008F87DA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549" y="365125"/>
            <a:ext cx="11747862" cy="1325563"/>
          </a:xfrm>
        </p:spPr>
        <p:txBody>
          <a:bodyPr>
            <a:normAutofit/>
          </a:bodyPr>
          <a:lstStyle/>
          <a:p>
            <a:r>
              <a:rPr lang="pt-BR" altLang="pt-BR" sz="4000" b="1" dirty="0">
                <a:effectLst/>
              </a:rPr>
              <a:t>Permitir economias de escala nas compras e no transporte</a:t>
            </a:r>
            <a:endParaRPr lang="pt-BR" sz="4000" b="1" dirty="0">
              <a:effectLst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C9D43AF4-0C2B-4A66-BB71-CC565C890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4037" y="2979979"/>
            <a:ext cx="5775791" cy="1608848"/>
          </a:xfrm>
        </p:spPr>
        <p:txBody>
          <a:bodyPr>
            <a:noAutofit/>
          </a:bodyPr>
          <a:lstStyle/>
          <a:p>
            <a:pPr algn="just"/>
            <a:r>
              <a:rPr lang="pt-BR" sz="2400" dirty="0">
                <a:effectLst/>
              </a:rPr>
              <a:t>Ao prever um aumento da demanda em determinado período, o gestor pode adquirir mercadorias com antecedência e armazená-las para uma temporada, usualmente isso permite a negociação de preços com fornecedores.</a:t>
            </a:r>
          </a:p>
          <a:p>
            <a:pPr algn="just"/>
            <a:endParaRPr lang="pt-BR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562939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21C34D6-AAE8-42D2-8583-1008F87DA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549" y="365125"/>
            <a:ext cx="11747862" cy="1325563"/>
          </a:xfrm>
        </p:spPr>
        <p:txBody>
          <a:bodyPr>
            <a:normAutofit/>
          </a:bodyPr>
          <a:lstStyle/>
          <a:p>
            <a:r>
              <a:rPr lang="pt-BR" altLang="pt-BR" sz="3200" b="1" dirty="0">
                <a:effectLst/>
              </a:rPr>
              <a:t>Custos do estoque</a:t>
            </a:r>
            <a:endParaRPr lang="pt-BR" sz="3200" b="1" dirty="0">
              <a:effectLst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C9D43AF4-0C2B-4A66-BB71-CC565C890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7021" y="1116342"/>
            <a:ext cx="6297636" cy="1608848"/>
          </a:xfrm>
        </p:spPr>
        <p:txBody>
          <a:bodyPr>
            <a:noAutofit/>
          </a:bodyPr>
          <a:lstStyle/>
          <a:p>
            <a:pPr algn="just"/>
            <a:r>
              <a:rPr lang="pt-BR" sz="2200" dirty="0">
                <a:effectLst/>
              </a:rPr>
              <a:t>É evidente a importância dos estoques nos sistemas produtivos, no entanto, </a:t>
            </a:r>
            <a:br>
              <a:rPr lang="pt-BR" sz="2200" dirty="0">
                <a:effectLst/>
              </a:rPr>
            </a:br>
            <a:r>
              <a:rPr lang="pt-BR" sz="2200" dirty="0">
                <a:effectLst/>
              </a:rPr>
              <a:t>é importante lembrar que os estoques despendem dos seguintes fatores:			</a:t>
            </a:r>
          </a:p>
        </p:txBody>
      </p:sp>
      <p:pic>
        <p:nvPicPr>
          <p:cNvPr id="8" name="Picture 4" descr="Captura de Tela 2019-03-12 às 12.55.21.png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6968" t="32066" r="13568" b="20905"/>
          <a:stretch>
            <a:fillRect/>
          </a:stretch>
        </p:blipFill>
        <p:spPr bwMode="auto">
          <a:xfrm>
            <a:off x="461554" y="1674053"/>
            <a:ext cx="4806462" cy="4218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xmlns="" id="{0B60897C-66D0-42F8-A6A5-1084B45B072B}"/>
              </a:ext>
            </a:extLst>
          </p:cNvPr>
          <p:cNvSpPr txBox="1">
            <a:spLocks/>
          </p:cNvSpPr>
          <p:nvPr/>
        </p:nvSpPr>
        <p:spPr>
          <a:xfrm>
            <a:off x="5707798" y="2354120"/>
            <a:ext cx="5836081" cy="1608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pt-BR" sz="2200" dirty="0">
                <a:effectLst/>
              </a:rPr>
              <a:t>Capital: valor monetário investido em estoque. Este é o valor que se “perde” pela opção de imobilizarmos um capital que poderia ser investido de forma distinta. Sendo assim, ele faz referência aos juros que incidem sobre o valor da compra ou até mesmo de produção do item que se encontra estocado. Assim, podemos equacionar este custo como sendo: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pt-BR" sz="2200" dirty="0">
                <a:effectLst/>
              </a:rPr>
              <a:t>Em que: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pt-BR" sz="2200" dirty="0">
                <a:effectLst/>
              </a:rPr>
              <a:t>J: Taxa de juros em determinado período de tempo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pt-BR" sz="2200" dirty="0">
                <a:effectLst/>
              </a:rPr>
              <a:t>P: Custo para aquisição (compra/produção) do item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pt-BR" sz="2200" dirty="0">
              <a:effectLst/>
            </a:endParaRPr>
          </a:p>
          <a:p>
            <a:pPr algn="just"/>
            <a:endParaRPr lang="pt-BR" sz="22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611953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21C34D6-AAE8-42D2-8583-1008F87DA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549" y="365125"/>
            <a:ext cx="11747862" cy="1325563"/>
          </a:xfrm>
        </p:spPr>
        <p:txBody>
          <a:bodyPr>
            <a:normAutofit/>
          </a:bodyPr>
          <a:lstStyle/>
          <a:p>
            <a:r>
              <a:rPr lang="pt-BR" altLang="pt-BR" b="1" dirty="0">
                <a:effectLst/>
              </a:rPr>
              <a:t>Gestão de Estoque</a:t>
            </a:r>
            <a:endParaRPr lang="pt-BR" b="1" dirty="0">
              <a:effectLst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C9D43AF4-0C2B-4A66-BB71-CC565C890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0478" y="1820152"/>
            <a:ext cx="9153680" cy="1608848"/>
          </a:xfrm>
        </p:spPr>
        <p:txBody>
          <a:bodyPr>
            <a:noAutofit/>
          </a:bodyPr>
          <a:lstStyle/>
          <a:p>
            <a:pPr algn="just"/>
            <a:r>
              <a:rPr lang="pt-BR" sz="2400" dirty="0">
                <a:effectLst/>
              </a:rPr>
              <a:t>Os estoques são custos para a empresa, em algum momento ela precisará fazer </a:t>
            </a:r>
            <a:br>
              <a:rPr lang="pt-BR" sz="2400" dirty="0">
                <a:effectLst/>
              </a:rPr>
            </a:br>
            <a:r>
              <a:rPr lang="pt-BR" sz="2400" dirty="0">
                <a:effectLst/>
              </a:rPr>
              <a:t>um levantamento de quanto do seu capital está imobilizado nos estoques. Este levantamento é também chamado de inventário. São dois os tipos de inventários</a:t>
            </a:r>
            <a:r>
              <a:rPr lang="pt-BR" sz="2400" dirty="0" smtClean="0">
                <a:effectLst/>
              </a:rPr>
              <a:t>:</a:t>
            </a:r>
          </a:p>
          <a:p>
            <a:pPr algn="just"/>
            <a:r>
              <a:rPr lang="pt-BR" sz="2400" dirty="0">
                <a:effectLst/>
              </a:rPr>
              <a:t>Inventários anuais: são os realizados em períodos determinados; no caso, ao final do exercício fiscal. Abrangem todos os itens de estoque de uma só vez e, por isso, são de longa duração. </a:t>
            </a:r>
            <a:endParaRPr lang="pt-BR" sz="2400" dirty="0" smtClean="0">
              <a:effectLst/>
            </a:endParaRPr>
          </a:p>
          <a:p>
            <a:pPr algn="just"/>
            <a:r>
              <a:rPr lang="pt-BR" sz="2400" dirty="0">
                <a:effectLst/>
              </a:rPr>
              <a:t>Inventários rotativos: são aqueles realizados mais de uma vez ao ano, geralmente a cada saída ou entrada do material. São aconselháveis para produtos de alto valor.</a:t>
            </a:r>
          </a:p>
          <a:p>
            <a:pPr algn="just"/>
            <a:endParaRPr lang="pt-BR" sz="2400" dirty="0">
              <a:effectLst/>
            </a:endParaRPr>
          </a:p>
          <a:p>
            <a:pPr algn="just"/>
            <a:endParaRPr lang="pt-BR" sz="2400" dirty="0">
              <a:effectLst/>
            </a:endParaRPr>
          </a:p>
          <a:p>
            <a:pPr algn="just"/>
            <a:endParaRPr lang="pt-BR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305677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21C34D6-AAE8-42D2-8583-1008F87DA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549" y="365125"/>
            <a:ext cx="11747862" cy="1325563"/>
          </a:xfrm>
        </p:spPr>
        <p:txBody>
          <a:bodyPr>
            <a:normAutofit/>
          </a:bodyPr>
          <a:lstStyle/>
          <a:p>
            <a:r>
              <a:rPr lang="pt-BR" altLang="pt-BR" b="1" dirty="0">
                <a:effectLst/>
              </a:rPr>
              <a:t>Gestão de Estoque</a:t>
            </a:r>
            <a:endParaRPr lang="pt-BR" b="1" dirty="0">
              <a:effectLst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C9D43AF4-0C2B-4A66-BB71-CC565C890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2332" y="2521545"/>
            <a:ext cx="8652739" cy="1608848"/>
          </a:xfrm>
        </p:spPr>
        <p:txBody>
          <a:bodyPr>
            <a:noAutofit/>
          </a:bodyPr>
          <a:lstStyle/>
          <a:p>
            <a:pPr marL="0" indent="0">
              <a:buNone/>
              <a:defRPr/>
            </a:pPr>
            <a:r>
              <a:rPr lang="pt-BR" sz="2400" dirty="0">
                <a:effectLst/>
              </a:rPr>
              <a:t>Há diversas vantagens em se ter um controle de estoque eficiente:</a:t>
            </a:r>
          </a:p>
          <a:p>
            <a:pPr marL="266700" lvl="4">
              <a:defRPr/>
            </a:pPr>
            <a:r>
              <a:rPr lang="pt-BR" sz="2400" dirty="0">
                <a:effectLst/>
              </a:rPr>
              <a:t>evitar perdas, desvios, roubo e expiração de prazo de validade; </a:t>
            </a:r>
          </a:p>
          <a:p>
            <a:pPr marL="266700" lvl="4">
              <a:defRPr/>
            </a:pPr>
            <a:r>
              <a:rPr lang="pt-BR" sz="2400" dirty="0">
                <a:effectLst/>
              </a:rPr>
              <a:t>acurácia dos resultados; </a:t>
            </a:r>
          </a:p>
          <a:p>
            <a:pPr marL="266700" lvl="4">
              <a:defRPr/>
            </a:pPr>
            <a:r>
              <a:rPr lang="pt-BR" sz="2400" dirty="0">
                <a:effectLst/>
              </a:rPr>
              <a:t>identificar os produtos que estão sem giro;</a:t>
            </a:r>
          </a:p>
          <a:p>
            <a:pPr marL="266700" lvl="4">
              <a:defRPr/>
            </a:pPr>
            <a:r>
              <a:rPr lang="pt-BR" sz="2400" dirty="0">
                <a:effectLst/>
              </a:rPr>
              <a:t>gerir a demanda por capital de giro;</a:t>
            </a:r>
          </a:p>
          <a:p>
            <a:pPr marL="266700" lvl="4">
              <a:defRPr/>
            </a:pPr>
            <a:r>
              <a:rPr lang="pt-BR" sz="2400" dirty="0">
                <a:effectLst/>
              </a:rPr>
              <a:t>repassar informações dos pedidos para a área de compras.</a:t>
            </a:r>
          </a:p>
          <a:p>
            <a:pPr marL="0" indent="0">
              <a:buNone/>
            </a:pPr>
            <a:endParaRPr lang="pt-BR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31442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21C34D6-AAE8-42D2-8583-1008F87DA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549" y="365125"/>
            <a:ext cx="11747862" cy="1325563"/>
          </a:xfrm>
        </p:spPr>
        <p:txBody>
          <a:bodyPr>
            <a:normAutofit/>
          </a:bodyPr>
          <a:lstStyle/>
          <a:p>
            <a:r>
              <a:rPr lang="pt-BR" altLang="pt-BR" b="1" dirty="0">
                <a:effectLst/>
              </a:rPr>
              <a:t>Gestão de Estoque</a:t>
            </a:r>
            <a:endParaRPr lang="pt-BR" b="1" dirty="0">
              <a:effectLst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C9D43AF4-0C2B-4A66-BB71-CC565C890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8560" y="2373591"/>
            <a:ext cx="6453721" cy="1608848"/>
          </a:xfrm>
        </p:spPr>
        <p:txBody>
          <a:bodyPr>
            <a:noAutofit/>
          </a:bodyPr>
          <a:lstStyle/>
          <a:p>
            <a:pPr marL="0" indent="0" algn="just">
              <a:buNone/>
              <a:defRPr/>
            </a:pPr>
            <a:r>
              <a:rPr lang="pt-BR" sz="2400" dirty="0">
                <a:effectLst/>
              </a:rPr>
              <a:t>Método PEPS (FIFO)</a:t>
            </a:r>
          </a:p>
          <a:p>
            <a:pPr algn="just">
              <a:defRPr/>
            </a:pPr>
            <a:r>
              <a:rPr lang="pt-BR" sz="2400" dirty="0" smtClean="0">
                <a:effectLst/>
              </a:rPr>
              <a:t>Esta </a:t>
            </a:r>
            <a:r>
              <a:rPr lang="pt-BR" sz="2400" dirty="0">
                <a:effectLst/>
              </a:rPr>
              <a:t>sigla significa “primeiro a entrar, primeiro a sair” – em inglês, FIFO, que significa </a:t>
            </a:r>
            <a:r>
              <a:rPr lang="pt-BR" sz="2400" i="1" dirty="0">
                <a:effectLst/>
              </a:rPr>
              <a:t>“</a:t>
            </a:r>
            <a:r>
              <a:rPr lang="pt-BR" sz="2400" i="1" dirty="0" err="1">
                <a:effectLst/>
              </a:rPr>
              <a:t>first</a:t>
            </a:r>
            <a:r>
              <a:rPr lang="pt-BR" sz="2400" i="1" dirty="0">
                <a:effectLst/>
              </a:rPr>
              <a:t> in, </a:t>
            </a:r>
            <a:r>
              <a:rPr lang="pt-BR" sz="2400" i="1" dirty="0" err="1">
                <a:effectLst/>
              </a:rPr>
              <a:t>first</a:t>
            </a:r>
            <a:r>
              <a:rPr lang="pt-BR" sz="2400" i="1" dirty="0">
                <a:effectLst/>
              </a:rPr>
              <a:t> out”.</a:t>
            </a:r>
            <a:r>
              <a:rPr lang="pt-BR" sz="2400" dirty="0">
                <a:effectLst/>
              </a:rPr>
              <a:t> Sendo assim, no momento em que se faz necessário retirar um produto do estoque, a prioridade é dada ao produto mais antigo. Ou seja, os primeiros itens que foram adquiridos pela empresa devem ser os primeiros itens a serem vendidos para os clientes.</a:t>
            </a:r>
          </a:p>
          <a:p>
            <a:pPr algn="just"/>
            <a:endParaRPr lang="pt-BR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68892485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571CA391CD8464C9C8CEABD013CA2E2" ma:contentTypeVersion="10" ma:contentTypeDescription="Crie um novo documento." ma:contentTypeScope="" ma:versionID="6bd3e0496def4a3c4b4ed6af00b0a183">
  <xsd:schema xmlns:xsd="http://www.w3.org/2001/XMLSchema" xmlns:xs="http://www.w3.org/2001/XMLSchema" xmlns:p="http://schemas.microsoft.com/office/2006/metadata/properties" xmlns:ns2="dbf6a54b-d722-49d8-81aa-522563e92801" xmlns:ns3="a8eaee7b-8d25-4cfe-bd98-cf5184fa8fa7" targetNamespace="http://schemas.microsoft.com/office/2006/metadata/properties" ma:root="true" ma:fieldsID="b690d6a8969a0d83b63e8314e614e8c3" ns2:_="" ns3:_="">
    <xsd:import namespace="dbf6a54b-d722-49d8-81aa-522563e92801"/>
    <xsd:import namespace="a8eaee7b-8d25-4cfe-bd98-cf5184fa8fa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f6a54b-d722-49d8-81aa-522563e928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eaee7b-8d25-4cfe-bd98-cf5184fa8fa7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031ACE1-1573-44D4-B54D-66204C80E5A9}"/>
</file>

<file path=customXml/itemProps2.xml><?xml version="1.0" encoding="utf-8"?>
<ds:datastoreItem xmlns:ds="http://schemas.openxmlformats.org/officeDocument/2006/customXml" ds:itemID="{2EDD1CF4-AC7F-4CF5-954B-0A8BE500BC86}"/>
</file>

<file path=customXml/itemProps3.xml><?xml version="1.0" encoding="utf-8"?>
<ds:datastoreItem xmlns:ds="http://schemas.openxmlformats.org/officeDocument/2006/customXml" ds:itemID="{2DCBAF9F-916C-4C85-9221-552E18A721B8}"/>
</file>

<file path=docProps/app.xml><?xml version="1.0" encoding="utf-8"?>
<Properties xmlns="http://schemas.openxmlformats.org/officeDocument/2006/extended-properties" xmlns:vt="http://schemas.openxmlformats.org/officeDocument/2006/docPropsVTypes">
  <TotalTime>920</TotalTime>
  <Words>992</Words>
  <Application>Microsoft Office PowerPoint</Application>
  <PresentationFormat>Widescreen</PresentationFormat>
  <Paragraphs>89</Paragraphs>
  <Slides>17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Wingdings</vt:lpstr>
      <vt:lpstr>Tema do Office</vt:lpstr>
      <vt:lpstr>LOGÍSTICA HOSPITALAR</vt:lpstr>
      <vt:lpstr>Unidade 3 | Introdução</vt:lpstr>
      <vt:lpstr>Unidade 3 | Tipos de Estoques</vt:lpstr>
      <vt:lpstr>Tipos de Estoques</vt:lpstr>
      <vt:lpstr>Tipos de Estoques</vt:lpstr>
      <vt:lpstr>Considerações</vt:lpstr>
      <vt:lpstr>Razões para manter estoques</vt:lpstr>
      <vt:lpstr>Melhorar o nível de serviço oferecido</vt:lpstr>
      <vt:lpstr>Melhorar o nível de serviço oferecido</vt:lpstr>
      <vt:lpstr>Melhorar o nível de serviço oferecido</vt:lpstr>
      <vt:lpstr>Melhorar o nível de serviço oferecido</vt:lpstr>
      <vt:lpstr>Incentivar economias na produção</vt:lpstr>
      <vt:lpstr>Permitir economias de escala nas compras e no transporte</vt:lpstr>
      <vt:lpstr>Custos do estoque</vt:lpstr>
      <vt:lpstr>Gestão de Estoque</vt:lpstr>
      <vt:lpstr>Gestão de Estoque</vt:lpstr>
      <vt:lpstr>Gestão de Estoque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oniversidade</dc:title>
  <dc:creator>David Stephen</dc:creator>
  <cp:lastModifiedBy>PC</cp:lastModifiedBy>
  <cp:revision>137</cp:revision>
  <dcterms:created xsi:type="dcterms:W3CDTF">2018-06-24T01:31:09Z</dcterms:created>
  <dcterms:modified xsi:type="dcterms:W3CDTF">2020-02-01T17:09:38Z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0x0101001571CA391CD8464C9C8CEABD013CA2E2</vt:lpwstr>
  </property>
</Properties>
</file>