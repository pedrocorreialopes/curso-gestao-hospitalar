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s/slide24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20.xml" ContentType="application/vnd.openxmlformats-officedocument.presentationml.slide+xml"/>
  <Override PartName="/ppt/slides/slide19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23.xml" ContentType="application/vnd.openxmlformats-officedocument.presentationml.slide+xml"/>
  <Override PartName="/ppt/slides/slide7.xml" ContentType="application/vnd.openxmlformats-officedocument.presentationml.slide+xml"/>
  <Override PartName="/ppt/slides/slide5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6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357" r:id="rId2"/>
    <p:sldId id="360" r:id="rId3"/>
    <p:sldId id="361" r:id="rId4"/>
    <p:sldId id="379" r:id="rId5"/>
    <p:sldId id="380" r:id="rId6"/>
    <p:sldId id="443" r:id="rId7"/>
    <p:sldId id="445" r:id="rId8"/>
    <p:sldId id="446" r:id="rId9"/>
    <p:sldId id="447" r:id="rId10"/>
    <p:sldId id="448" r:id="rId11"/>
    <p:sldId id="449" r:id="rId12"/>
    <p:sldId id="450" r:id="rId13"/>
    <p:sldId id="454" r:id="rId14"/>
    <p:sldId id="455" r:id="rId15"/>
    <p:sldId id="456" r:id="rId16"/>
    <p:sldId id="457" r:id="rId17"/>
    <p:sldId id="460" r:id="rId18"/>
    <p:sldId id="461" r:id="rId19"/>
    <p:sldId id="462" r:id="rId20"/>
    <p:sldId id="463" r:id="rId21"/>
    <p:sldId id="464" r:id="rId22"/>
    <p:sldId id="465" r:id="rId23"/>
    <p:sldId id="471" r:id="rId24"/>
    <p:sldId id="476" r:id="rId2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A7A7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44" autoAdjust="0"/>
    <p:restoredTop sz="94660"/>
  </p:normalViewPr>
  <p:slideViewPr>
    <p:cSldViewPr snapToGrid="0">
      <p:cViewPr varScale="1">
        <p:scale>
          <a:sx n="67" d="100"/>
          <a:sy n="67" d="100"/>
        </p:scale>
        <p:origin x="8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761CBA-9D21-4261-A5F0-48314F3E7340}" type="datetimeFigureOut">
              <a:rPr lang="pt-BR" smtClean="0"/>
              <a:t>01/02/2020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2FEA4D-570D-4DCF-B011-D568CE3AA01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60999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4D3A6FB0-F37F-46DA-9E67-7C40BC81F2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xmlns="" id="{D9C125E5-F883-48C1-8A70-F0ECDE9E02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xmlns="" id="{9FA7189B-BB6A-46D0-8A39-89FCCD935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63BAF-D1AB-4C38-948D-4A36060575A2}" type="datetimeFigureOut">
              <a:rPr lang="pt-BR" smtClean="0"/>
              <a:t>01/02/2020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xmlns="" id="{35C448A7-ECBC-47BF-81D7-3BE0B9D69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xmlns="" id="{C6574199-6A2D-4A34-B5E0-1980A5B1D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45363-447A-476B-BF91-938BC8E7B2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65020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037A8226-3798-49D5-B97A-64B7530DB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5F3355D9-6C3C-4F98-BDC9-41C5EE2C84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xmlns="" id="{3867BD0C-72A7-48E4-BDBC-85D5C9B7F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63BAF-D1AB-4C38-948D-4A36060575A2}" type="datetimeFigureOut">
              <a:rPr lang="pt-BR" smtClean="0"/>
              <a:t>01/02/2020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xmlns="" id="{E5A37E49-1DBF-483F-9B46-D99D51561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xmlns="" id="{119DB606-3073-4632-9BCB-0770C7BFE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45363-447A-476B-BF91-938BC8E7B2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62070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0976F40C-F385-4588-8934-789907414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xmlns="" id="{22336E6C-D800-4DB2-879A-B5D4A03CAD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xmlns="" id="{94095AE9-A59F-4065-99B7-C5F10B7BC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63BAF-D1AB-4C38-948D-4A36060575A2}" type="datetimeFigureOut">
              <a:rPr lang="pt-BR" smtClean="0"/>
              <a:t>01/02/2020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xmlns="" id="{195C450F-CF29-4A99-A6CE-451DE5DE7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xmlns="" id="{690B191A-2BF0-435A-B5F0-0C5AECC5E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45363-447A-476B-BF91-938BC8E7B2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711559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9943D5E4-148C-459F-99A8-642D81D51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C570DBF5-78E2-487B-B28F-F5D4E30A3B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xmlns="" id="{00EFCFCE-21CC-4DE0-B879-2D52B276E7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xmlns="" id="{20E85353-31E9-4963-8D87-022E900CF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63BAF-D1AB-4C38-948D-4A36060575A2}" type="datetimeFigureOut">
              <a:rPr lang="pt-BR" smtClean="0"/>
              <a:t>01/02/2020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xmlns="" id="{817926D1-516F-4581-BE09-AA6779660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xmlns="" id="{F27BA45A-6B64-4D74-B21C-FA671A584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45363-447A-476B-BF91-938BC8E7B2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139121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417922E-BA32-48DD-8F1E-5772EC452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xmlns="" id="{14E0FC4F-D2EC-467A-AA1F-484A20AA30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xmlns="" id="{316FAE2B-7B40-4207-9773-C9733622A2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xmlns="" id="{E9F80720-706C-4085-A1C2-B7D31E0941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xmlns="" id="{319DE410-4AAB-431A-AA57-27BFAF4AFF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xmlns="" id="{3C1EBE1D-45CD-4A01-89D6-312F0E43D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63BAF-D1AB-4C38-948D-4A36060575A2}" type="datetimeFigureOut">
              <a:rPr lang="pt-BR" smtClean="0"/>
              <a:t>01/02/2020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xmlns="" id="{753001EF-C51A-4AD0-B9AD-0D7AAEF035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xmlns="" id="{CE4C2650-EF1E-4C5C-8CEE-A07B79E7A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45363-447A-476B-BF91-938BC8E7B2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185218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78396D29-CE3F-4480-8AA6-6C640C78D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xmlns="" id="{C372719B-6A1E-4D95-A9FF-821C9D700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63BAF-D1AB-4C38-948D-4A36060575A2}" type="datetimeFigureOut">
              <a:rPr lang="pt-BR" smtClean="0"/>
              <a:t>01/02/2020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xmlns="" id="{C3580B7B-3153-4533-8E64-8057775D5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xmlns="" id="{087EA84A-9D46-44CF-9B12-87E2C25B0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45363-447A-476B-BF91-938BC8E7B2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167847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xmlns="" id="{E109DADD-3E9A-4F68-A8D7-0A59CD89D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63BAF-D1AB-4C38-948D-4A36060575A2}" type="datetimeFigureOut">
              <a:rPr lang="pt-BR" smtClean="0"/>
              <a:t>01/02/2020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xmlns="" id="{55390C8D-5C23-4641-A537-69C2AD345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xmlns="" id="{B0012668-9BB0-4388-A164-5AF854B96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45363-447A-476B-BF91-938BC8E7B2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12197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82305F80-EAFA-4C1B-8CB5-0917EDAEF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504EA720-82BF-437B-9489-CA64202282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xmlns="" id="{9A3D99A1-9912-476F-9A6E-B078E50A91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xmlns="" id="{348C0697-750E-44F9-A485-481509F0B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63BAF-D1AB-4C38-948D-4A36060575A2}" type="datetimeFigureOut">
              <a:rPr lang="pt-BR" smtClean="0"/>
              <a:t>01/02/2020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xmlns="" id="{744F6CF8-05C8-4793-9472-2CA500DEB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xmlns="" id="{FAFF8AB4-E8EC-4869-8D48-02E26BA24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45363-447A-476B-BF91-938BC8E7B2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70053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8798E4D1-93E7-46E4-AE9E-7913C8B21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xmlns="" id="{DF2C6B40-7120-4600-9858-122F37F73C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xmlns="" id="{63ED343E-66FE-47A0-980A-B478C568C4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xmlns="" id="{2D61BD9F-739A-4A96-8830-4C3C0606C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63BAF-D1AB-4C38-948D-4A36060575A2}" type="datetimeFigureOut">
              <a:rPr lang="pt-BR" smtClean="0"/>
              <a:t>01/02/2020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xmlns="" id="{208F799A-4DA9-44DA-BAED-84BB5F0EF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xmlns="" id="{792E0903-0208-4C75-A040-31192D3D9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45363-447A-476B-BF91-938BC8E7B2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861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C2157167-FD90-4A62-9DEE-933662847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xmlns="" id="{051EA4AC-A44F-4085-8148-EB77A8A879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xmlns="" id="{F45EF876-355E-4D73-A66E-65D527BC2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63BAF-D1AB-4C38-948D-4A36060575A2}" type="datetimeFigureOut">
              <a:rPr lang="pt-BR" smtClean="0"/>
              <a:t>01/02/2020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xmlns="" id="{4F632ABC-46ED-4A4E-AF04-BFC75B749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xmlns="" id="{C67AFD55-D1D8-41E2-8757-0D6BA99A1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45363-447A-476B-BF91-938BC8E7B2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999794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xmlns="" id="{E3C09B3B-F365-406D-94F7-070585E025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xmlns="" id="{1E3E1111-9EA8-4518-AAA2-30033A2CB3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xmlns="" id="{93A08BBF-4CE9-4943-B183-AED52AC13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63BAF-D1AB-4C38-948D-4A36060575A2}" type="datetimeFigureOut">
              <a:rPr lang="pt-BR" smtClean="0"/>
              <a:t>01/02/2020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xmlns="" id="{2BDAE6B9-1F17-4A46-A5B5-F0A99775E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xmlns="" id="{C9F74F8F-39EF-4C84-B6F3-AD47BD936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45363-447A-476B-BF91-938BC8E7B2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313957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xmlns="" id="{B8921AE1-807C-45A9-B785-478B8F7730FC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xmlns="" id="{A9947C06-89EE-461F-B0F3-9E7915BEB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xmlns="" id="{C2E7604D-A45B-4B9A-B334-7F9DCC38E1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xmlns="" id="{FAB26B07-CF5C-44F2-A5B7-B6D4DC4A44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D63BAF-D1AB-4C38-948D-4A36060575A2}" type="datetimeFigureOut">
              <a:rPr lang="pt-BR" smtClean="0"/>
              <a:t>01/02/2020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xmlns="" id="{552CC0F8-7FDE-4F9C-883E-FA0F76DAF5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xmlns="" id="{0BC26AE1-99B2-4A19-AEFA-3C17DDE7C4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245363-447A-476B-BF91-938BC8E7B28E}" type="slidenum">
              <a:rPr lang="pt-BR" smtClean="0"/>
              <a:t>‹nº›</a:t>
            </a:fld>
            <a:endParaRPr lang="pt-BR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xmlns="" id="{0F89DE09-C03B-410E-84BB-FA073049FC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5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30" t="16008" r="9930" b="23539"/>
          <a:stretch/>
        </p:blipFill>
        <p:spPr>
          <a:xfrm>
            <a:off x="10591869" y="5602198"/>
            <a:ext cx="1523862" cy="1149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7669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3">
            <a:extLst>
              <a:ext uri="{FF2B5EF4-FFF2-40B4-BE49-F238E27FC236}">
                <a16:creationId xmlns:a16="http://schemas.microsoft.com/office/drawing/2014/main" xmlns="" id="{4C4F2339-3F43-4617-9804-8B27EE7E83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26883"/>
            <a:ext cx="9144000" cy="1257802"/>
          </a:xfrm>
        </p:spPr>
        <p:txBody>
          <a:bodyPr>
            <a:noAutofit/>
          </a:bodyPr>
          <a:lstStyle/>
          <a:p>
            <a:r>
              <a:rPr lang="pt-BR" sz="4400" dirty="0" smtClean="0">
                <a:effectLst/>
              </a:rPr>
              <a:t>LOGÍSTICA HOSPITALAR</a:t>
            </a:r>
            <a:endParaRPr lang="pt-BR" sz="4400" dirty="0">
              <a:solidFill>
                <a:schemeClr val="bg1"/>
              </a:solidFill>
              <a:effectLst/>
            </a:endParaRPr>
          </a:p>
        </p:txBody>
      </p:sp>
      <p:sp>
        <p:nvSpPr>
          <p:cNvPr id="10" name="Subtítulo 4">
            <a:extLst>
              <a:ext uri="{FF2B5EF4-FFF2-40B4-BE49-F238E27FC236}">
                <a16:creationId xmlns:a16="http://schemas.microsoft.com/office/drawing/2014/main" xmlns="" id="{35AD848D-C7DA-49FD-9B31-F936A9EC7076}"/>
              </a:ext>
            </a:extLst>
          </p:cNvPr>
          <p:cNvSpPr txBox="1">
            <a:spLocks/>
          </p:cNvSpPr>
          <p:nvPr/>
        </p:nvSpPr>
        <p:spPr>
          <a:xfrm>
            <a:off x="1524000" y="4563034"/>
            <a:ext cx="9144000" cy="5873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 smtClean="0">
                <a:effectLst/>
              </a:rPr>
              <a:t>EDMUNDO SOUZA</a:t>
            </a:r>
            <a:endParaRPr lang="pt-BR" dirty="0">
              <a:effectLst/>
            </a:endParaRPr>
          </a:p>
        </p:txBody>
      </p:sp>
      <p:cxnSp>
        <p:nvCxnSpPr>
          <p:cNvPr id="11" name="Conector reto 10"/>
          <p:cNvCxnSpPr/>
          <p:nvPr/>
        </p:nvCxnSpPr>
        <p:spPr>
          <a:xfrm flipV="1">
            <a:off x="-128789" y="5500047"/>
            <a:ext cx="12320789" cy="2499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aixaDeTexto 11"/>
          <p:cNvSpPr txBox="1"/>
          <p:nvPr/>
        </p:nvSpPr>
        <p:spPr>
          <a:xfrm>
            <a:off x="5033689" y="5849735"/>
            <a:ext cx="21246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spc="300" dirty="0" smtClean="0">
                <a:solidFill>
                  <a:schemeClr val="bg1"/>
                </a:solidFill>
              </a:rPr>
              <a:t>UNIDADE </a:t>
            </a:r>
            <a:r>
              <a:rPr lang="pt-BR" sz="2400" spc="300" dirty="0" smtClean="0">
                <a:solidFill>
                  <a:schemeClr val="bg1"/>
                </a:solidFill>
              </a:rPr>
              <a:t>04</a:t>
            </a:r>
            <a:endParaRPr lang="pt-BR" sz="2400" spc="3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80931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555AA40A-0415-47DA-BCE5-0076E878A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>
                <a:effectLst/>
              </a:rPr>
              <a:t>Unidade 4 | Introdução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45205521-02CD-43CD-B824-4073F365DC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3858" y="2641221"/>
            <a:ext cx="5979942" cy="2682435"/>
          </a:xfrm>
        </p:spPr>
        <p:txBody>
          <a:bodyPr>
            <a:normAutofit/>
          </a:bodyPr>
          <a:lstStyle/>
          <a:p>
            <a:pPr algn="just"/>
            <a:r>
              <a:rPr lang="pt-BR" sz="2400" dirty="0">
                <a:effectLst/>
              </a:rPr>
              <a:t>A Logística Hospitalar tem por finalidade assegurar o abastecimento de forma contínua dos insumos para assim atender as necessidades dos setores produtivos, administrar todos os problemas relacionados a suprimentos, tudo aquilo que represente investimento de capital de uma organização. </a:t>
            </a:r>
          </a:p>
        </p:txBody>
      </p:sp>
      <p:pic>
        <p:nvPicPr>
          <p:cNvPr id="1026" name="Picture 2" descr="Comprimidos cápsulas packs realistic set transparente Vetor grátis">
            <a:extLst>
              <a:ext uri="{FF2B5EF4-FFF2-40B4-BE49-F238E27FC236}">
                <a16:creationId xmlns:a16="http://schemas.microsoft.com/office/drawing/2014/main" xmlns="" id="{C4F86086-4450-4E62-B29F-6570EE73D9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878074"/>
            <a:ext cx="4208731" cy="4208731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47224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555AA40A-0415-47DA-BCE5-0076E878A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>
                <a:effectLst/>
              </a:rPr>
              <a:t>Unidade 4| </a:t>
            </a:r>
            <a:r>
              <a:rPr lang="pt-BR" b="1" dirty="0">
                <a:effectLst/>
              </a:rPr>
              <a:t>Objetivos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45205521-02CD-43CD-B824-4073F365DC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96271"/>
            <a:ext cx="10515600" cy="3130822"/>
          </a:xfrm>
        </p:spPr>
        <p:txBody>
          <a:bodyPr>
            <a:normAutofit/>
          </a:bodyPr>
          <a:lstStyle/>
          <a:p>
            <a:pPr lvl="0"/>
            <a:r>
              <a:rPr lang="pt-BR" sz="2400" dirty="0">
                <a:effectLst/>
              </a:rPr>
              <a:t>Conhecer os princípios básicos da Gestão Hospitalar</a:t>
            </a:r>
          </a:p>
          <a:p>
            <a:pPr lvl="0"/>
            <a:r>
              <a:rPr lang="pt-BR" sz="2400" dirty="0">
                <a:effectLst/>
              </a:rPr>
              <a:t>Compreender as estruturas e funções administrativas da Gestão hospitalar</a:t>
            </a:r>
          </a:p>
          <a:p>
            <a:pPr lvl="0"/>
            <a:r>
              <a:rPr lang="pt-BR" sz="2400" dirty="0">
                <a:effectLst/>
              </a:rPr>
              <a:t>Compreender a gestão da cadeia de suprimentos no âmbito Hospitalar.</a:t>
            </a:r>
          </a:p>
          <a:p>
            <a:pPr lvl="0"/>
            <a:r>
              <a:rPr lang="pt-BR" sz="2400" dirty="0">
                <a:effectLst/>
              </a:rPr>
              <a:t>Identificar, analisar e compreender a estrutura da Logística Hospitalar.</a:t>
            </a:r>
          </a:p>
          <a:p>
            <a:pPr marL="514350" indent="-514350">
              <a:buFont typeface="+mj-lt"/>
              <a:buAutoNum type="arabicPeriod"/>
            </a:pP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13779557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721C34D6-AAE8-42D2-8583-1008F87DA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>
                <a:effectLst/>
              </a:rPr>
              <a:t>Logística </a:t>
            </a:r>
            <a:r>
              <a:rPr lang="pt-BR" b="1" dirty="0">
                <a:effectLst/>
              </a:rPr>
              <a:t>Interna e Reversa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C9D43AF4-0C2B-4A66-BB71-CC565C890D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9997"/>
            <a:ext cx="5998698" cy="4353591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pt-BR" sz="2400" dirty="0">
                <a:effectLst/>
              </a:rPr>
              <a:t>Por intermédio da descrição da logística do departamento de suprimentos de um hospital é possível discutir os principais objetivos ligados ao departamento de compras, ao recebimento de medicamentos e materiais e os métodos de dispensação mais adequados para cada tipo de hospital ou departamento</a:t>
            </a:r>
            <a:r>
              <a:rPr lang="pt-BR" sz="2400" dirty="0" smtClean="0">
                <a:effectLst/>
              </a:rPr>
              <a:t>.</a:t>
            </a:r>
          </a:p>
          <a:p>
            <a:pPr algn="just"/>
            <a:r>
              <a:rPr lang="pt-BR" sz="2400" dirty="0">
                <a:effectLst/>
              </a:rPr>
              <a:t>A característica principal do sistema coletivo é fazer a solicitação de medicamentos e materiais pelos departamentos, setores, enfermagem, centro cirúrgico e unidade de terapia intensiva, baseada na transcrição médica e dispensados a estes setores em suas embalagens originais usualmente por períodos longos que variam de uma semana até 15 dias ou mais. </a:t>
            </a:r>
          </a:p>
          <a:p>
            <a:pPr algn="just"/>
            <a:endParaRPr lang="pt-BR" sz="2400" dirty="0">
              <a:effectLst/>
            </a:endParaRPr>
          </a:p>
        </p:txBody>
      </p:sp>
      <p:pic>
        <p:nvPicPr>
          <p:cNvPr id="2050" name="Picture 2" descr="Médico e enfermeira apresentando novas drogas ilustração Vetor Premium">
            <a:extLst>
              <a:ext uri="{FF2B5EF4-FFF2-40B4-BE49-F238E27FC236}">
                <a16:creationId xmlns:a16="http://schemas.microsoft.com/office/drawing/2014/main" xmlns="" id="{408D1DBD-61D7-4AF4-B2C9-1DEE5BAE8A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3648" y="1970162"/>
            <a:ext cx="4425608" cy="3315671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13602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721C34D6-AAE8-42D2-8583-1008F87DA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>
                <a:effectLst/>
              </a:rPr>
              <a:t>Evolução </a:t>
            </a:r>
            <a:r>
              <a:rPr lang="pt-BR" b="1" dirty="0">
                <a:effectLst/>
              </a:rPr>
              <a:t>da </a:t>
            </a:r>
            <a:r>
              <a:rPr lang="pt-BR" b="1" dirty="0" smtClean="0">
                <a:effectLst/>
              </a:rPr>
              <a:t>Logística </a:t>
            </a:r>
            <a:endParaRPr lang="pt-BR" b="1" dirty="0">
              <a:effectLst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C9D43AF4-0C2B-4A66-BB71-CC565C890D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03563" y="2133517"/>
            <a:ext cx="8077165" cy="3352881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pt-BR" sz="2400" dirty="0">
                <a:effectLst/>
              </a:rPr>
              <a:t>A origem do termo vem do grego “LOGÍSTICOS”, do qual o latim “LOGISTICUS” é derivado, ambos significando cálculo e raciocínio no sentido matemático. O desenvolvimento da logística está intimamente ligado ao progresso das atividades militares e das necessidades resultantes das guerras. </a:t>
            </a:r>
            <a:endParaRPr lang="pt-BR" sz="2400" dirty="0" smtClean="0">
              <a:effectLst/>
            </a:endParaRPr>
          </a:p>
          <a:p>
            <a:pPr marL="0" indent="0" algn="just">
              <a:buNone/>
            </a:pPr>
            <a:r>
              <a:rPr lang="pt-BR" sz="2400" dirty="0">
                <a:effectLst/>
              </a:rPr>
              <a:t>Uma das grandes lendas na Logística, que inspirou outros grandes líderes como Júlio César e Napoleão e que, até hoje, inspira as grandes empresas, foi Alexandre o Grande, da Macedônia. Seu império alcançou diversos países, incluindo Grécia, Pérsia e Índia. Nascido em 356 a.C., aos 16 anos já era general do exército macedônico e aos 20 anos, com a morte de seu pai, assumiu o trono.</a:t>
            </a:r>
            <a:endParaRPr lang="pt-BR" sz="2400" dirty="0"/>
          </a:p>
          <a:p>
            <a:pPr marL="0" indent="0" algn="just">
              <a:buNone/>
            </a:pP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14795761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721C34D6-AAE8-42D2-8583-1008F87DA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>
                <a:effectLst/>
              </a:rPr>
              <a:t>Logística </a:t>
            </a:r>
            <a:r>
              <a:rPr lang="pt-BR" b="1" dirty="0">
                <a:effectLst/>
              </a:rPr>
              <a:t>no segmento hospitalar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C9D43AF4-0C2B-4A66-BB71-CC565C890D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4774" y="2092576"/>
            <a:ext cx="10242451" cy="329829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pt-BR" sz="2400" dirty="0">
                <a:effectLst/>
              </a:rPr>
              <a:t>Em 1972, foi assinado um convênio entre a Escola de Administração de Empresas de São Paulo da Fundação Getúlio Vargas e o Hospital das Clínicas da Faculdade de Medicina da Universidade de São Paulo. </a:t>
            </a:r>
            <a:endParaRPr lang="pt-BR" sz="2400" dirty="0" smtClean="0">
              <a:effectLst/>
            </a:endParaRPr>
          </a:p>
          <a:p>
            <a:pPr marL="0" indent="0" algn="just">
              <a:buNone/>
            </a:pPr>
            <a:r>
              <a:rPr lang="pt-BR" sz="2400" dirty="0">
                <a:effectLst/>
              </a:rPr>
              <a:t>Este projeto, denominado PROAHSA – Programa de Estudos Avançados em Administração Hospitalar e Sistemas de Saúde, vem desde então ministrando cursos de especialização e mestrado </a:t>
            </a:r>
            <a:r>
              <a:rPr lang="pt-BR" sz="2400" i="1" dirty="0" err="1">
                <a:effectLst/>
              </a:rPr>
              <a:t>strictu</a:t>
            </a:r>
            <a:r>
              <a:rPr lang="pt-BR" sz="2400" i="1" dirty="0">
                <a:effectLst/>
              </a:rPr>
              <a:t> sensu, </a:t>
            </a:r>
            <a:r>
              <a:rPr lang="pt-BR" sz="2400" dirty="0">
                <a:effectLst/>
              </a:rPr>
              <a:t>destinado a profissionais da área da saúde, bem como realizando pesquisas e</a:t>
            </a:r>
            <a:r>
              <a:rPr lang="pt-BR" sz="2400" i="1" dirty="0">
                <a:effectLst/>
              </a:rPr>
              <a:t> </a:t>
            </a:r>
            <a:r>
              <a:rPr lang="pt-BR" sz="2400" dirty="0">
                <a:effectLst/>
              </a:rPr>
              <a:t>consultorias no setor (BARBIERI e MACHLINE, 2006</a:t>
            </a:r>
            <a:r>
              <a:rPr lang="pt-BR" sz="2400" dirty="0" smtClean="0">
                <a:effectLst/>
              </a:rPr>
              <a:t>).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42014396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721C34D6-AAE8-42D2-8583-1008F87DA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>
                <a:effectLst/>
              </a:rPr>
              <a:t>Logística </a:t>
            </a:r>
            <a:r>
              <a:rPr lang="pt-BR" b="1" dirty="0">
                <a:effectLst/>
              </a:rPr>
              <a:t>no segmento hospitalar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C9D43AF4-0C2B-4A66-BB71-CC565C890D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60115" y="2105872"/>
            <a:ext cx="5529775" cy="3134517"/>
          </a:xfrm>
        </p:spPr>
        <p:txBody>
          <a:bodyPr>
            <a:noAutofit/>
          </a:bodyPr>
          <a:lstStyle/>
          <a:p>
            <a:pPr algn="just"/>
            <a:r>
              <a:rPr lang="pt-BR" sz="2400" dirty="0">
                <a:effectLst/>
              </a:rPr>
              <a:t>Para Paterno (1990), a importância da logística dos materiais no hospital é importante, pois assegura ao mesmo o reabastecimento racional dos materiais necessários a manutenção dos fluxos de seu ciclo operacional e é importante quando leva o Administrador ao exercício de uma série de atitudes administrativas mais específicas, tais como:</a:t>
            </a:r>
          </a:p>
        </p:txBody>
      </p:sp>
      <p:pic>
        <p:nvPicPr>
          <p:cNvPr id="4098" name="Picture 2" descr="Personagem médico, ambulância carro e farmácia medicina drogas comprimidos conjunto Vetor Premium">
            <a:extLst>
              <a:ext uri="{FF2B5EF4-FFF2-40B4-BE49-F238E27FC236}">
                <a16:creationId xmlns:a16="http://schemas.microsoft.com/office/drawing/2014/main" xmlns="" id="{1B4F3F3E-0A09-441D-890A-41C2FA590B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5345" y="1690688"/>
            <a:ext cx="3940860" cy="394086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291529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721C34D6-AAE8-42D2-8583-1008F87DA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>
                <a:effectLst/>
              </a:rPr>
              <a:t>Logística </a:t>
            </a:r>
            <a:r>
              <a:rPr lang="pt-BR" b="1" dirty="0">
                <a:effectLst/>
              </a:rPr>
              <a:t>no segmento hospitalar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C9D43AF4-0C2B-4A66-BB71-CC565C890D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16133"/>
            <a:ext cx="8561555" cy="1608848"/>
          </a:xfrm>
        </p:spPr>
        <p:txBody>
          <a:bodyPr>
            <a:noAutofit/>
          </a:bodyPr>
          <a:lstStyle/>
          <a:p>
            <a:pPr lvl="0" algn="just"/>
            <a:r>
              <a:rPr lang="pt-BR" sz="2400" dirty="0">
                <a:effectLst/>
              </a:rPr>
              <a:t>prever quantidades e qualidades;</a:t>
            </a:r>
          </a:p>
          <a:p>
            <a:pPr lvl="0" algn="just"/>
            <a:r>
              <a:rPr lang="pt-BR" sz="2400" dirty="0">
                <a:effectLst/>
              </a:rPr>
              <a:t>prever sistemas de reposição de materiais;</a:t>
            </a:r>
          </a:p>
          <a:p>
            <a:pPr lvl="0" algn="just"/>
            <a:r>
              <a:rPr lang="pt-BR" sz="2400" dirty="0">
                <a:effectLst/>
              </a:rPr>
              <a:t>adquirir, minimizando custos;</a:t>
            </a:r>
          </a:p>
          <a:p>
            <a:pPr lvl="0" algn="just"/>
            <a:r>
              <a:rPr lang="pt-BR" sz="2400" dirty="0">
                <a:effectLst/>
              </a:rPr>
              <a:t>armazenar, estocando técnica e funcionalmente;</a:t>
            </a:r>
          </a:p>
          <a:p>
            <a:pPr lvl="0" algn="just"/>
            <a:r>
              <a:rPr lang="pt-BR" sz="2400" dirty="0">
                <a:effectLst/>
              </a:rPr>
              <a:t>conservar, protegendo contra a deterioração, avarias e obsolescência;</a:t>
            </a:r>
          </a:p>
          <a:p>
            <a:pPr lvl="0" algn="just"/>
            <a:r>
              <a:rPr lang="pt-BR" sz="2400" dirty="0">
                <a:effectLst/>
              </a:rPr>
              <a:t>controlar entradas, saídas e saldos;</a:t>
            </a:r>
          </a:p>
          <a:p>
            <a:pPr lvl="0" algn="just"/>
            <a:r>
              <a:rPr lang="pt-BR" sz="2400" dirty="0">
                <a:effectLst/>
              </a:rPr>
              <a:t>prover, com distribuição rápida e econômica;</a:t>
            </a:r>
          </a:p>
          <a:p>
            <a:pPr lvl="0" algn="just"/>
            <a:r>
              <a:rPr lang="pt-BR" sz="2400" dirty="0">
                <a:effectLst/>
              </a:rPr>
              <a:t>atuar com dinamismo e segurança.</a:t>
            </a:r>
          </a:p>
        </p:txBody>
      </p:sp>
    </p:spTree>
    <p:extLst>
      <p:ext uri="{BB962C8B-B14F-4D97-AF65-F5344CB8AC3E}">
        <p14:creationId xmlns:p14="http://schemas.microsoft.com/office/powerpoint/2010/main" val="24625223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721C34D6-AAE8-42D2-8583-1008F87DA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>
                <a:effectLst/>
              </a:rPr>
              <a:t>Logística </a:t>
            </a:r>
            <a:r>
              <a:rPr lang="pt-BR" b="1" dirty="0">
                <a:effectLst/>
              </a:rPr>
              <a:t>no segmento hospitalar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C9D43AF4-0C2B-4A66-BB71-CC565C890D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8554" y="2624576"/>
            <a:ext cx="10515600" cy="1608848"/>
          </a:xfrm>
        </p:spPr>
        <p:txBody>
          <a:bodyPr>
            <a:noAutofit/>
          </a:bodyPr>
          <a:lstStyle/>
          <a:p>
            <a:pPr algn="just"/>
            <a:r>
              <a:rPr lang="pt-BR" sz="2400" dirty="0">
                <a:effectLst/>
              </a:rPr>
              <a:t>Para Paterno (1990), vale destacar a importância das classificações mais vitais de materiais (como XYZ, ABC, estratégicos, entre outros) nos quais são enfatizados custos e receitas preponderantes, na compra, na venda ou no aspecto de criticidade ao faltarem ou as razões técnicas e humanas (e não econômicas) de estarem em estoque no hospital.</a:t>
            </a:r>
          </a:p>
        </p:txBody>
      </p:sp>
    </p:spTree>
    <p:extLst>
      <p:ext uri="{BB962C8B-B14F-4D97-AF65-F5344CB8AC3E}">
        <p14:creationId xmlns:p14="http://schemas.microsoft.com/office/powerpoint/2010/main" val="42187959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721C34D6-AAE8-42D2-8583-1008F87DA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582" y="365125"/>
            <a:ext cx="10515600" cy="1325563"/>
          </a:xfrm>
        </p:spPr>
        <p:txBody>
          <a:bodyPr/>
          <a:lstStyle/>
          <a:p>
            <a:r>
              <a:rPr lang="pt-BR" b="1" dirty="0" smtClean="0">
                <a:effectLst/>
              </a:rPr>
              <a:t>Fluxo </a:t>
            </a:r>
            <a:r>
              <a:rPr lang="pt-BR" b="1" dirty="0">
                <a:effectLst/>
              </a:rPr>
              <a:t>de materiais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C9D43AF4-0C2B-4A66-BB71-CC565C890D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01446" y="1955815"/>
            <a:ext cx="5529775" cy="1608848"/>
          </a:xfrm>
        </p:spPr>
        <p:txBody>
          <a:bodyPr>
            <a:noAutofit/>
          </a:bodyPr>
          <a:lstStyle/>
          <a:p>
            <a:pPr algn="just"/>
            <a:r>
              <a:rPr lang="pt-BR" sz="2400" dirty="0">
                <a:effectLst/>
              </a:rPr>
              <a:t>As atividades voltadas para administrar o fluxo de materiais e de informações, ao longo da cadeia de suprimento, constituem o que genericamente se denomina LOGÍSTICA. Uma cadeia de suprimentos é um conjunto de unidades produtivas unidas por um fluxo de materiais e informações com o objetivo de satisfazer as necessidades de usuários ou clientes específicos (BARBIERI e MACHLINE, 2006).</a:t>
            </a:r>
          </a:p>
          <a:p>
            <a:pPr algn="just"/>
            <a:endParaRPr lang="pt-BR" sz="2400" dirty="0">
              <a:effectLst/>
            </a:endParaRPr>
          </a:p>
        </p:txBody>
      </p:sp>
      <p:pic>
        <p:nvPicPr>
          <p:cNvPr id="5122" name="Picture 2" descr="Proteção contra imunidade e página de destino de assistência médica Vetor Premium">
            <a:extLst>
              <a:ext uri="{FF2B5EF4-FFF2-40B4-BE49-F238E27FC236}">
                <a16:creationId xmlns:a16="http://schemas.microsoft.com/office/drawing/2014/main" xmlns="" id="{758D05A0-FEF2-45C6-9A01-D9A2E986A4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582" y="1986903"/>
            <a:ext cx="5198305" cy="3155521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94062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721C34D6-AAE8-42D2-8583-1008F87DA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>
                <a:effectLst/>
              </a:rPr>
              <a:t>Fluxo </a:t>
            </a:r>
            <a:r>
              <a:rPr lang="pt-BR" b="1" dirty="0">
                <a:effectLst/>
              </a:rPr>
              <a:t>de materiais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C9D43AF4-0C2B-4A66-BB71-CC565C890D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6431" y="2373591"/>
            <a:ext cx="9144000" cy="1608848"/>
          </a:xfrm>
        </p:spPr>
        <p:txBody>
          <a:bodyPr>
            <a:noAutofit/>
          </a:bodyPr>
          <a:lstStyle/>
          <a:p>
            <a:pPr algn="just"/>
            <a:r>
              <a:rPr lang="pt-BR" sz="2400" dirty="0">
                <a:effectLst/>
              </a:rPr>
              <a:t>De acordo com uma definição do </a:t>
            </a:r>
            <a:r>
              <a:rPr lang="pt-BR" sz="2400" dirty="0" err="1">
                <a:effectLst/>
              </a:rPr>
              <a:t>Council</a:t>
            </a:r>
            <a:r>
              <a:rPr lang="pt-BR" sz="2400" dirty="0">
                <a:effectLst/>
              </a:rPr>
              <a:t> </a:t>
            </a:r>
            <a:r>
              <a:rPr lang="pt-BR" sz="2400" dirty="0" err="1">
                <a:effectLst/>
              </a:rPr>
              <a:t>of</a:t>
            </a:r>
            <a:r>
              <a:rPr lang="pt-BR" sz="2400" dirty="0">
                <a:effectLst/>
              </a:rPr>
              <a:t> </a:t>
            </a:r>
            <a:r>
              <a:rPr lang="pt-BR" sz="2400" dirty="0" err="1">
                <a:effectLst/>
              </a:rPr>
              <a:t>Logistics</a:t>
            </a:r>
            <a:r>
              <a:rPr lang="pt-BR" sz="2400" dirty="0">
                <a:effectLst/>
              </a:rPr>
              <a:t> </a:t>
            </a:r>
            <a:r>
              <a:rPr lang="pt-BR" sz="2400" dirty="0" err="1">
                <a:effectLst/>
              </a:rPr>
              <a:t>Manegements</a:t>
            </a:r>
            <a:r>
              <a:rPr lang="pt-BR" sz="2400" dirty="0">
                <a:effectLst/>
              </a:rPr>
              <a:t>, já amplamente conhecida, logística é o processo de planejamento, implementação e controle do fluxo eficiente e economicamente eficaz de matérias-primas, materiais em processo, produtos acabados e informações relacionadas com essas atividades, desde o ponto de origem até o de consumo, com o objetivo de atender às exigências dos clientes. </a:t>
            </a:r>
          </a:p>
        </p:txBody>
      </p:sp>
    </p:spTree>
    <p:extLst>
      <p:ext uri="{BB962C8B-B14F-4D97-AF65-F5344CB8AC3E}">
        <p14:creationId xmlns:p14="http://schemas.microsoft.com/office/powerpoint/2010/main" val="29613740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721C34D6-AAE8-42D2-8583-1008F87DA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892" y="133627"/>
            <a:ext cx="10515600" cy="1325563"/>
          </a:xfrm>
        </p:spPr>
        <p:txBody>
          <a:bodyPr/>
          <a:lstStyle/>
          <a:p>
            <a:r>
              <a:rPr lang="pt-BR" b="1" dirty="0" smtClean="0">
                <a:effectLst/>
              </a:rPr>
              <a:t>A </a:t>
            </a:r>
            <a:r>
              <a:rPr lang="pt-BR" b="1" dirty="0">
                <a:effectLst/>
              </a:rPr>
              <a:t>função da compra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C9D43AF4-0C2B-4A66-BB71-CC565C890D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6567" y="1254474"/>
            <a:ext cx="10200249" cy="1608848"/>
          </a:xfrm>
        </p:spPr>
        <p:txBody>
          <a:bodyPr>
            <a:noAutofit/>
          </a:bodyPr>
          <a:lstStyle/>
          <a:p>
            <a:pPr algn="just"/>
            <a:r>
              <a:rPr lang="pt-BR" sz="2200" dirty="0">
                <a:effectLst/>
              </a:rPr>
              <a:t>A área de compras tem por objetivo processar as aquisições de bens que a organização necessita. O termo </a:t>
            </a:r>
            <a:r>
              <a:rPr lang="pt-BR" sz="2200" i="1" dirty="0">
                <a:effectLst/>
              </a:rPr>
              <a:t>compra</a:t>
            </a:r>
            <a:r>
              <a:rPr lang="pt-BR" sz="2200" dirty="0">
                <a:effectLst/>
              </a:rPr>
              <a:t> será aqui entendido como uma das funções da gestão de materiais ou de suprimento que envolve as seguintes famílias de atividades: seleção de materiais, gestão de estoque, compras e armazenagem</a:t>
            </a:r>
            <a:r>
              <a:rPr lang="pt-BR" sz="2200" dirty="0" smtClean="0">
                <a:effectLst/>
              </a:rPr>
              <a:t>.</a:t>
            </a:r>
          </a:p>
          <a:p>
            <a:pPr algn="just"/>
            <a:r>
              <a:rPr lang="pt-BR" sz="2200" dirty="0">
                <a:effectLst/>
              </a:rPr>
              <a:t>A área de compras funciona como um elo entre a organização e seu mercado fornecedor, esta área cuida da aquisição de bens patrimoniais e da contratação de serviços relacionados a esses bens, como: inspeção e manutenção (BARBIERI e MACHLINE, 2006</a:t>
            </a:r>
            <a:r>
              <a:rPr lang="pt-BR" sz="2200" dirty="0" smtClean="0">
                <a:effectLst/>
              </a:rPr>
              <a:t>).</a:t>
            </a:r>
          </a:p>
          <a:p>
            <a:pPr algn="just"/>
            <a:r>
              <a:rPr lang="pt-BR" sz="2200" dirty="0">
                <a:effectLst/>
              </a:rPr>
              <a:t>Para Paterno (1990), compra é um serviço que tem a finalidade de prever os materiais necessários ao hospital, planejar as quantidades corretas e satisfazê-las no momento certo, na melhor qualidade e ao menor custo</a:t>
            </a:r>
            <a:r>
              <a:rPr lang="pt-BR" sz="2200" dirty="0" smtClean="0">
                <a:effectLst/>
              </a:rPr>
              <a:t>.</a:t>
            </a:r>
          </a:p>
          <a:p>
            <a:pPr algn="just"/>
            <a:r>
              <a:rPr lang="pt-BR" sz="2200" dirty="0">
                <a:effectLst/>
              </a:rPr>
              <a:t>De acordo com Barbieri e Machline (2006), o termo compra deve ser entendido como uma das funções da gestão de materiais ou de suprimentos e que a administração de materiais envolve as seguintes famílias de atividades: seleção de materiais, gestão de estoques, compras, e armazenagem. A área de compras funciona como um elo entre a organização e seu mercado fornecedor.</a:t>
            </a:r>
          </a:p>
          <a:p>
            <a:pPr algn="just"/>
            <a:endParaRPr lang="pt-BR" sz="2200" dirty="0">
              <a:effectLst/>
            </a:endParaRPr>
          </a:p>
          <a:p>
            <a:pPr algn="just"/>
            <a:endParaRPr lang="pt-BR" sz="22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134189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721C34D6-AAE8-42D2-8583-1008F87DA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>
                <a:effectLst/>
              </a:rPr>
              <a:t>Objetivos</a:t>
            </a:r>
            <a:endParaRPr lang="pt-BR" b="1" dirty="0">
              <a:effectLst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C9D43AF4-0C2B-4A66-BB71-CC565C890D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8554" y="1820152"/>
            <a:ext cx="10466258" cy="1608848"/>
          </a:xfrm>
        </p:spPr>
        <p:txBody>
          <a:bodyPr>
            <a:noAutofit/>
          </a:bodyPr>
          <a:lstStyle/>
          <a:p>
            <a:pPr algn="just"/>
            <a:r>
              <a:rPr lang="pt-BR" sz="2400" dirty="0">
                <a:effectLst/>
              </a:rPr>
              <a:t>Segundo Dias (1993), os objetivos básicos de uma seção de compras são:</a:t>
            </a:r>
          </a:p>
          <a:p>
            <a:pPr lvl="0" algn="just"/>
            <a:r>
              <a:rPr lang="pt-BR" sz="2400" dirty="0">
                <a:effectLst/>
              </a:rPr>
              <a:t>Obter um fluxo contínuo de suprimentos a fim de atender aos programas de produção;</a:t>
            </a:r>
          </a:p>
          <a:p>
            <a:pPr lvl="0" algn="just"/>
            <a:r>
              <a:rPr lang="pt-BR" sz="2400" dirty="0">
                <a:effectLst/>
              </a:rPr>
              <a:t>Coordenar este fluxo de maneira que seja aplicado um mínimo de investimento que afete a operacionalidade da empresa;</a:t>
            </a:r>
          </a:p>
          <a:p>
            <a:pPr lvl="0" algn="just"/>
            <a:r>
              <a:rPr lang="pt-BR" sz="2400" dirty="0">
                <a:effectLst/>
              </a:rPr>
              <a:t>Comprar materiais e insumos aos menores preços obedecendo a padrões de qualidade e quantidade definidos e</a:t>
            </a:r>
          </a:p>
          <a:p>
            <a:pPr lvl="0" algn="just"/>
            <a:r>
              <a:rPr lang="pt-BR" sz="2400" dirty="0">
                <a:effectLst/>
              </a:rPr>
              <a:t>Procurar dentro de uma negociação justa e honesta as melhores condições para a empresa, sobretudo as condições de pagamento.</a:t>
            </a:r>
          </a:p>
        </p:txBody>
      </p:sp>
    </p:spTree>
    <p:extLst>
      <p:ext uri="{BB962C8B-B14F-4D97-AF65-F5344CB8AC3E}">
        <p14:creationId xmlns:p14="http://schemas.microsoft.com/office/powerpoint/2010/main" val="25392106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721C34D6-AAE8-42D2-8583-1008F87DA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225" y="374830"/>
            <a:ext cx="10515600" cy="1325563"/>
          </a:xfrm>
        </p:spPr>
        <p:txBody>
          <a:bodyPr/>
          <a:lstStyle/>
          <a:p>
            <a:r>
              <a:rPr lang="pt-BR" b="1" dirty="0" smtClean="0">
                <a:effectLst/>
              </a:rPr>
              <a:t>Processo </a:t>
            </a:r>
            <a:r>
              <a:rPr lang="pt-BR" b="1" dirty="0">
                <a:effectLst/>
              </a:rPr>
              <a:t>de compra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C9D43AF4-0C2B-4A66-BB71-CC565C890D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83333" y="2201475"/>
            <a:ext cx="5529775" cy="1608848"/>
          </a:xfrm>
        </p:spPr>
        <p:txBody>
          <a:bodyPr>
            <a:noAutofit/>
          </a:bodyPr>
          <a:lstStyle/>
          <a:p>
            <a:pPr algn="just"/>
            <a:r>
              <a:rPr lang="pt-BR" sz="2400" dirty="0">
                <a:effectLst/>
              </a:rPr>
              <a:t>O processo de compra varia de acordo com o tipo de compra a ser efetuada: compras de itens padronizados, compras de emergência e compras de itens não padronizados (BARBIERI e MACHLINE, 2006).</a:t>
            </a:r>
          </a:p>
        </p:txBody>
      </p:sp>
      <p:pic>
        <p:nvPicPr>
          <p:cNvPr id="8194" name="Picture 2" descr="Faixa horizontal da nano technologies Vetor grátis">
            <a:extLst>
              <a:ext uri="{FF2B5EF4-FFF2-40B4-BE49-F238E27FC236}">
                <a16:creationId xmlns:a16="http://schemas.microsoft.com/office/drawing/2014/main" xmlns="" id="{ABA109FA-639F-4B05-9976-80120EE4A5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848" y="1955815"/>
            <a:ext cx="5234252" cy="2984675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53205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721C34D6-AAE8-42D2-8583-1008F87DA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>
                <a:effectLst/>
              </a:rPr>
              <a:t>Processo de </a:t>
            </a:r>
            <a:r>
              <a:rPr lang="pt-BR" b="1" dirty="0">
                <a:effectLst/>
              </a:rPr>
              <a:t>compra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C9D43AF4-0C2B-4A66-BB71-CC565C890D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1685" y="1955816"/>
            <a:ext cx="6072116" cy="3521572"/>
          </a:xfrm>
        </p:spPr>
        <p:txBody>
          <a:bodyPr>
            <a:noAutofit/>
          </a:bodyPr>
          <a:lstStyle/>
          <a:p>
            <a:pPr algn="just"/>
            <a:r>
              <a:rPr lang="pt-BR" sz="2400" dirty="0">
                <a:effectLst/>
              </a:rPr>
              <a:t>Para Paterno (1990), o processo de compra é marcado por dois momentos distintos: o tempo de processamento interno e o tempo de processamento externo do pedido.</a:t>
            </a:r>
          </a:p>
          <a:p>
            <a:pPr algn="just"/>
            <a:r>
              <a:rPr lang="pt-BR" sz="2400" dirty="0">
                <a:effectLst/>
              </a:rPr>
              <a:t>Ainda, segundo Paterno (1990), o tempo de processamento interno do pedido pressupõe a escolha do fornecedor, negociação, a emissão e entrega do pedido ao fornecedor. O processamento externo do pedido pressupõe a preparação da mercadoria, emissão de notas fiscais e transporte dos materiais até o hospital.</a:t>
            </a:r>
          </a:p>
        </p:txBody>
      </p:sp>
      <p:pic>
        <p:nvPicPr>
          <p:cNvPr id="9218" name="Picture 2" descr="Conjunto de ícones plana de armazém Vetor grátis">
            <a:extLst>
              <a:ext uri="{FF2B5EF4-FFF2-40B4-BE49-F238E27FC236}">
                <a16:creationId xmlns:a16="http://schemas.microsoft.com/office/drawing/2014/main" xmlns="" id="{F6A2C91D-20D8-4C96-A0D7-AA52E4A7B4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7331" y="1955816"/>
            <a:ext cx="3786700" cy="378670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723895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721C34D6-AAE8-42D2-8583-1008F87DA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>
                <a:effectLst/>
              </a:rPr>
              <a:t>Solicitação </a:t>
            </a:r>
            <a:r>
              <a:rPr lang="pt-BR" b="1" dirty="0">
                <a:effectLst/>
              </a:rPr>
              <a:t>de compras</a:t>
            </a:r>
            <a:endParaRPr lang="pt-BR" sz="3200" b="1" dirty="0">
              <a:effectLst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C9D43AF4-0C2B-4A66-BB71-CC565C890D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9650" y="2373591"/>
            <a:ext cx="8525021" cy="1608848"/>
          </a:xfrm>
        </p:spPr>
        <p:txBody>
          <a:bodyPr>
            <a:noAutofit/>
          </a:bodyPr>
          <a:lstStyle/>
          <a:p>
            <a:pPr algn="just"/>
            <a:r>
              <a:rPr lang="pt-BR" sz="2400" dirty="0">
                <a:effectLst/>
              </a:rPr>
              <a:t>Solicitação de compras é um documento que dá autorização para o comprador executar uma compra, seja de materiais produtivos ou improdutivos, ela é solicitada para um programa de produção, para um projeto que se está desenvolvendo, ou ainda, para abastecimento geral da empresa. Deve informar o que se deve comprar em que quantidade, o prazo de entrega, o local de entrega e, em alguns casos, especiais os prováveis fornecedores (DIAS, 1993).</a:t>
            </a:r>
          </a:p>
        </p:txBody>
      </p:sp>
    </p:spTree>
    <p:extLst>
      <p:ext uri="{BB962C8B-B14F-4D97-AF65-F5344CB8AC3E}">
        <p14:creationId xmlns:p14="http://schemas.microsoft.com/office/powerpoint/2010/main" val="36609959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721C34D6-AAE8-42D2-8583-1008F87DA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>
                <a:effectLst/>
              </a:rPr>
              <a:t>Fornecedores</a:t>
            </a:r>
            <a:endParaRPr lang="pt-BR" sz="3200" b="1" dirty="0">
              <a:effectLst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C9D43AF4-0C2B-4A66-BB71-CC565C890D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32060" y="1912846"/>
            <a:ext cx="5743589" cy="1608848"/>
          </a:xfrm>
        </p:spPr>
        <p:txBody>
          <a:bodyPr>
            <a:noAutofit/>
          </a:bodyPr>
          <a:lstStyle/>
          <a:p>
            <a:pPr algn="just"/>
            <a:r>
              <a:rPr lang="pt-BR" sz="2400" dirty="0">
                <a:effectLst/>
              </a:rPr>
              <a:t>São as fontes de suprimento, é toda empresa interessada em suprir as necessidades de outra empresa, no caso do hospital essas necessidades são basicamente materiais, medicamentos e gêneros. Serão escolhidos os fornecedores que procedam corretamente, cumprindo as condições estipuladas, aceitando críticas, reconhecendo erros e imbuídos do espírito sincero de bem servir (PATERNO, 1990).</a:t>
            </a:r>
          </a:p>
          <a:p>
            <a:pPr algn="just"/>
            <a:endParaRPr lang="pt-BR" sz="2400" dirty="0">
              <a:effectLst/>
            </a:endParaRPr>
          </a:p>
          <a:p>
            <a:pPr algn="just"/>
            <a:endParaRPr lang="pt-BR" sz="2400" dirty="0">
              <a:effectLst/>
            </a:endParaRPr>
          </a:p>
        </p:txBody>
      </p:sp>
      <p:pic>
        <p:nvPicPr>
          <p:cNvPr id="11266" name="Picture 2" descr="Homem de negócios com dólares do dinheiro - conceito do negócio, computador e finança, investimento, economias. Foto Premium">
            <a:extLst>
              <a:ext uri="{FF2B5EF4-FFF2-40B4-BE49-F238E27FC236}">
                <a16:creationId xmlns:a16="http://schemas.microsoft.com/office/drawing/2014/main" xmlns="" id="{1DA718F6-349D-4571-95AA-6C8DD95C556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79" r="13396"/>
          <a:stretch/>
        </p:blipFill>
        <p:spPr bwMode="auto">
          <a:xfrm>
            <a:off x="996286" y="2075540"/>
            <a:ext cx="4326341" cy="3142022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469324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721C34D6-AAE8-42D2-8583-1008F87DA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336" y="335344"/>
            <a:ext cx="10515600" cy="1325563"/>
          </a:xfrm>
        </p:spPr>
        <p:txBody>
          <a:bodyPr/>
          <a:lstStyle/>
          <a:p>
            <a:r>
              <a:rPr lang="pt-BR" b="1" dirty="0" smtClean="0">
                <a:effectLst/>
              </a:rPr>
              <a:t>Fornecedores</a:t>
            </a:r>
            <a:endParaRPr lang="pt-BR" sz="3200" b="1" dirty="0">
              <a:effectLst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C9D43AF4-0C2B-4A66-BB71-CC565C890D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68932" y="1475797"/>
            <a:ext cx="6418018" cy="1608848"/>
          </a:xfrm>
        </p:spPr>
        <p:txBody>
          <a:bodyPr>
            <a:noAutofit/>
          </a:bodyPr>
          <a:lstStyle/>
          <a:p>
            <a:pPr algn="just"/>
            <a:r>
              <a:rPr lang="pt-BR" sz="2200" dirty="0">
                <a:effectLst/>
              </a:rPr>
              <a:t>O autor citado classifica os fornecedores como:</a:t>
            </a:r>
          </a:p>
          <a:p>
            <a:pPr lvl="0" algn="just"/>
            <a:r>
              <a:rPr lang="pt-BR" sz="2200" dirty="0">
                <a:effectLst/>
              </a:rPr>
              <a:t>Tradicionais, aqueles que o hospital costuma transacionar, são os fornecedores de casa.</a:t>
            </a:r>
          </a:p>
          <a:p>
            <a:pPr lvl="0" algn="just"/>
            <a:r>
              <a:rPr lang="pt-BR" sz="2200" dirty="0">
                <a:effectLst/>
              </a:rPr>
              <a:t>Automáticos, normalmente ligados ao suprimento de materiais, automaticamente repostos no estoque.</a:t>
            </a:r>
          </a:p>
          <a:p>
            <a:pPr lvl="0" algn="just"/>
            <a:r>
              <a:rPr lang="pt-BR" sz="2200" dirty="0">
                <a:effectLst/>
              </a:rPr>
              <a:t>Exclusivos, são os fornecedores chamados monopolistas, usualmente pouco preocupados com o comprador; este precisa deles e não eles do comprador.</a:t>
            </a:r>
          </a:p>
          <a:p>
            <a:pPr lvl="0" algn="just"/>
            <a:r>
              <a:rPr lang="pt-BR" sz="2200" dirty="0">
                <a:effectLst/>
              </a:rPr>
              <a:t>Especializados, fabricam materiais especiais e característicos que o hospital poderá ocasionalmente necessitar.</a:t>
            </a:r>
          </a:p>
          <a:p>
            <a:pPr algn="just"/>
            <a:endParaRPr lang="pt-BR" sz="2200" dirty="0">
              <a:effectLst/>
            </a:endParaRPr>
          </a:p>
          <a:p>
            <a:pPr algn="just"/>
            <a:endParaRPr lang="pt-BR" sz="2200" dirty="0">
              <a:effectLst/>
            </a:endParaRPr>
          </a:p>
        </p:txBody>
      </p:sp>
      <p:pic>
        <p:nvPicPr>
          <p:cNvPr id="12290" name="Picture 2" descr="Uma visão aérea da seringa de aço inoxidável vintage; otoscópio e equipamentos médicos na mesa de madeira Foto gratuita">
            <a:extLst>
              <a:ext uri="{FF2B5EF4-FFF2-40B4-BE49-F238E27FC236}">
                <a16:creationId xmlns:a16="http://schemas.microsoft.com/office/drawing/2014/main" xmlns="" id="{3CC7D872-4E1E-4EF0-9D5E-0267782BFC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562" y="2471546"/>
            <a:ext cx="4636623" cy="3088613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69756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721C34D6-AAE8-42D2-8583-1008F87DA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>
                <a:effectLst/>
              </a:rPr>
              <a:t>Fornecedores</a:t>
            </a:r>
            <a:endParaRPr lang="pt-BR" sz="3200" b="1" dirty="0">
              <a:effectLst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C9D43AF4-0C2B-4A66-BB71-CC565C890D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9058" y="2488078"/>
            <a:ext cx="9264309" cy="1608848"/>
          </a:xfrm>
        </p:spPr>
        <p:txBody>
          <a:bodyPr>
            <a:noAutofit/>
          </a:bodyPr>
          <a:lstStyle/>
          <a:p>
            <a:pPr algn="just"/>
            <a:r>
              <a:rPr lang="pt-BR" sz="2400" dirty="0">
                <a:effectLst/>
              </a:rPr>
              <a:t>Para Barbieri e Machline (2006), a escolha dos fornecedores deve ser feita dentro do critério de pontualidade, qualidade e quantidades solicitadas, velocidade nas entregas e custo mínimo à organização. Preliminarmente, as empresas fornecedoras devem apresentar provas de sua idoneidade fiscal, demonstrativos contábeis, seus sistemas de gestão de qualidade e ambiental para com as informações comerciais (preço, prazo, condições e etc.) formarem o cadastro preliminar.</a:t>
            </a:r>
          </a:p>
          <a:p>
            <a:pPr algn="just"/>
            <a:endParaRPr lang="pt-BR" sz="2400" dirty="0">
              <a:effectLst/>
            </a:endParaRPr>
          </a:p>
          <a:p>
            <a:pPr algn="just"/>
            <a:endParaRPr lang="pt-BR" sz="24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1344135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721C34D6-AAE8-42D2-8583-1008F87DA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>
                <a:effectLst/>
              </a:rPr>
              <a:t>Fornecedores</a:t>
            </a:r>
            <a:endParaRPr lang="pt-BR" sz="3200" b="1" dirty="0">
              <a:effectLst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C9D43AF4-0C2B-4A66-BB71-CC565C890D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8554" y="1876659"/>
            <a:ext cx="10615246" cy="160884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t-BR" sz="2400" dirty="0">
                <a:effectLst/>
              </a:rPr>
              <a:t>Para Paterno (1990), a seleção de fornecedores deve obedecer a quatro fases, a seguir:</a:t>
            </a:r>
          </a:p>
          <a:p>
            <a:pPr lvl="0"/>
            <a:r>
              <a:rPr lang="pt-BR" sz="2400" dirty="0">
                <a:effectLst/>
              </a:rPr>
              <a:t>Fase de levantamento, em que se procura atingir todas as possíveis fontes de fornecimento daquele produto;</a:t>
            </a:r>
          </a:p>
          <a:p>
            <a:pPr lvl="0"/>
            <a:r>
              <a:rPr lang="pt-BR" sz="2400" dirty="0">
                <a:effectLst/>
              </a:rPr>
              <a:t>Fase de estudo da qualificação, características e vantagens oferecidas pelo fornecedor;</a:t>
            </a:r>
          </a:p>
          <a:p>
            <a:pPr lvl="0"/>
            <a:r>
              <a:rPr lang="pt-BR" sz="2400" dirty="0">
                <a:effectLst/>
              </a:rPr>
              <a:t>Fase de negociações e escolha da fonte mais satisfatória para algumas compras como experiência;</a:t>
            </a:r>
          </a:p>
          <a:p>
            <a:pPr lvl="0"/>
            <a:r>
              <a:rPr lang="pt-BR" sz="2400" dirty="0">
                <a:effectLst/>
              </a:rPr>
              <a:t>Fase de seleção definitiva para estabelecimento do cadastro de fornecedores.</a:t>
            </a:r>
          </a:p>
          <a:p>
            <a:endParaRPr lang="pt-BR" sz="2400" dirty="0">
              <a:effectLst/>
            </a:endParaRPr>
          </a:p>
          <a:p>
            <a:endParaRPr lang="pt-BR" sz="24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4255815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721C34D6-AAE8-42D2-8583-1008F87DA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>
                <a:effectLst/>
              </a:rPr>
              <a:t>Avaliação </a:t>
            </a:r>
            <a:r>
              <a:rPr lang="pt-BR" b="1" dirty="0">
                <a:effectLst/>
              </a:rPr>
              <a:t>financeira</a:t>
            </a:r>
            <a:endParaRPr lang="pt-BR" sz="3200" b="1" dirty="0">
              <a:effectLst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C9D43AF4-0C2B-4A66-BB71-CC565C890D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0060" y="2624576"/>
            <a:ext cx="9675125" cy="1608848"/>
          </a:xfrm>
        </p:spPr>
        <p:txBody>
          <a:bodyPr>
            <a:noAutofit/>
          </a:bodyPr>
          <a:lstStyle/>
          <a:p>
            <a:pPr algn="just"/>
            <a:r>
              <a:rPr lang="pt-BR" sz="2400" dirty="0">
                <a:effectLst/>
              </a:rPr>
              <a:t>Para Barbieri e Machline (2006), a análise financeira é feita por meio de índices extraídos de demonstrativos contábeis, bem como índices financeiros como giro de estoque, retorno de investimento, prazo médio de recebimento e outros que podem ser utilizados para essa finalidade.</a:t>
            </a:r>
          </a:p>
          <a:p>
            <a:pPr algn="just"/>
            <a:endParaRPr lang="pt-BR" sz="2400" dirty="0">
              <a:effectLst/>
            </a:endParaRPr>
          </a:p>
          <a:p>
            <a:pPr algn="just"/>
            <a:endParaRPr lang="pt-BR" sz="2400" dirty="0">
              <a:effectLst/>
            </a:endParaRPr>
          </a:p>
          <a:p>
            <a:pPr algn="just"/>
            <a:endParaRPr lang="pt-BR" sz="24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1836034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721C34D6-AAE8-42D2-8583-1008F87DA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>
                <a:effectLst/>
              </a:rPr>
              <a:t>Relacionamento </a:t>
            </a:r>
            <a:r>
              <a:rPr lang="pt-BR" b="1" dirty="0">
                <a:effectLst/>
              </a:rPr>
              <a:t>com fornecedores</a:t>
            </a:r>
            <a:endParaRPr lang="pt-BR" sz="3200" b="1" dirty="0">
              <a:effectLst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C9D43AF4-0C2B-4A66-BB71-CC565C890D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955815"/>
            <a:ext cx="10515600" cy="3011969"/>
          </a:xfrm>
        </p:spPr>
        <p:txBody>
          <a:bodyPr>
            <a:noAutofit/>
          </a:bodyPr>
          <a:lstStyle/>
          <a:p>
            <a:pPr algn="just"/>
            <a:r>
              <a:rPr lang="pt-BR" sz="2400" dirty="0">
                <a:effectLst/>
              </a:rPr>
              <a:t>Conforme Dias (1993), um dos instrumentos mais eficazes no relacionamento com o fornecedor e o comprador é a confiança mútua. Quanto mais aberta e clara a negociação, maiores as chances de se efetuar uma boa compra. As informações de ambas as partes devem circular de maneira aberta a fim de evitar que distorções detectadas possam ser corrigidas por meio de diálogo construtivo. Assim como o comprador quer ter a certeza de receber seus produtos pelo menor preço e melhor qualidade, o fornecedor quer ter a garantia de clientes fiéis e satisfeitos.</a:t>
            </a:r>
          </a:p>
          <a:p>
            <a:pPr algn="just"/>
            <a:endParaRPr lang="pt-BR" sz="2400" dirty="0">
              <a:effectLst/>
            </a:endParaRPr>
          </a:p>
          <a:p>
            <a:pPr algn="just"/>
            <a:endParaRPr lang="pt-BR" sz="2400" dirty="0">
              <a:effectLst/>
            </a:endParaRPr>
          </a:p>
          <a:p>
            <a:pPr algn="just"/>
            <a:endParaRPr lang="pt-BR" sz="24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0567377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721C34D6-AAE8-42D2-8583-1008F87DA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err="1" smtClean="0">
                <a:effectLst/>
              </a:rPr>
              <a:t>Extrutura</a:t>
            </a:r>
            <a:r>
              <a:rPr lang="pt-BR" b="1" dirty="0" smtClean="0">
                <a:effectLst/>
              </a:rPr>
              <a:t> </a:t>
            </a:r>
            <a:r>
              <a:rPr lang="pt-BR" b="1" dirty="0">
                <a:effectLst/>
              </a:rPr>
              <a:t>Organizacional</a:t>
            </a:r>
            <a:endParaRPr lang="pt-BR" sz="3200" b="1" dirty="0">
              <a:effectLst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C9D43AF4-0C2B-4A66-BB71-CC565C890D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95002"/>
            <a:ext cx="10625919" cy="1608848"/>
          </a:xfrm>
        </p:spPr>
        <p:txBody>
          <a:bodyPr>
            <a:noAutofit/>
          </a:bodyPr>
          <a:lstStyle/>
          <a:p>
            <a:r>
              <a:rPr lang="pt-BR" sz="2400" dirty="0" err="1">
                <a:effectLst/>
              </a:rPr>
              <a:t>Cavallini</a:t>
            </a:r>
            <a:r>
              <a:rPr lang="pt-BR" sz="2400" dirty="0">
                <a:effectLst/>
              </a:rPr>
              <a:t> e </a:t>
            </a:r>
            <a:r>
              <a:rPr lang="pt-BR" sz="2400" dirty="0" err="1">
                <a:effectLst/>
              </a:rPr>
              <a:t>Bisson</a:t>
            </a:r>
            <a:r>
              <a:rPr lang="pt-BR" sz="2400" dirty="0">
                <a:effectLst/>
              </a:rPr>
              <a:t> (2002), sugerem que a CFT seja constituída de:</a:t>
            </a:r>
          </a:p>
          <a:p>
            <a:pPr lvl="0"/>
            <a:r>
              <a:rPr lang="pt-BR" sz="2400" dirty="0">
                <a:effectLst/>
              </a:rPr>
              <a:t>um farmacêutico – Chefe da Farmácia ou farmacêutico por ele indicado, que atuará como membro nato;</a:t>
            </a:r>
          </a:p>
          <a:p>
            <a:pPr lvl="0"/>
            <a:r>
              <a:rPr lang="pt-BR" sz="2400" dirty="0">
                <a:effectLst/>
              </a:rPr>
              <a:t>um médico – representante da Clínica Médica;</a:t>
            </a:r>
          </a:p>
          <a:p>
            <a:pPr lvl="0"/>
            <a:r>
              <a:rPr lang="pt-BR" sz="2400" dirty="0">
                <a:effectLst/>
              </a:rPr>
              <a:t>um médico – representante da Clínica Cirúrgica;</a:t>
            </a:r>
          </a:p>
          <a:p>
            <a:pPr lvl="0"/>
            <a:r>
              <a:rPr lang="pt-BR" sz="2400" dirty="0">
                <a:effectLst/>
              </a:rPr>
              <a:t>um médico – representante da Clínica Médica;</a:t>
            </a:r>
          </a:p>
          <a:p>
            <a:pPr lvl="0"/>
            <a:r>
              <a:rPr lang="pt-BR" sz="2400" dirty="0">
                <a:effectLst/>
              </a:rPr>
              <a:t>um médico – representante da Pediatria;</a:t>
            </a:r>
          </a:p>
          <a:p>
            <a:pPr lvl="0"/>
            <a:r>
              <a:rPr lang="pt-BR" sz="2400" dirty="0">
                <a:effectLst/>
              </a:rPr>
              <a:t>um médico – presidente da Comissão de Controle de Infecção Hospitalar ou médico por ele indicado;</a:t>
            </a:r>
          </a:p>
          <a:p>
            <a:pPr lvl="0"/>
            <a:r>
              <a:rPr lang="pt-BR" sz="2400" dirty="0">
                <a:effectLst/>
              </a:rPr>
              <a:t>um enfermeiro – chefe de enfermagem ou enfermeiro por ele indicado.</a:t>
            </a:r>
          </a:p>
        </p:txBody>
      </p:sp>
    </p:spTree>
    <p:extLst>
      <p:ext uri="{BB962C8B-B14F-4D97-AF65-F5344CB8AC3E}">
        <p14:creationId xmlns:p14="http://schemas.microsoft.com/office/powerpoint/2010/main" val="23888729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721C34D6-AAE8-42D2-8583-1008F87DA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>
                <a:effectLst/>
              </a:rPr>
              <a:t>Armazenamento </a:t>
            </a:r>
            <a:r>
              <a:rPr lang="pt-BR" b="1" dirty="0">
                <a:effectLst/>
              </a:rPr>
              <a:t>de medicamentos</a:t>
            </a:r>
            <a:endParaRPr lang="pt-BR" sz="3200" b="1" dirty="0">
              <a:effectLst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C9D43AF4-0C2B-4A66-BB71-CC565C890D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4025" y="2863800"/>
            <a:ext cx="5529775" cy="1608848"/>
          </a:xfrm>
        </p:spPr>
        <p:txBody>
          <a:bodyPr>
            <a:noAutofit/>
          </a:bodyPr>
          <a:lstStyle/>
          <a:p>
            <a:pPr algn="just"/>
            <a:r>
              <a:rPr lang="pt-BR" sz="2400" dirty="0">
                <a:effectLst/>
              </a:rPr>
              <a:t>Toda e qualquer área destinada a estocagem de medicamentos deve ter condições que permitam preservar suas condições de uso. Nenhum medicamento poderá ser estocado antes de ser oficialmente recebido nem liberado para entrega sem a devida permissão. </a:t>
            </a:r>
          </a:p>
        </p:txBody>
      </p:sp>
      <p:pic>
        <p:nvPicPr>
          <p:cNvPr id="13314" name="Picture 2" descr="Conjunto de pílulas e suspensões em garrafas Vetor grátis">
            <a:extLst>
              <a:ext uri="{FF2B5EF4-FFF2-40B4-BE49-F238E27FC236}">
                <a16:creationId xmlns:a16="http://schemas.microsoft.com/office/drawing/2014/main" xmlns="" id="{7E0F9C24-EC9C-4E82-A3F3-CF14326539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118228"/>
            <a:ext cx="4333492" cy="4173389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197433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571CA391CD8464C9C8CEABD013CA2E2" ma:contentTypeVersion="10" ma:contentTypeDescription="Crie um novo documento." ma:contentTypeScope="" ma:versionID="6bd3e0496def4a3c4b4ed6af00b0a183">
  <xsd:schema xmlns:xsd="http://www.w3.org/2001/XMLSchema" xmlns:xs="http://www.w3.org/2001/XMLSchema" xmlns:p="http://schemas.microsoft.com/office/2006/metadata/properties" xmlns:ns2="dbf6a54b-d722-49d8-81aa-522563e92801" xmlns:ns3="a8eaee7b-8d25-4cfe-bd98-cf5184fa8fa7" targetNamespace="http://schemas.microsoft.com/office/2006/metadata/properties" ma:root="true" ma:fieldsID="b690d6a8969a0d83b63e8314e614e8c3" ns2:_="" ns3:_="">
    <xsd:import namespace="dbf6a54b-d722-49d8-81aa-522563e92801"/>
    <xsd:import namespace="a8eaee7b-8d25-4cfe-bd98-cf5184fa8fa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f6a54b-d722-49d8-81aa-522563e9280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8eaee7b-8d25-4cfe-bd98-cf5184fa8fa7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70F1B51-95F4-4D18-ABBD-A8B8BC9D0B2D}"/>
</file>

<file path=customXml/itemProps2.xml><?xml version="1.0" encoding="utf-8"?>
<ds:datastoreItem xmlns:ds="http://schemas.openxmlformats.org/officeDocument/2006/customXml" ds:itemID="{A87FA1F2-4221-4BBD-92B7-3644E96927CB}"/>
</file>

<file path=customXml/itemProps3.xml><?xml version="1.0" encoding="utf-8"?>
<ds:datastoreItem xmlns:ds="http://schemas.openxmlformats.org/officeDocument/2006/customXml" ds:itemID="{4677B711-4324-4D99-AA33-016FB26D9979}"/>
</file>

<file path=docProps/app.xml><?xml version="1.0" encoding="utf-8"?>
<Properties xmlns="http://schemas.openxmlformats.org/officeDocument/2006/extended-properties" xmlns:vt="http://schemas.openxmlformats.org/officeDocument/2006/docPropsVTypes">
  <TotalTime>779</TotalTime>
  <Words>1844</Words>
  <Application>Microsoft Office PowerPoint</Application>
  <PresentationFormat>Widescreen</PresentationFormat>
  <Paragraphs>87</Paragraphs>
  <Slides>24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24</vt:i4>
      </vt:variant>
    </vt:vector>
  </HeadingPairs>
  <TitlesOfParts>
    <vt:vector size="28" baseType="lpstr">
      <vt:lpstr>Arial</vt:lpstr>
      <vt:lpstr>Calibri</vt:lpstr>
      <vt:lpstr>Calibri Light</vt:lpstr>
      <vt:lpstr>Tema do Office</vt:lpstr>
      <vt:lpstr>LOGÍSTICA HOSPITALAR</vt:lpstr>
      <vt:lpstr>Unidade 4 | Introdução</vt:lpstr>
      <vt:lpstr>Unidade 4| Objetivos</vt:lpstr>
      <vt:lpstr>Logística Interna e Reversa</vt:lpstr>
      <vt:lpstr>Evolução da Logística </vt:lpstr>
      <vt:lpstr>Logística no segmento hospitalar</vt:lpstr>
      <vt:lpstr>Logística no segmento hospitalar</vt:lpstr>
      <vt:lpstr>Logística no segmento hospitalar</vt:lpstr>
      <vt:lpstr>Logística no segmento hospitalar</vt:lpstr>
      <vt:lpstr>Fluxo de materiais</vt:lpstr>
      <vt:lpstr>Fluxo de materiais</vt:lpstr>
      <vt:lpstr>A função da compra</vt:lpstr>
      <vt:lpstr>Objetivos</vt:lpstr>
      <vt:lpstr>Processo de compra</vt:lpstr>
      <vt:lpstr>Processo de compra</vt:lpstr>
      <vt:lpstr>Solicitação de compras</vt:lpstr>
      <vt:lpstr>Fornecedores</vt:lpstr>
      <vt:lpstr>Fornecedores</vt:lpstr>
      <vt:lpstr>Fornecedores</vt:lpstr>
      <vt:lpstr>Fornecedores</vt:lpstr>
      <vt:lpstr>Avaliação financeira</vt:lpstr>
      <vt:lpstr>Relacionamento com fornecedores</vt:lpstr>
      <vt:lpstr>Extrutura Organizacional</vt:lpstr>
      <vt:lpstr>Armazenamento de medicamentos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oniversidade</dc:title>
  <dc:creator>David Stephen</dc:creator>
  <cp:lastModifiedBy>PC</cp:lastModifiedBy>
  <cp:revision>117</cp:revision>
  <dcterms:created xsi:type="dcterms:W3CDTF">2018-06-24T01:31:09Z</dcterms:created>
  <dcterms:modified xsi:type="dcterms:W3CDTF">2020-02-01T17:40:52Z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0x0101001571CA391CD8464C9C8CEABD013CA2E2</vt:lpwstr>
  </property>
</Properties>
</file>